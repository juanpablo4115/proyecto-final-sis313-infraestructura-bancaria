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"/>
            <a:ext cx="9144000" cy="5144135"/>
          </a:xfrm>
          <a:custGeom>
            <a:avLst/>
            <a:gdLst/>
            <a:ahLst/>
            <a:cxnLst/>
            <a:rect l="l" t="t" r="r" b="b"/>
            <a:pathLst>
              <a:path w="9144000" h="5144135">
                <a:moveTo>
                  <a:pt x="9144000" y="0"/>
                </a:moveTo>
                <a:lnTo>
                  <a:pt x="0" y="0"/>
                </a:lnTo>
                <a:lnTo>
                  <a:pt x="0" y="5143677"/>
                </a:lnTo>
                <a:lnTo>
                  <a:pt x="9144000" y="5143677"/>
                </a:lnTo>
                <a:lnTo>
                  <a:pt x="9144000" y="0"/>
                </a:lnTo>
                <a:close/>
              </a:path>
            </a:pathLst>
          </a:custGeom>
          <a:solidFill>
            <a:srgbClr val="090D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4616" y="143286"/>
            <a:ext cx="7181850" cy="456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4465"/>
            <a:ext cx="822960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9360"/>
            <a:ext cx="292608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9360"/>
            <a:ext cx="2103120" cy="2574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192.168.100.184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92.168.100.185:3000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app-server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192.168.100.184/admin%24i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adming11@192.168.100.182" TargetMode="Externa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ancoseguro.rootcode.co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192.168.100.184/" TargetMode="External"/><Relationship Id="rId5" Type="http://schemas.openxmlformats.org/officeDocument/2006/relationships/image" Target="../media/image29.png"/><Relationship Id="rId4" Type="http://schemas.openxmlformats.org/officeDocument/2006/relationships/hyperlink" Target="http://192.168.100.185:3000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192.168.100.185:3000/" TargetMode="External"/><Relationship Id="rId5" Type="http://schemas.openxmlformats.org/officeDocument/2006/relationships/image" Target="../media/image29.png"/><Relationship Id="rId4" Type="http://schemas.openxmlformats.org/officeDocument/2006/relationships/hyperlink" Target="https://deb.nodesource.com/setup_20.x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hyperlink" Target="https://web-dmz.bancoseguro.local/api/login" TargetMode="External"/><Relationship Id="rId4" Type="http://schemas.openxmlformats.org/officeDocument/2006/relationships/hyperlink" Target="http://app-server.bancoseguro.local:3000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hyperlink" Target="mailto:adming11@192.168.100.182" TargetMode="External"/><Relationship Id="rId4" Type="http://schemas.openxmlformats.org/officeDocument/2006/relationships/hyperlink" Target="https://192.168.100.184/admin%24i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ancoseguro.rootcode.com.bo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299" y="-6285"/>
            <a:ext cx="2481580" cy="2481580"/>
            <a:chOff x="-6299" y="-6285"/>
            <a:chExt cx="2481580" cy="2481580"/>
          </a:xfrm>
        </p:grpSpPr>
        <p:sp>
          <p:nvSpPr>
            <p:cNvPr id="3" name="object 3"/>
            <p:cNvSpPr/>
            <p:nvPr/>
          </p:nvSpPr>
          <p:spPr>
            <a:xfrm>
              <a:off x="0" y="14"/>
              <a:ext cx="2468880" cy="2468880"/>
            </a:xfrm>
            <a:custGeom>
              <a:avLst/>
              <a:gdLst/>
              <a:ahLst/>
              <a:cxnLst/>
              <a:rect l="l" t="t" r="r" b="b"/>
              <a:pathLst>
                <a:path w="2468880" h="2468880">
                  <a:moveTo>
                    <a:pt x="2212146" y="0"/>
                  </a:moveTo>
                  <a:lnTo>
                    <a:pt x="0" y="0"/>
                  </a:lnTo>
                  <a:lnTo>
                    <a:pt x="0" y="2211950"/>
                  </a:lnTo>
                  <a:lnTo>
                    <a:pt x="68402" y="2253945"/>
                  </a:lnTo>
                  <a:lnTo>
                    <a:pt x="111622" y="2278089"/>
                  </a:lnTo>
                  <a:lnTo>
                    <a:pt x="155496" y="2300835"/>
                  </a:lnTo>
                  <a:lnTo>
                    <a:pt x="199987" y="2322174"/>
                  </a:lnTo>
                  <a:lnTo>
                    <a:pt x="245061" y="2342098"/>
                  </a:lnTo>
                  <a:lnTo>
                    <a:pt x="290685" y="2360598"/>
                  </a:lnTo>
                  <a:lnTo>
                    <a:pt x="336822" y="2377666"/>
                  </a:lnTo>
                  <a:lnTo>
                    <a:pt x="383438" y="2393293"/>
                  </a:lnTo>
                  <a:lnTo>
                    <a:pt x="430499" y="2407472"/>
                  </a:lnTo>
                  <a:lnTo>
                    <a:pt x="477969" y="2420194"/>
                  </a:lnTo>
                  <a:lnTo>
                    <a:pt x="525815" y="2431450"/>
                  </a:lnTo>
                  <a:lnTo>
                    <a:pt x="574001" y="2441232"/>
                  </a:lnTo>
                  <a:lnTo>
                    <a:pt x="622493" y="2449533"/>
                  </a:lnTo>
                  <a:lnTo>
                    <a:pt x="671256" y="2456343"/>
                  </a:lnTo>
                  <a:lnTo>
                    <a:pt x="720255" y="2461654"/>
                  </a:lnTo>
                  <a:lnTo>
                    <a:pt x="769456" y="2465458"/>
                  </a:lnTo>
                  <a:lnTo>
                    <a:pt x="818824" y="2467747"/>
                  </a:lnTo>
                  <a:lnTo>
                    <a:pt x="868324" y="2468511"/>
                  </a:lnTo>
                  <a:lnTo>
                    <a:pt x="917822" y="2467747"/>
                  </a:lnTo>
                  <a:lnTo>
                    <a:pt x="967189" y="2465458"/>
                  </a:lnTo>
                  <a:lnTo>
                    <a:pt x="1016390" y="2461654"/>
                  </a:lnTo>
                  <a:lnTo>
                    <a:pt x="1065391" y="2456343"/>
                  </a:lnTo>
                  <a:lnTo>
                    <a:pt x="1114158" y="2449533"/>
                  </a:lnTo>
                  <a:lnTo>
                    <a:pt x="1162657" y="2441232"/>
                  </a:lnTo>
                  <a:lnTo>
                    <a:pt x="1210852" y="2431450"/>
                  </a:lnTo>
                  <a:lnTo>
                    <a:pt x="1258711" y="2420194"/>
                  </a:lnTo>
                  <a:lnTo>
                    <a:pt x="1306197" y="2407472"/>
                  </a:lnTo>
                  <a:lnTo>
                    <a:pt x="1353279" y="2393293"/>
                  </a:lnTo>
                  <a:lnTo>
                    <a:pt x="1399920" y="2377666"/>
                  </a:lnTo>
                  <a:lnTo>
                    <a:pt x="1446086" y="2360598"/>
                  </a:lnTo>
                  <a:lnTo>
                    <a:pt x="1491744" y="2342098"/>
                  </a:lnTo>
                  <a:lnTo>
                    <a:pt x="1536859" y="2322174"/>
                  </a:lnTo>
                  <a:lnTo>
                    <a:pt x="1581396" y="2300835"/>
                  </a:lnTo>
                  <a:lnTo>
                    <a:pt x="1625322" y="2278089"/>
                  </a:lnTo>
                  <a:lnTo>
                    <a:pt x="1668602" y="2253945"/>
                  </a:lnTo>
                  <a:lnTo>
                    <a:pt x="1711054" y="2228534"/>
                  </a:lnTo>
                  <a:lnTo>
                    <a:pt x="1752629" y="2201870"/>
                  </a:lnTo>
                  <a:lnTo>
                    <a:pt x="1793302" y="2173978"/>
                  </a:lnTo>
                  <a:lnTo>
                    <a:pt x="1833048" y="2144883"/>
                  </a:lnTo>
                  <a:lnTo>
                    <a:pt x="1871841" y="2114611"/>
                  </a:lnTo>
                  <a:lnTo>
                    <a:pt x="1909657" y="2083185"/>
                  </a:lnTo>
                  <a:lnTo>
                    <a:pt x="1946470" y="2050632"/>
                  </a:lnTo>
                  <a:lnTo>
                    <a:pt x="1982256" y="2016977"/>
                  </a:lnTo>
                  <a:lnTo>
                    <a:pt x="2016989" y="1982243"/>
                  </a:lnTo>
                  <a:lnTo>
                    <a:pt x="2050645" y="1946457"/>
                  </a:lnTo>
                  <a:lnTo>
                    <a:pt x="2083198" y="1909644"/>
                  </a:lnTo>
                  <a:lnTo>
                    <a:pt x="2114623" y="1871828"/>
                  </a:lnTo>
                  <a:lnTo>
                    <a:pt x="2144896" y="1833035"/>
                  </a:lnTo>
                  <a:lnTo>
                    <a:pt x="2173991" y="1793290"/>
                  </a:lnTo>
                  <a:lnTo>
                    <a:pt x="2201882" y="1752617"/>
                  </a:lnTo>
                  <a:lnTo>
                    <a:pt x="2228546" y="1711041"/>
                  </a:lnTo>
                  <a:lnTo>
                    <a:pt x="2253957" y="1668589"/>
                  </a:lnTo>
                  <a:lnTo>
                    <a:pt x="2278102" y="1625309"/>
                  </a:lnTo>
                  <a:lnTo>
                    <a:pt x="2300848" y="1581383"/>
                  </a:lnTo>
                  <a:lnTo>
                    <a:pt x="2322187" y="1536846"/>
                  </a:lnTo>
                  <a:lnTo>
                    <a:pt x="2342111" y="1491731"/>
                  </a:lnTo>
                  <a:lnTo>
                    <a:pt x="2360611" y="1446073"/>
                  </a:lnTo>
                  <a:lnTo>
                    <a:pt x="2377678" y="1399907"/>
                  </a:lnTo>
                  <a:lnTo>
                    <a:pt x="2393306" y="1353266"/>
                  </a:lnTo>
                  <a:lnTo>
                    <a:pt x="2407485" y="1306185"/>
                  </a:lnTo>
                  <a:lnTo>
                    <a:pt x="2420206" y="1258698"/>
                  </a:lnTo>
                  <a:lnTo>
                    <a:pt x="2431463" y="1210840"/>
                  </a:lnTo>
                  <a:lnTo>
                    <a:pt x="2441245" y="1162644"/>
                  </a:lnTo>
                  <a:lnTo>
                    <a:pt x="2449546" y="1114146"/>
                  </a:lnTo>
                  <a:lnTo>
                    <a:pt x="2456356" y="1065379"/>
                  </a:lnTo>
                  <a:lnTo>
                    <a:pt x="2461667" y="1016377"/>
                  </a:lnTo>
                  <a:lnTo>
                    <a:pt x="2465471" y="967176"/>
                  </a:lnTo>
                  <a:lnTo>
                    <a:pt x="2467759" y="917809"/>
                  </a:lnTo>
                  <a:lnTo>
                    <a:pt x="2468524" y="868311"/>
                  </a:lnTo>
                  <a:lnTo>
                    <a:pt x="2467759" y="818811"/>
                  </a:lnTo>
                  <a:lnTo>
                    <a:pt x="2465471" y="769443"/>
                  </a:lnTo>
                  <a:lnTo>
                    <a:pt x="2461667" y="720240"/>
                  </a:lnTo>
                  <a:lnTo>
                    <a:pt x="2456356" y="671238"/>
                  </a:lnTo>
                  <a:lnTo>
                    <a:pt x="2449546" y="622471"/>
                  </a:lnTo>
                  <a:lnTo>
                    <a:pt x="2441245" y="573972"/>
                  </a:lnTo>
                  <a:lnTo>
                    <a:pt x="2431463" y="525776"/>
                  </a:lnTo>
                  <a:lnTo>
                    <a:pt x="2420206" y="477918"/>
                  </a:lnTo>
                  <a:lnTo>
                    <a:pt x="2407485" y="430431"/>
                  </a:lnTo>
                  <a:lnTo>
                    <a:pt x="2393306" y="383350"/>
                  </a:lnTo>
                  <a:lnTo>
                    <a:pt x="2377678" y="336709"/>
                  </a:lnTo>
                  <a:lnTo>
                    <a:pt x="2360611" y="290542"/>
                  </a:lnTo>
                  <a:lnTo>
                    <a:pt x="2342111" y="244884"/>
                  </a:lnTo>
                  <a:lnTo>
                    <a:pt x="2322187" y="199768"/>
                  </a:lnTo>
                  <a:lnTo>
                    <a:pt x="2300848" y="155230"/>
                  </a:lnTo>
                  <a:lnTo>
                    <a:pt x="2278102" y="111303"/>
                  </a:lnTo>
                  <a:lnTo>
                    <a:pt x="2253957" y="68021"/>
                  </a:lnTo>
                  <a:lnTo>
                    <a:pt x="2228546" y="25570"/>
                  </a:lnTo>
                  <a:lnTo>
                    <a:pt x="2212146" y="0"/>
                  </a:lnTo>
                  <a:close/>
                </a:path>
              </a:pathLst>
            </a:custGeom>
            <a:solidFill>
              <a:srgbClr val="0C1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4"/>
              <a:ext cx="2468880" cy="2468880"/>
            </a:xfrm>
            <a:custGeom>
              <a:avLst/>
              <a:gdLst/>
              <a:ahLst/>
              <a:cxnLst/>
              <a:rect l="l" t="t" r="r" b="b"/>
              <a:pathLst>
                <a:path w="2468880" h="2468880">
                  <a:moveTo>
                    <a:pt x="2212146" y="0"/>
                  </a:moveTo>
                  <a:lnTo>
                    <a:pt x="2253957" y="68021"/>
                  </a:lnTo>
                  <a:lnTo>
                    <a:pt x="2278102" y="111303"/>
                  </a:lnTo>
                  <a:lnTo>
                    <a:pt x="2300848" y="155230"/>
                  </a:lnTo>
                  <a:lnTo>
                    <a:pt x="2322187" y="199768"/>
                  </a:lnTo>
                  <a:lnTo>
                    <a:pt x="2342111" y="244884"/>
                  </a:lnTo>
                  <a:lnTo>
                    <a:pt x="2360611" y="290542"/>
                  </a:lnTo>
                  <a:lnTo>
                    <a:pt x="2377678" y="336709"/>
                  </a:lnTo>
                  <a:lnTo>
                    <a:pt x="2393306" y="383350"/>
                  </a:lnTo>
                  <a:lnTo>
                    <a:pt x="2407485" y="430431"/>
                  </a:lnTo>
                  <a:lnTo>
                    <a:pt x="2420206" y="477918"/>
                  </a:lnTo>
                  <a:lnTo>
                    <a:pt x="2431463" y="525776"/>
                  </a:lnTo>
                  <a:lnTo>
                    <a:pt x="2441245" y="573972"/>
                  </a:lnTo>
                  <a:lnTo>
                    <a:pt x="2449546" y="622471"/>
                  </a:lnTo>
                  <a:lnTo>
                    <a:pt x="2456356" y="671238"/>
                  </a:lnTo>
                  <a:lnTo>
                    <a:pt x="2461667" y="720240"/>
                  </a:lnTo>
                  <a:lnTo>
                    <a:pt x="2465471" y="769443"/>
                  </a:lnTo>
                  <a:lnTo>
                    <a:pt x="2467759" y="818811"/>
                  </a:lnTo>
                  <a:lnTo>
                    <a:pt x="2468524" y="868311"/>
                  </a:lnTo>
                  <a:lnTo>
                    <a:pt x="2467759" y="917809"/>
                  </a:lnTo>
                  <a:lnTo>
                    <a:pt x="2465471" y="967176"/>
                  </a:lnTo>
                  <a:lnTo>
                    <a:pt x="2461667" y="1016377"/>
                  </a:lnTo>
                  <a:lnTo>
                    <a:pt x="2456356" y="1065379"/>
                  </a:lnTo>
                  <a:lnTo>
                    <a:pt x="2449546" y="1114146"/>
                  </a:lnTo>
                  <a:lnTo>
                    <a:pt x="2441245" y="1162644"/>
                  </a:lnTo>
                  <a:lnTo>
                    <a:pt x="2431463" y="1210840"/>
                  </a:lnTo>
                  <a:lnTo>
                    <a:pt x="2420206" y="1258698"/>
                  </a:lnTo>
                  <a:lnTo>
                    <a:pt x="2407485" y="1306185"/>
                  </a:lnTo>
                  <a:lnTo>
                    <a:pt x="2393306" y="1353266"/>
                  </a:lnTo>
                  <a:lnTo>
                    <a:pt x="2377678" y="1399907"/>
                  </a:lnTo>
                  <a:lnTo>
                    <a:pt x="2360611" y="1446073"/>
                  </a:lnTo>
                  <a:lnTo>
                    <a:pt x="2342111" y="1491731"/>
                  </a:lnTo>
                  <a:lnTo>
                    <a:pt x="2322187" y="1536846"/>
                  </a:lnTo>
                  <a:lnTo>
                    <a:pt x="2300848" y="1581383"/>
                  </a:lnTo>
                  <a:lnTo>
                    <a:pt x="2278102" y="1625309"/>
                  </a:lnTo>
                  <a:lnTo>
                    <a:pt x="2253957" y="1668589"/>
                  </a:lnTo>
                  <a:lnTo>
                    <a:pt x="2228546" y="1711041"/>
                  </a:lnTo>
                  <a:lnTo>
                    <a:pt x="2201882" y="1752617"/>
                  </a:lnTo>
                  <a:lnTo>
                    <a:pt x="2173991" y="1793290"/>
                  </a:lnTo>
                  <a:lnTo>
                    <a:pt x="2144896" y="1833035"/>
                  </a:lnTo>
                  <a:lnTo>
                    <a:pt x="2114623" y="1871828"/>
                  </a:lnTo>
                  <a:lnTo>
                    <a:pt x="2083198" y="1909644"/>
                  </a:lnTo>
                  <a:lnTo>
                    <a:pt x="2050645" y="1946457"/>
                  </a:lnTo>
                  <a:lnTo>
                    <a:pt x="2016989" y="1982243"/>
                  </a:lnTo>
                  <a:lnTo>
                    <a:pt x="1982256" y="2016977"/>
                  </a:lnTo>
                  <a:lnTo>
                    <a:pt x="1946470" y="2050632"/>
                  </a:lnTo>
                  <a:lnTo>
                    <a:pt x="1909657" y="2083185"/>
                  </a:lnTo>
                  <a:lnTo>
                    <a:pt x="1871841" y="2114611"/>
                  </a:lnTo>
                  <a:lnTo>
                    <a:pt x="1833048" y="2144883"/>
                  </a:lnTo>
                  <a:lnTo>
                    <a:pt x="1793302" y="2173978"/>
                  </a:lnTo>
                  <a:lnTo>
                    <a:pt x="1752629" y="2201870"/>
                  </a:lnTo>
                  <a:lnTo>
                    <a:pt x="1711054" y="2228534"/>
                  </a:lnTo>
                  <a:lnTo>
                    <a:pt x="1668602" y="2253945"/>
                  </a:lnTo>
                  <a:lnTo>
                    <a:pt x="1625322" y="2278089"/>
                  </a:lnTo>
                  <a:lnTo>
                    <a:pt x="1581396" y="2300835"/>
                  </a:lnTo>
                  <a:lnTo>
                    <a:pt x="1536859" y="2322174"/>
                  </a:lnTo>
                  <a:lnTo>
                    <a:pt x="1491744" y="2342098"/>
                  </a:lnTo>
                  <a:lnTo>
                    <a:pt x="1446086" y="2360598"/>
                  </a:lnTo>
                  <a:lnTo>
                    <a:pt x="1399920" y="2377666"/>
                  </a:lnTo>
                  <a:lnTo>
                    <a:pt x="1353279" y="2393293"/>
                  </a:lnTo>
                  <a:lnTo>
                    <a:pt x="1306197" y="2407472"/>
                  </a:lnTo>
                  <a:lnTo>
                    <a:pt x="1258711" y="2420194"/>
                  </a:lnTo>
                  <a:lnTo>
                    <a:pt x="1210852" y="2431450"/>
                  </a:lnTo>
                  <a:lnTo>
                    <a:pt x="1162657" y="2441232"/>
                  </a:lnTo>
                  <a:lnTo>
                    <a:pt x="1114158" y="2449533"/>
                  </a:lnTo>
                  <a:lnTo>
                    <a:pt x="1065391" y="2456343"/>
                  </a:lnTo>
                  <a:lnTo>
                    <a:pt x="1016390" y="2461654"/>
                  </a:lnTo>
                  <a:lnTo>
                    <a:pt x="967189" y="2465458"/>
                  </a:lnTo>
                  <a:lnTo>
                    <a:pt x="917822" y="2467747"/>
                  </a:lnTo>
                  <a:lnTo>
                    <a:pt x="868324" y="2468511"/>
                  </a:lnTo>
                  <a:lnTo>
                    <a:pt x="818824" y="2467747"/>
                  </a:lnTo>
                  <a:lnTo>
                    <a:pt x="769456" y="2465458"/>
                  </a:lnTo>
                  <a:lnTo>
                    <a:pt x="720255" y="2461654"/>
                  </a:lnTo>
                  <a:lnTo>
                    <a:pt x="671256" y="2456343"/>
                  </a:lnTo>
                  <a:lnTo>
                    <a:pt x="622493" y="2449533"/>
                  </a:lnTo>
                  <a:lnTo>
                    <a:pt x="574001" y="2441232"/>
                  </a:lnTo>
                  <a:lnTo>
                    <a:pt x="525815" y="2431450"/>
                  </a:lnTo>
                  <a:lnTo>
                    <a:pt x="477969" y="2420194"/>
                  </a:lnTo>
                  <a:lnTo>
                    <a:pt x="430499" y="2407472"/>
                  </a:lnTo>
                  <a:lnTo>
                    <a:pt x="383438" y="2393293"/>
                  </a:lnTo>
                  <a:lnTo>
                    <a:pt x="336822" y="2377666"/>
                  </a:lnTo>
                  <a:lnTo>
                    <a:pt x="290685" y="2360598"/>
                  </a:lnTo>
                  <a:lnTo>
                    <a:pt x="245061" y="2342098"/>
                  </a:lnTo>
                  <a:lnTo>
                    <a:pt x="199987" y="2322174"/>
                  </a:lnTo>
                  <a:lnTo>
                    <a:pt x="155496" y="2300835"/>
                  </a:lnTo>
                  <a:lnTo>
                    <a:pt x="111622" y="2278089"/>
                  </a:lnTo>
                  <a:lnTo>
                    <a:pt x="68402" y="2253945"/>
                  </a:lnTo>
                  <a:lnTo>
                    <a:pt x="25890" y="2228534"/>
                  </a:lnTo>
                  <a:lnTo>
                    <a:pt x="0" y="2211950"/>
                  </a:lnTo>
                </a:path>
              </a:pathLst>
            </a:custGeom>
            <a:ln w="12599">
              <a:solidFill>
                <a:srgbClr val="0C1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75475" y="2615757"/>
            <a:ext cx="8775065" cy="2534285"/>
            <a:chOff x="375475" y="2615757"/>
            <a:chExt cx="8775065" cy="2534285"/>
          </a:xfrm>
        </p:grpSpPr>
        <p:sp>
          <p:nvSpPr>
            <p:cNvPr id="6" name="object 6"/>
            <p:cNvSpPr/>
            <p:nvPr/>
          </p:nvSpPr>
          <p:spPr>
            <a:xfrm>
              <a:off x="7497724" y="2925726"/>
              <a:ext cx="1645920" cy="2218055"/>
            </a:xfrm>
            <a:custGeom>
              <a:avLst/>
              <a:gdLst/>
              <a:ahLst/>
              <a:cxnLst/>
              <a:rect l="l" t="t" r="r" b="b"/>
              <a:pathLst>
                <a:path w="1645920" h="2218054">
                  <a:moveTo>
                    <a:pt x="1143000" y="0"/>
                  </a:moveTo>
                  <a:lnTo>
                    <a:pt x="1092949" y="1099"/>
                  </a:lnTo>
                  <a:lnTo>
                    <a:pt x="1043104" y="4383"/>
                  </a:lnTo>
                  <a:lnTo>
                    <a:pt x="993537" y="9832"/>
                  </a:lnTo>
                  <a:lnTo>
                    <a:pt x="944319" y="17426"/>
                  </a:lnTo>
                  <a:lnTo>
                    <a:pt x="895520" y="27145"/>
                  </a:lnTo>
                  <a:lnTo>
                    <a:pt x="847213" y="38969"/>
                  </a:lnTo>
                  <a:lnTo>
                    <a:pt x="799469" y="52878"/>
                  </a:lnTo>
                  <a:lnTo>
                    <a:pt x="752358" y="68852"/>
                  </a:lnTo>
                  <a:lnTo>
                    <a:pt x="705952" y="86871"/>
                  </a:lnTo>
                  <a:lnTo>
                    <a:pt x="660322" y="106915"/>
                  </a:lnTo>
                  <a:lnTo>
                    <a:pt x="615540" y="128963"/>
                  </a:lnTo>
                  <a:lnTo>
                    <a:pt x="571677" y="152996"/>
                  </a:lnTo>
                  <a:lnTo>
                    <a:pt x="528829" y="179014"/>
                  </a:lnTo>
                  <a:lnTo>
                    <a:pt x="487261" y="206811"/>
                  </a:lnTo>
                  <a:lnTo>
                    <a:pt x="447024" y="236337"/>
                  </a:lnTo>
                  <a:lnTo>
                    <a:pt x="408168" y="267543"/>
                  </a:lnTo>
                  <a:lnTo>
                    <a:pt x="370741" y="300379"/>
                  </a:lnTo>
                  <a:lnTo>
                    <a:pt x="334795" y="334795"/>
                  </a:lnTo>
                  <a:lnTo>
                    <a:pt x="300379" y="370741"/>
                  </a:lnTo>
                  <a:lnTo>
                    <a:pt x="267543" y="408168"/>
                  </a:lnTo>
                  <a:lnTo>
                    <a:pt x="236337" y="447024"/>
                  </a:lnTo>
                  <a:lnTo>
                    <a:pt x="206811" y="487261"/>
                  </a:lnTo>
                  <a:lnTo>
                    <a:pt x="179014" y="528829"/>
                  </a:lnTo>
                  <a:lnTo>
                    <a:pt x="152996" y="571677"/>
                  </a:lnTo>
                  <a:lnTo>
                    <a:pt x="128963" y="615540"/>
                  </a:lnTo>
                  <a:lnTo>
                    <a:pt x="106915" y="660322"/>
                  </a:lnTo>
                  <a:lnTo>
                    <a:pt x="86871" y="705952"/>
                  </a:lnTo>
                  <a:lnTo>
                    <a:pt x="68852" y="752358"/>
                  </a:lnTo>
                  <a:lnTo>
                    <a:pt x="52878" y="799469"/>
                  </a:lnTo>
                  <a:lnTo>
                    <a:pt x="38969" y="847213"/>
                  </a:lnTo>
                  <a:lnTo>
                    <a:pt x="27145" y="895520"/>
                  </a:lnTo>
                  <a:lnTo>
                    <a:pt x="17426" y="944319"/>
                  </a:lnTo>
                  <a:lnTo>
                    <a:pt x="9832" y="993537"/>
                  </a:lnTo>
                  <a:lnTo>
                    <a:pt x="4383" y="1043104"/>
                  </a:lnTo>
                  <a:lnTo>
                    <a:pt x="1099" y="1092949"/>
                  </a:lnTo>
                  <a:lnTo>
                    <a:pt x="0" y="1143000"/>
                  </a:lnTo>
                  <a:lnTo>
                    <a:pt x="1099" y="1193050"/>
                  </a:lnTo>
                  <a:lnTo>
                    <a:pt x="4383" y="1242896"/>
                  </a:lnTo>
                  <a:lnTo>
                    <a:pt x="9832" y="1292466"/>
                  </a:lnTo>
                  <a:lnTo>
                    <a:pt x="17426" y="1341691"/>
                  </a:lnTo>
                  <a:lnTo>
                    <a:pt x="27145" y="1390500"/>
                  </a:lnTo>
                  <a:lnTo>
                    <a:pt x="38969" y="1438825"/>
                  </a:lnTo>
                  <a:lnTo>
                    <a:pt x="52878" y="1486595"/>
                  </a:lnTo>
                  <a:lnTo>
                    <a:pt x="68852" y="1533741"/>
                  </a:lnTo>
                  <a:lnTo>
                    <a:pt x="86871" y="1580192"/>
                  </a:lnTo>
                  <a:lnTo>
                    <a:pt x="106915" y="1625878"/>
                  </a:lnTo>
                  <a:lnTo>
                    <a:pt x="128963" y="1670730"/>
                  </a:lnTo>
                  <a:lnTo>
                    <a:pt x="152996" y="1714677"/>
                  </a:lnTo>
                  <a:lnTo>
                    <a:pt x="179014" y="1757441"/>
                  </a:lnTo>
                  <a:lnTo>
                    <a:pt x="206811" y="1798939"/>
                  </a:lnTo>
                  <a:lnTo>
                    <a:pt x="236337" y="1839119"/>
                  </a:lnTo>
                  <a:lnTo>
                    <a:pt x="267543" y="1877931"/>
                  </a:lnTo>
                  <a:lnTo>
                    <a:pt x="300379" y="1915322"/>
                  </a:lnTo>
                  <a:lnTo>
                    <a:pt x="334795" y="1951242"/>
                  </a:lnTo>
                  <a:lnTo>
                    <a:pt x="370741" y="1985639"/>
                  </a:lnTo>
                  <a:lnTo>
                    <a:pt x="408168" y="2018462"/>
                  </a:lnTo>
                  <a:lnTo>
                    <a:pt x="447024" y="2049660"/>
                  </a:lnTo>
                  <a:lnTo>
                    <a:pt x="487261" y="2079182"/>
                  </a:lnTo>
                  <a:lnTo>
                    <a:pt x="528829" y="2106975"/>
                  </a:lnTo>
                  <a:lnTo>
                    <a:pt x="571677" y="2132990"/>
                  </a:lnTo>
                  <a:lnTo>
                    <a:pt x="615540" y="2157026"/>
                  </a:lnTo>
                  <a:lnTo>
                    <a:pt x="660322" y="2179077"/>
                  </a:lnTo>
                  <a:lnTo>
                    <a:pt x="705952" y="2199123"/>
                  </a:lnTo>
                  <a:lnTo>
                    <a:pt x="752358" y="2217143"/>
                  </a:lnTo>
                  <a:lnTo>
                    <a:pt x="753698" y="2217597"/>
                  </a:lnTo>
                  <a:lnTo>
                    <a:pt x="1532400" y="2217597"/>
                  </a:lnTo>
                  <a:lnTo>
                    <a:pt x="1533741" y="2217143"/>
                  </a:lnTo>
                  <a:lnTo>
                    <a:pt x="1580192" y="2199123"/>
                  </a:lnTo>
                  <a:lnTo>
                    <a:pt x="1625878" y="2179077"/>
                  </a:lnTo>
                  <a:lnTo>
                    <a:pt x="1645907" y="2169230"/>
                  </a:lnTo>
                  <a:lnTo>
                    <a:pt x="1645907" y="116761"/>
                  </a:lnTo>
                  <a:lnTo>
                    <a:pt x="1580192" y="86871"/>
                  </a:lnTo>
                  <a:lnTo>
                    <a:pt x="1533741" y="68852"/>
                  </a:lnTo>
                  <a:lnTo>
                    <a:pt x="1486595" y="52878"/>
                  </a:lnTo>
                  <a:lnTo>
                    <a:pt x="1438825" y="38969"/>
                  </a:lnTo>
                  <a:lnTo>
                    <a:pt x="1390500" y="27145"/>
                  </a:lnTo>
                  <a:lnTo>
                    <a:pt x="1341691" y="17426"/>
                  </a:lnTo>
                  <a:lnTo>
                    <a:pt x="1292466" y="9832"/>
                  </a:lnTo>
                  <a:lnTo>
                    <a:pt x="1242896" y="4383"/>
                  </a:lnTo>
                  <a:lnTo>
                    <a:pt x="1193050" y="1099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0C1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497724" y="2925726"/>
              <a:ext cx="1645920" cy="2218055"/>
            </a:xfrm>
            <a:custGeom>
              <a:avLst/>
              <a:gdLst/>
              <a:ahLst/>
              <a:cxnLst/>
              <a:rect l="l" t="t" r="r" b="b"/>
              <a:pathLst>
                <a:path w="1645920" h="2218054">
                  <a:moveTo>
                    <a:pt x="1645907" y="2169230"/>
                  </a:moveTo>
                  <a:lnTo>
                    <a:pt x="1625878" y="2179077"/>
                  </a:lnTo>
                  <a:lnTo>
                    <a:pt x="1580192" y="2199123"/>
                  </a:lnTo>
                  <a:lnTo>
                    <a:pt x="1533741" y="2217143"/>
                  </a:lnTo>
                  <a:lnTo>
                    <a:pt x="1532400" y="2217597"/>
                  </a:lnTo>
                </a:path>
                <a:path w="1645920" h="2218054">
                  <a:moveTo>
                    <a:pt x="753698" y="2217597"/>
                  </a:moveTo>
                  <a:lnTo>
                    <a:pt x="705952" y="2199123"/>
                  </a:lnTo>
                  <a:lnTo>
                    <a:pt x="660322" y="2179077"/>
                  </a:lnTo>
                  <a:lnTo>
                    <a:pt x="615540" y="2157026"/>
                  </a:lnTo>
                  <a:lnTo>
                    <a:pt x="571677" y="2132990"/>
                  </a:lnTo>
                  <a:lnTo>
                    <a:pt x="528829" y="2106975"/>
                  </a:lnTo>
                  <a:lnTo>
                    <a:pt x="487261" y="2079182"/>
                  </a:lnTo>
                  <a:lnTo>
                    <a:pt x="447024" y="2049660"/>
                  </a:lnTo>
                  <a:lnTo>
                    <a:pt x="408168" y="2018462"/>
                  </a:lnTo>
                  <a:lnTo>
                    <a:pt x="370741" y="1985639"/>
                  </a:lnTo>
                  <a:lnTo>
                    <a:pt x="334795" y="1951242"/>
                  </a:lnTo>
                  <a:lnTo>
                    <a:pt x="300379" y="1915322"/>
                  </a:lnTo>
                  <a:lnTo>
                    <a:pt x="267543" y="1877931"/>
                  </a:lnTo>
                  <a:lnTo>
                    <a:pt x="236337" y="1839119"/>
                  </a:lnTo>
                  <a:lnTo>
                    <a:pt x="206811" y="1798939"/>
                  </a:lnTo>
                  <a:lnTo>
                    <a:pt x="179014" y="1757441"/>
                  </a:lnTo>
                  <a:lnTo>
                    <a:pt x="152996" y="1714677"/>
                  </a:lnTo>
                  <a:lnTo>
                    <a:pt x="128963" y="1670730"/>
                  </a:lnTo>
                  <a:lnTo>
                    <a:pt x="106915" y="1625878"/>
                  </a:lnTo>
                  <a:lnTo>
                    <a:pt x="86871" y="1580192"/>
                  </a:lnTo>
                  <a:lnTo>
                    <a:pt x="68852" y="1533741"/>
                  </a:lnTo>
                  <a:lnTo>
                    <a:pt x="52878" y="1486595"/>
                  </a:lnTo>
                  <a:lnTo>
                    <a:pt x="38969" y="1438825"/>
                  </a:lnTo>
                  <a:lnTo>
                    <a:pt x="27145" y="1390500"/>
                  </a:lnTo>
                  <a:lnTo>
                    <a:pt x="17426" y="1341691"/>
                  </a:lnTo>
                  <a:lnTo>
                    <a:pt x="9832" y="1292466"/>
                  </a:lnTo>
                  <a:lnTo>
                    <a:pt x="4383" y="1242896"/>
                  </a:lnTo>
                  <a:lnTo>
                    <a:pt x="1099" y="1193050"/>
                  </a:lnTo>
                  <a:lnTo>
                    <a:pt x="0" y="1143000"/>
                  </a:lnTo>
                  <a:lnTo>
                    <a:pt x="1099" y="1092949"/>
                  </a:lnTo>
                  <a:lnTo>
                    <a:pt x="4383" y="1043104"/>
                  </a:lnTo>
                  <a:lnTo>
                    <a:pt x="9832" y="993537"/>
                  </a:lnTo>
                  <a:lnTo>
                    <a:pt x="17426" y="944319"/>
                  </a:lnTo>
                  <a:lnTo>
                    <a:pt x="27145" y="895520"/>
                  </a:lnTo>
                  <a:lnTo>
                    <a:pt x="38969" y="847213"/>
                  </a:lnTo>
                  <a:lnTo>
                    <a:pt x="52878" y="799469"/>
                  </a:lnTo>
                  <a:lnTo>
                    <a:pt x="68852" y="752358"/>
                  </a:lnTo>
                  <a:lnTo>
                    <a:pt x="86871" y="705952"/>
                  </a:lnTo>
                  <a:lnTo>
                    <a:pt x="106915" y="660322"/>
                  </a:lnTo>
                  <a:lnTo>
                    <a:pt x="128963" y="615540"/>
                  </a:lnTo>
                  <a:lnTo>
                    <a:pt x="152996" y="571677"/>
                  </a:lnTo>
                  <a:lnTo>
                    <a:pt x="179014" y="528829"/>
                  </a:lnTo>
                  <a:lnTo>
                    <a:pt x="206811" y="487261"/>
                  </a:lnTo>
                  <a:lnTo>
                    <a:pt x="236337" y="447024"/>
                  </a:lnTo>
                  <a:lnTo>
                    <a:pt x="267543" y="408168"/>
                  </a:lnTo>
                  <a:lnTo>
                    <a:pt x="300379" y="370741"/>
                  </a:lnTo>
                  <a:lnTo>
                    <a:pt x="334795" y="334795"/>
                  </a:lnTo>
                  <a:lnTo>
                    <a:pt x="370741" y="300379"/>
                  </a:lnTo>
                  <a:lnTo>
                    <a:pt x="408168" y="267543"/>
                  </a:lnTo>
                  <a:lnTo>
                    <a:pt x="447024" y="236337"/>
                  </a:lnTo>
                  <a:lnTo>
                    <a:pt x="487261" y="206811"/>
                  </a:lnTo>
                  <a:lnTo>
                    <a:pt x="528829" y="179014"/>
                  </a:lnTo>
                  <a:lnTo>
                    <a:pt x="571677" y="152996"/>
                  </a:lnTo>
                  <a:lnTo>
                    <a:pt x="615540" y="128963"/>
                  </a:lnTo>
                  <a:lnTo>
                    <a:pt x="660322" y="106915"/>
                  </a:lnTo>
                  <a:lnTo>
                    <a:pt x="705952" y="86871"/>
                  </a:lnTo>
                  <a:lnTo>
                    <a:pt x="752358" y="68852"/>
                  </a:lnTo>
                  <a:lnTo>
                    <a:pt x="799469" y="52878"/>
                  </a:lnTo>
                  <a:lnTo>
                    <a:pt x="847213" y="38969"/>
                  </a:lnTo>
                  <a:lnTo>
                    <a:pt x="895520" y="27145"/>
                  </a:lnTo>
                  <a:lnTo>
                    <a:pt x="944319" y="17426"/>
                  </a:lnTo>
                  <a:lnTo>
                    <a:pt x="993537" y="9832"/>
                  </a:lnTo>
                  <a:lnTo>
                    <a:pt x="1043104" y="4383"/>
                  </a:lnTo>
                  <a:lnTo>
                    <a:pt x="1092949" y="1099"/>
                  </a:lnTo>
                  <a:lnTo>
                    <a:pt x="1143000" y="0"/>
                  </a:lnTo>
                  <a:lnTo>
                    <a:pt x="1193050" y="1099"/>
                  </a:lnTo>
                  <a:lnTo>
                    <a:pt x="1242896" y="4383"/>
                  </a:lnTo>
                  <a:lnTo>
                    <a:pt x="1292466" y="9832"/>
                  </a:lnTo>
                  <a:lnTo>
                    <a:pt x="1341691" y="17426"/>
                  </a:lnTo>
                  <a:lnTo>
                    <a:pt x="1390500" y="27145"/>
                  </a:lnTo>
                  <a:lnTo>
                    <a:pt x="1438825" y="38969"/>
                  </a:lnTo>
                  <a:lnTo>
                    <a:pt x="1486595" y="52878"/>
                  </a:lnTo>
                  <a:lnTo>
                    <a:pt x="1533741" y="68852"/>
                  </a:lnTo>
                  <a:lnTo>
                    <a:pt x="1580192" y="86871"/>
                  </a:lnTo>
                  <a:lnTo>
                    <a:pt x="1625878" y="106915"/>
                  </a:lnTo>
                  <a:lnTo>
                    <a:pt x="1645907" y="116761"/>
                  </a:lnTo>
                </a:path>
              </a:pathLst>
            </a:custGeom>
            <a:ln w="12599">
              <a:solidFill>
                <a:srgbClr val="0C1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5475" y="2615757"/>
              <a:ext cx="8445246" cy="213588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6476" y="2696758"/>
              <a:ext cx="8230234" cy="1920875"/>
            </a:xfrm>
            <a:custGeom>
              <a:avLst/>
              <a:gdLst/>
              <a:ahLst/>
              <a:cxnLst/>
              <a:rect l="l" t="t" r="r" b="b"/>
              <a:pathLst>
                <a:path w="8230234" h="1920875">
                  <a:moveTo>
                    <a:pt x="110159" y="0"/>
                  </a:moveTo>
                  <a:lnTo>
                    <a:pt x="68095" y="8358"/>
                  </a:lnTo>
                  <a:lnTo>
                    <a:pt x="32535" y="32224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1810804"/>
                  </a:lnTo>
                  <a:lnTo>
                    <a:pt x="939" y="1825234"/>
                  </a:lnTo>
                  <a:lnTo>
                    <a:pt x="3736" y="1839291"/>
                  </a:lnTo>
                  <a:lnTo>
                    <a:pt x="8307" y="1852725"/>
                  </a:lnTo>
                  <a:lnTo>
                    <a:pt x="8358" y="1852875"/>
                  </a:lnTo>
                  <a:lnTo>
                    <a:pt x="14770" y="1865883"/>
                  </a:lnTo>
                  <a:lnTo>
                    <a:pt x="22686" y="1877597"/>
                  </a:lnTo>
                  <a:lnTo>
                    <a:pt x="22788" y="1877747"/>
                  </a:lnTo>
                  <a:lnTo>
                    <a:pt x="55079" y="1905838"/>
                  </a:lnTo>
                  <a:lnTo>
                    <a:pt x="95379" y="1919668"/>
                  </a:lnTo>
                  <a:lnTo>
                    <a:pt x="109804" y="1920608"/>
                  </a:lnTo>
                  <a:lnTo>
                    <a:pt x="8120164" y="1920608"/>
                  </a:lnTo>
                  <a:lnTo>
                    <a:pt x="8162235" y="1912250"/>
                  </a:lnTo>
                  <a:lnTo>
                    <a:pt x="8197737" y="1888428"/>
                  </a:lnTo>
                  <a:lnTo>
                    <a:pt x="8221534" y="1852875"/>
                  </a:lnTo>
                  <a:lnTo>
                    <a:pt x="8229968" y="1810804"/>
                  </a:lnTo>
                  <a:lnTo>
                    <a:pt x="8229945" y="109804"/>
                  </a:lnTo>
                  <a:lnTo>
                    <a:pt x="8221610" y="68095"/>
                  </a:lnTo>
                  <a:lnTo>
                    <a:pt x="8197743" y="32535"/>
                  </a:lnTo>
                  <a:lnTo>
                    <a:pt x="8162085" y="8721"/>
                  </a:lnTo>
                  <a:lnTo>
                    <a:pt x="8120164" y="368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6476" y="2696758"/>
              <a:ext cx="8230234" cy="1920875"/>
            </a:xfrm>
            <a:custGeom>
              <a:avLst/>
              <a:gdLst/>
              <a:ahLst/>
              <a:cxnLst/>
              <a:rect l="l" t="t" r="r" b="b"/>
              <a:pathLst>
                <a:path w="8230234" h="1920875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1"/>
                  </a:lnTo>
                  <a:lnTo>
                    <a:pt x="55079" y="14770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8120164" y="368"/>
                  </a:lnTo>
                  <a:lnTo>
                    <a:pt x="8162085" y="8721"/>
                  </a:lnTo>
                  <a:lnTo>
                    <a:pt x="8197743" y="32535"/>
                  </a:lnTo>
                  <a:lnTo>
                    <a:pt x="8221610" y="68095"/>
                  </a:lnTo>
                  <a:lnTo>
                    <a:pt x="8229968" y="110159"/>
                  </a:lnTo>
                  <a:lnTo>
                    <a:pt x="8229968" y="1810804"/>
                  </a:lnTo>
                  <a:lnTo>
                    <a:pt x="8229028" y="1825228"/>
                  </a:lnTo>
                  <a:lnTo>
                    <a:pt x="8226231" y="1839247"/>
                  </a:lnTo>
                  <a:lnTo>
                    <a:pt x="8207185" y="1877597"/>
                  </a:lnTo>
                  <a:lnTo>
                    <a:pt x="8175244" y="1905838"/>
                  </a:lnTo>
                  <a:lnTo>
                    <a:pt x="8134594" y="1919668"/>
                  </a:lnTo>
                  <a:lnTo>
                    <a:pt x="8120164" y="1920608"/>
                  </a:lnTo>
                  <a:lnTo>
                    <a:pt x="109804" y="1920608"/>
                  </a:lnTo>
                  <a:lnTo>
                    <a:pt x="67882" y="1912250"/>
                  </a:lnTo>
                  <a:lnTo>
                    <a:pt x="32224" y="1888428"/>
                  </a:lnTo>
                  <a:lnTo>
                    <a:pt x="8358" y="1852875"/>
                  </a:lnTo>
                  <a:lnTo>
                    <a:pt x="0" y="1810804"/>
                  </a:lnTo>
                  <a:lnTo>
                    <a:pt x="368" y="109804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163301" y="224977"/>
            <a:ext cx="897255" cy="922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850" spc="940" dirty="0">
                <a:latin typeface="MingLiU_HKSCS-ExtB"/>
                <a:cs typeface="MingLiU_HKSCS-ExtB"/>
              </a:rPr>
              <a:t>🏦</a:t>
            </a:r>
            <a:endParaRPr sz="5850">
              <a:latin typeface="MingLiU_HKSCS-ExtB"/>
              <a:cs typeface="MingLiU_HKSCS-ExtB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170254" y="1358546"/>
            <a:ext cx="679259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/>
              <a:t>INFRAESTRUCTURA</a:t>
            </a:r>
            <a:r>
              <a:rPr sz="2700" spc="400" dirty="0"/>
              <a:t> </a:t>
            </a:r>
            <a:r>
              <a:rPr sz="2700" spc="155" dirty="0"/>
              <a:t>BANCARIA</a:t>
            </a:r>
            <a:r>
              <a:rPr sz="2700" spc="400" dirty="0"/>
              <a:t> </a:t>
            </a:r>
            <a:r>
              <a:rPr sz="2700" spc="145" dirty="0"/>
              <a:t>SIMULADA</a:t>
            </a:r>
            <a:endParaRPr sz="2700"/>
          </a:p>
        </p:txBody>
      </p:sp>
      <p:grpSp>
        <p:nvGrpSpPr>
          <p:cNvPr id="13" name="object 13"/>
          <p:cNvGrpSpPr/>
          <p:nvPr/>
        </p:nvGrpSpPr>
        <p:grpSpPr>
          <a:xfrm>
            <a:off x="3010864" y="2005026"/>
            <a:ext cx="3121660" cy="49530"/>
            <a:chOff x="3010864" y="2005026"/>
            <a:chExt cx="3121660" cy="49530"/>
          </a:xfrm>
        </p:grpSpPr>
        <p:sp>
          <p:nvSpPr>
            <p:cNvPr id="14" name="object 14"/>
            <p:cNvSpPr/>
            <p:nvPr/>
          </p:nvSpPr>
          <p:spPr>
            <a:xfrm>
              <a:off x="3017164" y="2011326"/>
              <a:ext cx="3108960" cy="36830"/>
            </a:xfrm>
            <a:custGeom>
              <a:avLst/>
              <a:gdLst/>
              <a:ahLst/>
              <a:cxnLst/>
              <a:rect l="l" t="t" r="r" b="b"/>
              <a:pathLst>
                <a:path w="3108960" h="36830">
                  <a:moveTo>
                    <a:pt x="3108591" y="0"/>
                  </a:moveTo>
                  <a:lnTo>
                    <a:pt x="0" y="0"/>
                  </a:lnTo>
                  <a:lnTo>
                    <a:pt x="0" y="36360"/>
                  </a:lnTo>
                  <a:lnTo>
                    <a:pt x="1554479" y="36360"/>
                  </a:lnTo>
                  <a:lnTo>
                    <a:pt x="3108591" y="36360"/>
                  </a:lnTo>
                  <a:lnTo>
                    <a:pt x="3108591" y="0"/>
                  </a:lnTo>
                  <a:close/>
                </a:path>
              </a:pathLst>
            </a:custGeom>
            <a:solidFill>
              <a:srgbClr val="49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17164" y="2011326"/>
              <a:ext cx="3108960" cy="36830"/>
            </a:xfrm>
            <a:custGeom>
              <a:avLst/>
              <a:gdLst/>
              <a:ahLst/>
              <a:cxnLst/>
              <a:rect l="l" t="t" r="r" b="b"/>
              <a:pathLst>
                <a:path w="3108960" h="36830">
                  <a:moveTo>
                    <a:pt x="1554479" y="36360"/>
                  </a:moveTo>
                  <a:lnTo>
                    <a:pt x="0" y="36360"/>
                  </a:lnTo>
                  <a:lnTo>
                    <a:pt x="0" y="0"/>
                  </a:lnTo>
                  <a:lnTo>
                    <a:pt x="3108591" y="0"/>
                  </a:lnTo>
                  <a:lnTo>
                    <a:pt x="3108591" y="36360"/>
                  </a:lnTo>
                  <a:lnTo>
                    <a:pt x="1554479" y="36360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17584" y="2236573"/>
            <a:ext cx="4499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99DFF"/>
                </a:solidFill>
                <a:latin typeface="Calibri"/>
                <a:cs typeface="Calibri"/>
              </a:rPr>
              <a:t>Proyecto</a:t>
            </a:r>
            <a:r>
              <a:rPr sz="1200" dirty="0">
                <a:solidFill>
                  <a:srgbClr val="499DFF"/>
                </a:solidFill>
                <a:latin typeface="Calibri"/>
                <a:cs typeface="Calibri"/>
              </a:rPr>
              <a:t> Final</a:t>
            </a:r>
            <a:r>
              <a:rPr sz="1200" spc="-1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9DFF"/>
                </a:solidFill>
                <a:latin typeface="Calibri"/>
                <a:cs typeface="Calibri"/>
              </a:rPr>
              <a:t>SIS313</a:t>
            </a:r>
            <a:r>
              <a:rPr sz="1200" spc="-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9DFF"/>
                </a:solidFill>
                <a:latin typeface="Calibri"/>
                <a:cs typeface="Calibri"/>
              </a:rPr>
              <a:t>·</a:t>
            </a:r>
            <a:r>
              <a:rPr sz="1200" spc="-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99DFF"/>
                </a:solidFill>
                <a:latin typeface="Calibri"/>
                <a:cs typeface="Calibri"/>
              </a:rPr>
              <a:t>Infraestructura,</a:t>
            </a:r>
            <a:r>
              <a:rPr sz="120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499DFF"/>
                </a:solidFill>
                <a:latin typeface="Calibri"/>
                <a:cs typeface="Calibri"/>
              </a:rPr>
              <a:t>Plataformas</a:t>
            </a:r>
            <a:r>
              <a:rPr sz="1200" spc="-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499DFF"/>
                </a:solidFill>
                <a:latin typeface="Calibri"/>
                <a:cs typeface="Calibri"/>
              </a:rPr>
              <a:t>Tecnológicas</a:t>
            </a:r>
            <a:r>
              <a:rPr sz="1200" spc="-1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99DFF"/>
                </a:solidFill>
                <a:latin typeface="Calibri"/>
                <a:cs typeface="Calibri"/>
              </a:rPr>
              <a:t>y </a:t>
            </a:r>
            <a:r>
              <a:rPr sz="1200" spc="-10" dirty="0">
                <a:solidFill>
                  <a:srgbClr val="499DFF"/>
                </a:solidFill>
                <a:latin typeface="Calibri"/>
                <a:cs typeface="Calibri"/>
              </a:rPr>
              <a:t>Redes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16657" y="2869820"/>
            <a:ext cx="410146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10" dirty="0">
                <a:solidFill>
                  <a:srgbClr val="499DFF"/>
                </a:solidFill>
                <a:latin typeface="Calibri"/>
                <a:cs typeface="Calibri"/>
              </a:rPr>
              <a:t>Universidad</a:t>
            </a:r>
            <a:r>
              <a:rPr sz="1050" b="1" spc="-3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499DFF"/>
                </a:solidFill>
                <a:latin typeface="Calibri"/>
                <a:cs typeface="Calibri"/>
              </a:rPr>
              <a:t>Mayor</a:t>
            </a:r>
            <a:r>
              <a:rPr sz="1050" b="1" spc="-2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99DFF"/>
                </a:solidFill>
                <a:latin typeface="Calibri"/>
                <a:cs typeface="Calibri"/>
              </a:rPr>
              <a:t>Real</a:t>
            </a:r>
            <a:r>
              <a:rPr sz="1050" b="1" spc="-2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99DFF"/>
                </a:solidFill>
                <a:latin typeface="Calibri"/>
                <a:cs typeface="Calibri"/>
              </a:rPr>
              <a:t>y</a:t>
            </a:r>
            <a:r>
              <a:rPr sz="1050" b="1" spc="-2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499DFF"/>
                </a:solidFill>
                <a:latin typeface="Calibri"/>
                <a:cs typeface="Calibri"/>
              </a:rPr>
              <a:t>Pontificia</a:t>
            </a:r>
            <a:r>
              <a:rPr sz="1050" b="1" spc="-2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99DFF"/>
                </a:solidFill>
                <a:latin typeface="Calibri"/>
                <a:cs typeface="Calibri"/>
              </a:rPr>
              <a:t>de</a:t>
            </a:r>
            <a:r>
              <a:rPr sz="1050" b="1" spc="-3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99DFF"/>
                </a:solidFill>
                <a:latin typeface="Calibri"/>
                <a:cs typeface="Calibri"/>
              </a:rPr>
              <a:t>San</a:t>
            </a:r>
            <a:r>
              <a:rPr sz="1050" b="1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499DFF"/>
                </a:solidFill>
                <a:latin typeface="Calibri"/>
                <a:cs typeface="Calibri"/>
              </a:rPr>
              <a:t>Francisco</a:t>
            </a:r>
            <a:r>
              <a:rPr sz="1050" b="1" spc="-3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99DFF"/>
                </a:solidFill>
                <a:latin typeface="Calibri"/>
                <a:cs typeface="Calibri"/>
              </a:rPr>
              <a:t>Xavier</a:t>
            </a:r>
            <a:r>
              <a:rPr sz="1050" b="1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499DFF"/>
                </a:solidFill>
                <a:latin typeface="Calibri"/>
                <a:cs typeface="Calibri"/>
              </a:rPr>
              <a:t>de</a:t>
            </a:r>
            <a:r>
              <a:rPr sz="1050" b="1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50" b="1" spc="-10" dirty="0">
                <a:solidFill>
                  <a:srgbClr val="499DFF"/>
                </a:solidFill>
                <a:latin typeface="Calibri"/>
                <a:cs typeface="Calibri"/>
              </a:rPr>
              <a:t>Chuquisaca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70978" y="3279866"/>
            <a:ext cx="1497330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Juan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Pablo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Taboada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 Camacho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Router/FW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 ·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Web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DMZ ·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8799A9"/>
                </a:solidFill>
                <a:latin typeface="Calibri"/>
                <a:cs typeface="Calibri"/>
              </a:rPr>
              <a:t>DNS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14622" y="3279866"/>
            <a:ext cx="1295400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Carlos</a:t>
            </a:r>
            <a:r>
              <a:rPr sz="9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Matias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Villarroel</a:t>
            </a:r>
            <a:r>
              <a:rPr sz="9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T.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DB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Core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·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App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Server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66102" y="3279866"/>
            <a:ext cx="1278890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Franco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Milton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 Jimenez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 A.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Cajero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 ·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SIEM ·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Attacker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65741" y="4751897"/>
            <a:ext cx="280797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Docente:</a:t>
            </a:r>
            <a:r>
              <a:rPr sz="9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Ing.</a:t>
            </a:r>
            <a:r>
              <a:rPr sz="9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Marcelo</a:t>
            </a:r>
            <a:r>
              <a:rPr sz="9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Quispe</a:t>
            </a:r>
            <a:r>
              <a:rPr sz="9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Ortega</a:t>
            </a:r>
            <a:r>
              <a:rPr sz="950" spc="17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·</a:t>
            </a:r>
            <a:r>
              <a:rPr sz="950" spc="18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Semestre:</a:t>
            </a:r>
            <a:r>
              <a:rPr sz="9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I/2026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4244" y="-6335"/>
            <a:ext cx="8976360" cy="5078730"/>
            <a:chOff x="174244" y="-6335"/>
            <a:chExt cx="8976360" cy="5078730"/>
          </a:xfrm>
        </p:grpSpPr>
        <p:sp>
          <p:nvSpPr>
            <p:cNvPr id="3" name="object 3"/>
            <p:cNvSpPr/>
            <p:nvPr/>
          </p:nvSpPr>
          <p:spPr>
            <a:xfrm>
              <a:off x="7772044" y="14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1371587" y="0"/>
                  </a:moveTo>
                  <a:lnTo>
                    <a:pt x="228600" y="0"/>
                  </a:lnTo>
                  <a:lnTo>
                    <a:pt x="206811" y="29693"/>
                  </a:lnTo>
                  <a:lnTo>
                    <a:pt x="179014" y="71261"/>
                  </a:lnTo>
                  <a:lnTo>
                    <a:pt x="152996" y="114109"/>
                  </a:lnTo>
                  <a:lnTo>
                    <a:pt x="128963" y="157972"/>
                  </a:lnTo>
                  <a:lnTo>
                    <a:pt x="106915" y="202754"/>
                  </a:lnTo>
                  <a:lnTo>
                    <a:pt x="86871" y="248384"/>
                  </a:lnTo>
                  <a:lnTo>
                    <a:pt x="68852" y="294790"/>
                  </a:lnTo>
                  <a:lnTo>
                    <a:pt x="52878" y="341900"/>
                  </a:lnTo>
                  <a:lnTo>
                    <a:pt x="38969" y="389645"/>
                  </a:lnTo>
                  <a:lnTo>
                    <a:pt x="27145" y="437952"/>
                  </a:lnTo>
                  <a:lnTo>
                    <a:pt x="17426" y="486751"/>
                  </a:lnTo>
                  <a:lnTo>
                    <a:pt x="9832" y="535969"/>
                  </a:lnTo>
                  <a:lnTo>
                    <a:pt x="4383" y="585536"/>
                  </a:lnTo>
                  <a:lnTo>
                    <a:pt x="1099" y="635380"/>
                  </a:lnTo>
                  <a:lnTo>
                    <a:pt x="0" y="685431"/>
                  </a:lnTo>
                  <a:lnTo>
                    <a:pt x="1099" y="735482"/>
                  </a:lnTo>
                  <a:lnTo>
                    <a:pt x="4383" y="785327"/>
                  </a:lnTo>
                  <a:lnTo>
                    <a:pt x="9832" y="834897"/>
                  </a:lnTo>
                  <a:lnTo>
                    <a:pt x="17426" y="884122"/>
                  </a:lnTo>
                  <a:lnTo>
                    <a:pt x="27145" y="932932"/>
                  </a:lnTo>
                  <a:lnTo>
                    <a:pt x="38969" y="981257"/>
                  </a:lnTo>
                  <a:lnTo>
                    <a:pt x="52878" y="1029027"/>
                  </a:lnTo>
                  <a:lnTo>
                    <a:pt x="68852" y="1076173"/>
                  </a:lnTo>
                  <a:lnTo>
                    <a:pt x="86871" y="1122623"/>
                  </a:lnTo>
                  <a:lnTo>
                    <a:pt x="106915" y="1168310"/>
                  </a:lnTo>
                  <a:lnTo>
                    <a:pt x="128963" y="1213161"/>
                  </a:lnTo>
                  <a:lnTo>
                    <a:pt x="152996" y="1257109"/>
                  </a:lnTo>
                  <a:lnTo>
                    <a:pt x="179014" y="1299873"/>
                  </a:lnTo>
                  <a:lnTo>
                    <a:pt x="206811" y="1341371"/>
                  </a:lnTo>
                  <a:lnTo>
                    <a:pt x="236337" y="1381551"/>
                  </a:lnTo>
                  <a:lnTo>
                    <a:pt x="267543" y="1420362"/>
                  </a:lnTo>
                  <a:lnTo>
                    <a:pt x="300379" y="1457754"/>
                  </a:lnTo>
                  <a:lnTo>
                    <a:pt x="334795" y="1493673"/>
                  </a:lnTo>
                  <a:lnTo>
                    <a:pt x="370741" y="1528071"/>
                  </a:lnTo>
                  <a:lnTo>
                    <a:pt x="408168" y="1560894"/>
                  </a:lnTo>
                  <a:lnTo>
                    <a:pt x="447024" y="1592092"/>
                  </a:lnTo>
                  <a:lnTo>
                    <a:pt x="487261" y="1621613"/>
                  </a:lnTo>
                  <a:lnTo>
                    <a:pt x="528829" y="1649407"/>
                  </a:lnTo>
                  <a:lnTo>
                    <a:pt x="571677" y="1675422"/>
                  </a:lnTo>
                  <a:lnTo>
                    <a:pt x="615540" y="1699458"/>
                  </a:lnTo>
                  <a:lnTo>
                    <a:pt x="660322" y="1721509"/>
                  </a:lnTo>
                  <a:lnTo>
                    <a:pt x="705952" y="1741554"/>
                  </a:lnTo>
                  <a:lnTo>
                    <a:pt x="752358" y="1759575"/>
                  </a:lnTo>
                  <a:lnTo>
                    <a:pt x="799469" y="1775550"/>
                  </a:lnTo>
                  <a:lnTo>
                    <a:pt x="847213" y="1789460"/>
                  </a:lnTo>
                  <a:lnTo>
                    <a:pt x="895520" y="1801284"/>
                  </a:lnTo>
                  <a:lnTo>
                    <a:pt x="944319" y="1811004"/>
                  </a:lnTo>
                  <a:lnTo>
                    <a:pt x="993537" y="1818598"/>
                  </a:lnTo>
                  <a:lnTo>
                    <a:pt x="1043104" y="1824048"/>
                  </a:lnTo>
                  <a:lnTo>
                    <a:pt x="1092949" y="1827332"/>
                  </a:lnTo>
                  <a:lnTo>
                    <a:pt x="1143000" y="1828431"/>
                  </a:lnTo>
                  <a:lnTo>
                    <a:pt x="1193050" y="1827332"/>
                  </a:lnTo>
                  <a:lnTo>
                    <a:pt x="1242896" y="1824048"/>
                  </a:lnTo>
                  <a:lnTo>
                    <a:pt x="1292466" y="1818598"/>
                  </a:lnTo>
                  <a:lnTo>
                    <a:pt x="1341691" y="1811004"/>
                  </a:lnTo>
                  <a:lnTo>
                    <a:pt x="1371587" y="1805051"/>
                  </a:lnTo>
                  <a:lnTo>
                    <a:pt x="1371587" y="0"/>
                  </a:lnTo>
                  <a:close/>
                </a:path>
              </a:pathLst>
            </a:custGeom>
            <a:solidFill>
              <a:srgbClr val="0C1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72044" y="14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1371587" y="1805051"/>
                  </a:moveTo>
                  <a:lnTo>
                    <a:pt x="1292466" y="1818598"/>
                  </a:lnTo>
                  <a:lnTo>
                    <a:pt x="1242896" y="1824048"/>
                  </a:lnTo>
                  <a:lnTo>
                    <a:pt x="1193050" y="1827332"/>
                  </a:lnTo>
                  <a:lnTo>
                    <a:pt x="1143000" y="1828431"/>
                  </a:lnTo>
                  <a:lnTo>
                    <a:pt x="1092949" y="1827332"/>
                  </a:lnTo>
                  <a:lnTo>
                    <a:pt x="1043104" y="1824048"/>
                  </a:lnTo>
                  <a:lnTo>
                    <a:pt x="993537" y="1818598"/>
                  </a:lnTo>
                  <a:lnTo>
                    <a:pt x="944319" y="1811004"/>
                  </a:lnTo>
                  <a:lnTo>
                    <a:pt x="895520" y="1801284"/>
                  </a:lnTo>
                  <a:lnTo>
                    <a:pt x="847213" y="1789460"/>
                  </a:lnTo>
                  <a:lnTo>
                    <a:pt x="799469" y="1775550"/>
                  </a:lnTo>
                  <a:lnTo>
                    <a:pt x="752358" y="1759575"/>
                  </a:lnTo>
                  <a:lnTo>
                    <a:pt x="705952" y="1741554"/>
                  </a:lnTo>
                  <a:lnTo>
                    <a:pt x="660322" y="1721509"/>
                  </a:lnTo>
                  <a:lnTo>
                    <a:pt x="615540" y="1699458"/>
                  </a:lnTo>
                  <a:lnTo>
                    <a:pt x="571677" y="1675422"/>
                  </a:lnTo>
                  <a:lnTo>
                    <a:pt x="528829" y="1649407"/>
                  </a:lnTo>
                  <a:lnTo>
                    <a:pt x="487261" y="1621613"/>
                  </a:lnTo>
                  <a:lnTo>
                    <a:pt x="447024" y="1592092"/>
                  </a:lnTo>
                  <a:lnTo>
                    <a:pt x="408168" y="1560894"/>
                  </a:lnTo>
                  <a:lnTo>
                    <a:pt x="370741" y="1528071"/>
                  </a:lnTo>
                  <a:lnTo>
                    <a:pt x="334795" y="1493673"/>
                  </a:lnTo>
                  <a:lnTo>
                    <a:pt x="300379" y="1457754"/>
                  </a:lnTo>
                  <a:lnTo>
                    <a:pt x="267543" y="1420362"/>
                  </a:lnTo>
                  <a:lnTo>
                    <a:pt x="236337" y="1381551"/>
                  </a:lnTo>
                  <a:lnTo>
                    <a:pt x="206811" y="1341371"/>
                  </a:lnTo>
                  <a:lnTo>
                    <a:pt x="179014" y="1299873"/>
                  </a:lnTo>
                  <a:lnTo>
                    <a:pt x="152996" y="1257109"/>
                  </a:lnTo>
                  <a:lnTo>
                    <a:pt x="128963" y="1213161"/>
                  </a:lnTo>
                  <a:lnTo>
                    <a:pt x="106915" y="1168310"/>
                  </a:lnTo>
                  <a:lnTo>
                    <a:pt x="86871" y="1122623"/>
                  </a:lnTo>
                  <a:lnTo>
                    <a:pt x="68852" y="1076173"/>
                  </a:lnTo>
                  <a:lnTo>
                    <a:pt x="52878" y="1029027"/>
                  </a:lnTo>
                  <a:lnTo>
                    <a:pt x="38969" y="981257"/>
                  </a:lnTo>
                  <a:lnTo>
                    <a:pt x="27145" y="932932"/>
                  </a:lnTo>
                  <a:lnTo>
                    <a:pt x="17426" y="884122"/>
                  </a:lnTo>
                  <a:lnTo>
                    <a:pt x="9832" y="834897"/>
                  </a:lnTo>
                  <a:lnTo>
                    <a:pt x="4383" y="785327"/>
                  </a:lnTo>
                  <a:lnTo>
                    <a:pt x="1099" y="735482"/>
                  </a:lnTo>
                  <a:lnTo>
                    <a:pt x="0" y="685431"/>
                  </a:lnTo>
                  <a:lnTo>
                    <a:pt x="1099" y="635380"/>
                  </a:lnTo>
                  <a:lnTo>
                    <a:pt x="4383" y="585536"/>
                  </a:lnTo>
                  <a:lnTo>
                    <a:pt x="9832" y="535969"/>
                  </a:lnTo>
                  <a:lnTo>
                    <a:pt x="17426" y="486751"/>
                  </a:lnTo>
                  <a:lnTo>
                    <a:pt x="27145" y="437952"/>
                  </a:lnTo>
                  <a:lnTo>
                    <a:pt x="38969" y="389645"/>
                  </a:lnTo>
                  <a:lnTo>
                    <a:pt x="52878" y="341900"/>
                  </a:lnTo>
                  <a:lnTo>
                    <a:pt x="68852" y="294790"/>
                  </a:lnTo>
                  <a:lnTo>
                    <a:pt x="86871" y="248384"/>
                  </a:lnTo>
                  <a:lnTo>
                    <a:pt x="106915" y="202754"/>
                  </a:lnTo>
                  <a:lnTo>
                    <a:pt x="128963" y="157972"/>
                  </a:lnTo>
                  <a:lnTo>
                    <a:pt x="152996" y="114109"/>
                  </a:lnTo>
                  <a:lnTo>
                    <a:pt x="179014" y="71261"/>
                  </a:lnTo>
                  <a:lnTo>
                    <a:pt x="206811" y="29693"/>
                  </a:lnTo>
                  <a:lnTo>
                    <a:pt x="228600" y="0"/>
                  </a:lnTo>
                </a:path>
              </a:pathLst>
            </a:custGeom>
            <a:ln w="12599">
              <a:solidFill>
                <a:srgbClr val="0C1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244" y="787313"/>
              <a:ext cx="2959201" cy="428472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5244" y="868326"/>
              <a:ext cx="2743835" cy="4069715"/>
            </a:xfrm>
            <a:custGeom>
              <a:avLst/>
              <a:gdLst/>
              <a:ahLst/>
              <a:cxnLst/>
              <a:rect l="l" t="t" r="r" b="b"/>
              <a:pathLst>
                <a:path w="2743835" h="406971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3977995"/>
                  </a:lnTo>
                  <a:lnTo>
                    <a:pt x="798" y="3990000"/>
                  </a:lnTo>
                  <a:lnTo>
                    <a:pt x="18830" y="4033759"/>
                  </a:lnTo>
                  <a:lnTo>
                    <a:pt x="56505" y="4062449"/>
                  </a:lnTo>
                  <a:lnTo>
                    <a:pt x="91439" y="4069435"/>
                  </a:lnTo>
                  <a:lnTo>
                    <a:pt x="2652115" y="4069435"/>
                  </a:lnTo>
                  <a:lnTo>
                    <a:pt x="2697835" y="4057192"/>
                  </a:lnTo>
                  <a:lnTo>
                    <a:pt x="2731312" y="4023715"/>
                  </a:lnTo>
                  <a:lnTo>
                    <a:pt x="2743555" y="3977995"/>
                  </a:lnTo>
                  <a:lnTo>
                    <a:pt x="2743531" y="91439"/>
                  </a:lnTo>
                  <a:lnTo>
                    <a:pt x="2731312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5244" y="868326"/>
              <a:ext cx="2743835" cy="4069715"/>
            </a:xfrm>
            <a:custGeom>
              <a:avLst/>
              <a:gdLst/>
              <a:ahLst/>
              <a:cxnLst/>
              <a:rect l="l" t="t" r="r" b="b"/>
              <a:pathLst>
                <a:path w="2743835" h="406971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12" y="46075"/>
                  </a:lnTo>
                  <a:lnTo>
                    <a:pt x="2743555" y="91795"/>
                  </a:lnTo>
                  <a:lnTo>
                    <a:pt x="2743555" y="3977995"/>
                  </a:lnTo>
                  <a:lnTo>
                    <a:pt x="2742757" y="3990000"/>
                  </a:lnTo>
                  <a:lnTo>
                    <a:pt x="2740406" y="4001665"/>
                  </a:lnTo>
                  <a:lnTo>
                    <a:pt x="2716869" y="4042754"/>
                  </a:lnTo>
                  <a:lnTo>
                    <a:pt x="2675785" y="4066286"/>
                  </a:lnTo>
                  <a:lnTo>
                    <a:pt x="2652115" y="4069435"/>
                  </a:lnTo>
                  <a:lnTo>
                    <a:pt x="91439" y="4069435"/>
                  </a:lnTo>
                  <a:lnTo>
                    <a:pt x="45720" y="4057192"/>
                  </a:lnTo>
                  <a:lnTo>
                    <a:pt x="12230" y="4023715"/>
                  </a:lnTo>
                  <a:lnTo>
                    <a:pt x="0" y="397799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600" y="868682"/>
              <a:ext cx="2743200" cy="567055"/>
            </a:xfrm>
            <a:custGeom>
              <a:avLst/>
              <a:gdLst/>
              <a:ahLst/>
              <a:cxnLst/>
              <a:rect l="l" t="t" r="r" b="b"/>
              <a:pathLst>
                <a:path w="2743200" h="567055">
                  <a:moveTo>
                    <a:pt x="265140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75564"/>
                  </a:lnTo>
                  <a:lnTo>
                    <a:pt x="774" y="487202"/>
                  </a:lnTo>
                  <a:lnTo>
                    <a:pt x="798" y="487563"/>
                  </a:lnTo>
                  <a:lnTo>
                    <a:pt x="3077" y="498870"/>
                  </a:lnTo>
                  <a:lnTo>
                    <a:pt x="3149" y="499229"/>
                  </a:lnTo>
                  <a:lnTo>
                    <a:pt x="26681" y="540313"/>
                  </a:lnTo>
                  <a:lnTo>
                    <a:pt x="67765" y="563854"/>
                  </a:lnTo>
                  <a:lnTo>
                    <a:pt x="91439" y="567004"/>
                  </a:lnTo>
                  <a:lnTo>
                    <a:pt x="2651760" y="566635"/>
                  </a:lnTo>
                  <a:lnTo>
                    <a:pt x="2697480" y="554405"/>
                  </a:lnTo>
                  <a:lnTo>
                    <a:pt x="2730957" y="520915"/>
                  </a:lnTo>
                  <a:lnTo>
                    <a:pt x="2739928" y="499229"/>
                  </a:lnTo>
                  <a:lnTo>
                    <a:pt x="2740050" y="498870"/>
                  </a:lnTo>
                  <a:lnTo>
                    <a:pt x="2742328" y="487563"/>
                  </a:lnTo>
                  <a:lnTo>
                    <a:pt x="2742401" y="487202"/>
                  </a:lnTo>
                  <a:lnTo>
                    <a:pt x="2743175" y="475564"/>
                  </a:lnTo>
                  <a:lnTo>
                    <a:pt x="2742844" y="91439"/>
                  </a:lnTo>
                  <a:lnTo>
                    <a:pt x="2730601" y="45719"/>
                  </a:lnTo>
                  <a:lnTo>
                    <a:pt x="2697124" y="12242"/>
                  </a:lnTo>
                  <a:lnTo>
                    <a:pt x="2663404" y="798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600" y="868682"/>
              <a:ext cx="2743200" cy="567055"/>
            </a:xfrm>
            <a:custGeom>
              <a:avLst/>
              <a:gdLst/>
              <a:ahLst/>
              <a:cxnLst/>
              <a:rect l="l" t="t" r="r" b="b"/>
              <a:pathLst>
                <a:path w="2743200" h="567055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2651404" y="0"/>
                  </a:lnTo>
                  <a:lnTo>
                    <a:pt x="2697124" y="12242"/>
                  </a:lnTo>
                  <a:lnTo>
                    <a:pt x="2730601" y="45719"/>
                  </a:lnTo>
                  <a:lnTo>
                    <a:pt x="2742844" y="91439"/>
                  </a:lnTo>
                  <a:lnTo>
                    <a:pt x="2743200" y="475195"/>
                  </a:lnTo>
                  <a:lnTo>
                    <a:pt x="2742401" y="487202"/>
                  </a:lnTo>
                  <a:lnTo>
                    <a:pt x="2740050" y="498870"/>
                  </a:lnTo>
                  <a:lnTo>
                    <a:pt x="2716514" y="539956"/>
                  </a:lnTo>
                  <a:lnTo>
                    <a:pt x="2675429" y="563487"/>
                  </a:lnTo>
                  <a:lnTo>
                    <a:pt x="91439" y="567004"/>
                  </a:lnTo>
                  <a:lnTo>
                    <a:pt x="45719" y="554761"/>
                  </a:lnTo>
                  <a:lnTo>
                    <a:pt x="12242" y="521284"/>
                  </a:lnTo>
                  <a:lnTo>
                    <a:pt x="0" y="475564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600" y="1152006"/>
              <a:ext cx="2743200" cy="283210"/>
            </a:xfrm>
            <a:custGeom>
              <a:avLst/>
              <a:gdLst/>
              <a:ahLst/>
              <a:cxnLst/>
              <a:rect l="l" t="t" r="r" b="b"/>
              <a:pathLst>
                <a:path w="2743200" h="283209">
                  <a:moveTo>
                    <a:pt x="2742844" y="0"/>
                  </a:moveTo>
                  <a:lnTo>
                    <a:pt x="0" y="0"/>
                  </a:lnTo>
                  <a:lnTo>
                    <a:pt x="0" y="282956"/>
                  </a:lnTo>
                  <a:lnTo>
                    <a:pt x="1371600" y="282956"/>
                  </a:lnTo>
                  <a:lnTo>
                    <a:pt x="2742844" y="2829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5600" y="1152006"/>
              <a:ext cx="2743200" cy="283210"/>
            </a:xfrm>
            <a:custGeom>
              <a:avLst/>
              <a:gdLst/>
              <a:ahLst/>
              <a:cxnLst/>
              <a:rect l="l" t="t" r="r" b="b"/>
              <a:pathLst>
                <a:path w="2743200" h="283209">
                  <a:moveTo>
                    <a:pt x="1371600" y="282956"/>
                  </a:moveTo>
                  <a:lnTo>
                    <a:pt x="0" y="282956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282956"/>
                  </a:lnTo>
                  <a:lnTo>
                    <a:pt x="1371600" y="282956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475" dirty="0">
                <a:solidFill>
                  <a:srgbClr val="000000"/>
                </a:solidFill>
                <a:latin typeface="MingLiU_HKSCS-ExtB"/>
                <a:cs typeface="MingLiU_HKSCS-ExtB"/>
              </a:rPr>
              <a:t>🎯</a:t>
            </a:r>
            <a:r>
              <a:rPr sz="2800" b="0" spc="210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104" baseline="1322" dirty="0"/>
              <a:t>OBJETIVO</a:t>
            </a:r>
            <a:r>
              <a:rPr sz="3150" spc="292" baseline="1322" dirty="0"/>
              <a:t> </a:t>
            </a:r>
            <a:r>
              <a:rPr sz="3150" baseline="1322" dirty="0"/>
              <a:t>Y</a:t>
            </a:r>
            <a:r>
              <a:rPr sz="3150" spc="292" baseline="1322" dirty="0"/>
              <a:t> </a:t>
            </a:r>
            <a:r>
              <a:rPr sz="3150" spc="104" baseline="1322" dirty="0"/>
              <a:t>PROBLEMA</a:t>
            </a:r>
            <a:r>
              <a:rPr sz="3150" spc="284" baseline="1322" dirty="0"/>
              <a:t> </a:t>
            </a:r>
            <a:r>
              <a:rPr sz="3150" spc="52" baseline="1322" dirty="0"/>
              <a:t>RESUELTO</a:t>
            </a:r>
            <a:endParaRPr sz="3150" baseline="1322">
              <a:latin typeface="MingLiU_HKSCS-ExtB"/>
              <a:cs typeface="MingLiU_HKSCS-ExtB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68183" y="1045625"/>
            <a:ext cx="71628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FFFFFF"/>
                </a:solidFill>
                <a:latin typeface="MingLiU_HKSCS-ExtB"/>
                <a:cs typeface="MingLiU_HKSCS-ExtB"/>
              </a:rPr>
              <a:t>🎯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OBJETIVO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0420" y="1568426"/>
            <a:ext cx="2273300" cy="98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Implementar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una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infraestructura bancaria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simulada</a:t>
            </a:r>
            <a:r>
              <a:rPr sz="10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10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8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VMs</a:t>
            </a:r>
            <a:r>
              <a:rPr sz="10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Ubuntu</a:t>
            </a:r>
            <a:r>
              <a:rPr sz="10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Server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24.04 </a:t>
            </a:r>
            <a:r>
              <a:rPr sz="1050" spc="-40" dirty="0">
                <a:solidFill>
                  <a:srgbClr val="E7EFFF"/>
                </a:solidFill>
                <a:latin typeface="Calibri"/>
                <a:cs typeface="Calibri"/>
              </a:rPr>
              <a:t>LTS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con</a:t>
            </a:r>
            <a:r>
              <a:rPr sz="10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segmentación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red,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portal funcional,</a:t>
            </a:r>
            <a:r>
              <a:rPr sz="10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hardening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10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servidores, detección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intrusiones</a:t>
            </a:r>
            <a:r>
              <a:rPr sz="10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y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respuesta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50" dirty="0">
                <a:solidFill>
                  <a:srgbClr val="E7EFFF"/>
                </a:solidFill>
                <a:latin typeface="Calibri"/>
                <a:cs typeface="Calibri"/>
              </a:rPr>
              <a:t>a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 incidentes.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54604" y="787313"/>
            <a:ext cx="2959735" cy="4284980"/>
            <a:chOff x="3054604" y="787313"/>
            <a:chExt cx="2959735" cy="428498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4604" y="787313"/>
              <a:ext cx="2959201" cy="42847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135604" y="868326"/>
              <a:ext cx="2743835" cy="4069715"/>
            </a:xfrm>
            <a:custGeom>
              <a:avLst/>
              <a:gdLst/>
              <a:ahLst/>
              <a:cxnLst/>
              <a:rect l="l" t="t" r="r" b="b"/>
              <a:pathLst>
                <a:path w="2743835" h="406971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3977995"/>
                  </a:lnTo>
                  <a:lnTo>
                    <a:pt x="798" y="3990000"/>
                  </a:lnTo>
                  <a:lnTo>
                    <a:pt x="18830" y="4033759"/>
                  </a:lnTo>
                  <a:lnTo>
                    <a:pt x="56505" y="4062449"/>
                  </a:lnTo>
                  <a:lnTo>
                    <a:pt x="91440" y="4069435"/>
                  </a:lnTo>
                  <a:lnTo>
                    <a:pt x="2652115" y="4069435"/>
                  </a:lnTo>
                  <a:lnTo>
                    <a:pt x="2697835" y="4057192"/>
                  </a:lnTo>
                  <a:lnTo>
                    <a:pt x="2731312" y="4023715"/>
                  </a:lnTo>
                  <a:lnTo>
                    <a:pt x="2743555" y="3977995"/>
                  </a:lnTo>
                  <a:lnTo>
                    <a:pt x="2743531" y="91439"/>
                  </a:lnTo>
                  <a:lnTo>
                    <a:pt x="2731312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35604" y="868326"/>
              <a:ext cx="2743835" cy="4069715"/>
            </a:xfrm>
            <a:custGeom>
              <a:avLst/>
              <a:gdLst/>
              <a:ahLst/>
              <a:cxnLst/>
              <a:rect l="l" t="t" r="r" b="b"/>
              <a:pathLst>
                <a:path w="2743835" h="406971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12" y="46075"/>
                  </a:lnTo>
                  <a:lnTo>
                    <a:pt x="2743555" y="91795"/>
                  </a:lnTo>
                  <a:lnTo>
                    <a:pt x="2743555" y="3977995"/>
                  </a:lnTo>
                  <a:lnTo>
                    <a:pt x="2742757" y="3990000"/>
                  </a:lnTo>
                  <a:lnTo>
                    <a:pt x="2740406" y="4001665"/>
                  </a:lnTo>
                  <a:lnTo>
                    <a:pt x="2716869" y="4042754"/>
                  </a:lnTo>
                  <a:lnTo>
                    <a:pt x="2675785" y="4066286"/>
                  </a:lnTo>
                  <a:lnTo>
                    <a:pt x="2652115" y="4069435"/>
                  </a:lnTo>
                  <a:lnTo>
                    <a:pt x="91440" y="4069435"/>
                  </a:lnTo>
                  <a:lnTo>
                    <a:pt x="45719" y="4057192"/>
                  </a:lnTo>
                  <a:lnTo>
                    <a:pt x="12230" y="4023715"/>
                  </a:lnTo>
                  <a:lnTo>
                    <a:pt x="0" y="397799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CC4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35960" y="868682"/>
              <a:ext cx="2743200" cy="567055"/>
            </a:xfrm>
            <a:custGeom>
              <a:avLst/>
              <a:gdLst/>
              <a:ahLst/>
              <a:cxnLst/>
              <a:rect l="l" t="t" r="r" b="b"/>
              <a:pathLst>
                <a:path w="2743200" h="567055">
                  <a:moveTo>
                    <a:pt x="2651404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75564"/>
                  </a:lnTo>
                  <a:lnTo>
                    <a:pt x="12242" y="521284"/>
                  </a:lnTo>
                  <a:lnTo>
                    <a:pt x="45720" y="554761"/>
                  </a:lnTo>
                  <a:lnTo>
                    <a:pt x="91440" y="567004"/>
                  </a:lnTo>
                  <a:lnTo>
                    <a:pt x="2651760" y="566635"/>
                  </a:lnTo>
                  <a:lnTo>
                    <a:pt x="2697480" y="554405"/>
                  </a:lnTo>
                  <a:lnTo>
                    <a:pt x="2730957" y="520915"/>
                  </a:lnTo>
                  <a:lnTo>
                    <a:pt x="2742328" y="487563"/>
                  </a:lnTo>
                  <a:lnTo>
                    <a:pt x="2742401" y="487202"/>
                  </a:lnTo>
                  <a:lnTo>
                    <a:pt x="2743175" y="475564"/>
                  </a:lnTo>
                  <a:lnTo>
                    <a:pt x="2743200" y="475195"/>
                  </a:lnTo>
                  <a:lnTo>
                    <a:pt x="2742844" y="91439"/>
                  </a:lnTo>
                  <a:lnTo>
                    <a:pt x="2730601" y="45719"/>
                  </a:lnTo>
                  <a:lnTo>
                    <a:pt x="2697124" y="12242"/>
                  </a:lnTo>
                  <a:lnTo>
                    <a:pt x="2663404" y="798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CC4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35960" y="868682"/>
              <a:ext cx="2743200" cy="567055"/>
            </a:xfrm>
            <a:custGeom>
              <a:avLst/>
              <a:gdLst/>
              <a:ahLst/>
              <a:cxnLst/>
              <a:rect l="l" t="t" r="r" b="b"/>
              <a:pathLst>
                <a:path w="2743200" h="567055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2651404" y="0"/>
                  </a:lnTo>
                  <a:lnTo>
                    <a:pt x="2697124" y="12242"/>
                  </a:lnTo>
                  <a:lnTo>
                    <a:pt x="2730601" y="45719"/>
                  </a:lnTo>
                  <a:lnTo>
                    <a:pt x="2742844" y="91439"/>
                  </a:lnTo>
                  <a:lnTo>
                    <a:pt x="2743200" y="475195"/>
                  </a:lnTo>
                  <a:lnTo>
                    <a:pt x="2742401" y="487202"/>
                  </a:lnTo>
                  <a:lnTo>
                    <a:pt x="2740050" y="498870"/>
                  </a:lnTo>
                  <a:lnTo>
                    <a:pt x="2716514" y="539956"/>
                  </a:lnTo>
                  <a:lnTo>
                    <a:pt x="2675429" y="563487"/>
                  </a:lnTo>
                  <a:lnTo>
                    <a:pt x="91440" y="567004"/>
                  </a:lnTo>
                  <a:lnTo>
                    <a:pt x="45720" y="554761"/>
                  </a:lnTo>
                  <a:lnTo>
                    <a:pt x="12242" y="521284"/>
                  </a:lnTo>
                  <a:lnTo>
                    <a:pt x="0" y="475564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CC4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35960" y="1152006"/>
              <a:ext cx="2743200" cy="283210"/>
            </a:xfrm>
            <a:custGeom>
              <a:avLst/>
              <a:gdLst/>
              <a:ahLst/>
              <a:cxnLst/>
              <a:rect l="l" t="t" r="r" b="b"/>
              <a:pathLst>
                <a:path w="2743200" h="283209">
                  <a:moveTo>
                    <a:pt x="2742844" y="0"/>
                  </a:moveTo>
                  <a:lnTo>
                    <a:pt x="0" y="0"/>
                  </a:lnTo>
                  <a:lnTo>
                    <a:pt x="0" y="282956"/>
                  </a:lnTo>
                  <a:lnTo>
                    <a:pt x="1371600" y="282956"/>
                  </a:lnTo>
                  <a:lnTo>
                    <a:pt x="2742844" y="2829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CC4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35960" y="1152006"/>
              <a:ext cx="2743200" cy="283210"/>
            </a:xfrm>
            <a:custGeom>
              <a:avLst/>
              <a:gdLst/>
              <a:ahLst/>
              <a:cxnLst/>
              <a:rect l="l" t="t" r="r" b="b"/>
              <a:pathLst>
                <a:path w="2743200" h="283209">
                  <a:moveTo>
                    <a:pt x="1371600" y="282956"/>
                  </a:moveTo>
                  <a:lnTo>
                    <a:pt x="0" y="282956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282956"/>
                  </a:lnTo>
                  <a:lnTo>
                    <a:pt x="1371600" y="282956"/>
                  </a:lnTo>
                  <a:close/>
                </a:path>
              </a:pathLst>
            </a:custGeom>
            <a:ln w="12599">
              <a:solidFill>
                <a:srgbClr val="CC4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84498" y="1045625"/>
            <a:ext cx="164465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455" dirty="0">
                <a:solidFill>
                  <a:srgbClr val="FFFFFF"/>
                </a:solidFill>
                <a:latin typeface="MingLiU_HKSCS-ExtB"/>
                <a:cs typeface="MingLiU_HKSCS-ExtB"/>
              </a:rPr>
              <a:t>⚠️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PROBLEMA</a:t>
            </a:r>
            <a:r>
              <a:rPr sz="9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9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JUSTIFICACIÓN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50780" y="1568426"/>
            <a:ext cx="2272665" cy="824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Sin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 segmentación, cualquier 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VM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comprometida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da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acceso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total</a:t>
            </a:r>
            <a:r>
              <a:rPr sz="10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a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la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BD.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Sin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monitoreo,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los</a:t>
            </a:r>
            <a:r>
              <a:rPr sz="10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ataques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pasan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desapercibidos.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Sin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TLS,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las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credenciales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viajan</a:t>
            </a:r>
            <a:r>
              <a:rPr sz="10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texto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plano.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934964" y="787313"/>
            <a:ext cx="2959735" cy="4284980"/>
            <a:chOff x="5934964" y="787313"/>
            <a:chExt cx="2959735" cy="428498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4964" y="787313"/>
              <a:ext cx="2959201" cy="428472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015964" y="868326"/>
              <a:ext cx="2743835" cy="4069715"/>
            </a:xfrm>
            <a:custGeom>
              <a:avLst/>
              <a:gdLst/>
              <a:ahLst/>
              <a:cxnLst/>
              <a:rect l="l" t="t" r="r" b="b"/>
              <a:pathLst>
                <a:path w="2743834" h="406971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3977995"/>
                  </a:lnTo>
                  <a:lnTo>
                    <a:pt x="798" y="3990000"/>
                  </a:lnTo>
                  <a:lnTo>
                    <a:pt x="18830" y="4033759"/>
                  </a:lnTo>
                  <a:lnTo>
                    <a:pt x="56505" y="4062449"/>
                  </a:lnTo>
                  <a:lnTo>
                    <a:pt x="91440" y="4069435"/>
                  </a:lnTo>
                  <a:lnTo>
                    <a:pt x="2652115" y="4069435"/>
                  </a:lnTo>
                  <a:lnTo>
                    <a:pt x="2697835" y="4057192"/>
                  </a:lnTo>
                  <a:lnTo>
                    <a:pt x="2731312" y="4023715"/>
                  </a:lnTo>
                  <a:lnTo>
                    <a:pt x="2743555" y="3977995"/>
                  </a:lnTo>
                  <a:lnTo>
                    <a:pt x="2743531" y="91439"/>
                  </a:lnTo>
                  <a:lnTo>
                    <a:pt x="2731312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15964" y="868326"/>
              <a:ext cx="2743835" cy="4069715"/>
            </a:xfrm>
            <a:custGeom>
              <a:avLst/>
              <a:gdLst/>
              <a:ahLst/>
              <a:cxnLst/>
              <a:rect l="l" t="t" r="r" b="b"/>
              <a:pathLst>
                <a:path w="2743834" h="406971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12" y="46075"/>
                  </a:lnTo>
                  <a:lnTo>
                    <a:pt x="2743555" y="91795"/>
                  </a:lnTo>
                  <a:lnTo>
                    <a:pt x="2743555" y="3977995"/>
                  </a:lnTo>
                  <a:lnTo>
                    <a:pt x="2742757" y="3990000"/>
                  </a:lnTo>
                  <a:lnTo>
                    <a:pt x="2740406" y="4001665"/>
                  </a:lnTo>
                  <a:lnTo>
                    <a:pt x="2716869" y="4042754"/>
                  </a:lnTo>
                  <a:lnTo>
                    <a:pt x="2675785" y="4066286"/>
                  </a:lnTo>
                  <a:lnTo>
                    <a:pt x="2652115" y="4069435"/>
                  </a:lnTo>
                  <a:lnTo>
                    <a:pt x="91440" y="4069435"/>
                  </a:lnTo>
                  <a:lnTo>
                    <a:pt x="45720" y="4057192"/>
                  </a:lnTo>
                  <a:lnTo>
                    <a:pt x="12230" y="4023715"/>
                  </a:lnTo>
                  <a:lnTo>
                    <a:pt x="0" y="397799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0066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16320" y="868682"/>
              <a:ext cx="2743200" cy="567055"/>
            </a:xfrm>
            <a:custGeom>
              <a:avLst/>
              <a:gdLst/>
              <a:ahLst/>
              <a:cxnLst/>
              <a:rect l="l" t="t" r="r" b="b"/>
              <a:pathLst>
                <a:path w="2743200" h="567055">
                  <a:moveTo>
                    <a:pt x="2651404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75564"/>
                  </a:lnTo>
                  <a:lnTo>
                    <a:pt x="774" y="487202"/>
                  </a:lnTo>
                  <a:lnTo>
                    <a:pt x="798" y="487563"/>
                  </a:lnTo>
                  <a:lnTo>
                    <a:pt x="3077" y="498870"/>
                  </a:lnTo>
                  <a:lnTo>
                    <a:pt x="3149" y="499229"/>
                  </a:lnTo>
                  <a:lnTo>
                    <a:pt x="6863" y="510130"/>
                  </a:lnTo>
                  <a:lnTo>
                    <a:pt x="35676" y="548160"/>
                  </a:lnTo>
                  <a:lnTo>
                    <a:pt x="79433" y="566205"/>
                  </a:lnTo>
                  <a:lnTo>
                    <a:pt x="91439" y="567004"/>
                  </a:lnTo>
                  <a:lnTo>
                    <a:pt x="2651759" y="566635"/>
                  </a:lnTo>
                  <a:lnTo>
                    <a:pt x="2697479" y="554405"/>
                  </a:lnTo>
                  <a:lnTo>
                    <a:pt x="2730957" y="520915"/>
                  </a:lnTo>
                  <a:lnTo>
                    <a:pt x="2742328" y="487563"/>
                  </a:lnTo>
                  <a:lnTo>
                    <a:pt x="2742401" y="487202"/>
                  </a:lnTo>
                  <a:lnTo>
                    <a:pt x="2743175" y="475564"/>
                  </a:lnTo>
                  <a:lnTo>
                    <a:pt x="2743200" y="475195"/>
                  </a:lnTo>
                  <a:lnTo>
                    <a:pt x="2742844" y="91439"/>
                  </a:lnTo>
                  <a:lnTo>
                    <a:pt x="2730601" y="45719"/>
                  </a:lnTo>
                  <a:lnTo>
                    <a:pt x="2697124" y="12242"/>
                  </a:lnTo>
                  <a:lnTo>
                    <a:pt x="2663404" y="798"/>
                  </a:lnTo>
                  <a:lnTo>
                    <a:pt x="2651404" y="0"/>
                  </a:lnTo>
                  <a:close/>
                </a:path>
              </a:pathLst>
            </a:custGeom>
            <a:solidFill>
              <a:srgbClr val="0066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16320" y="868682"/>
              <a:ext cx="2743200" cy="567055"/>
            </a:xfrm>
            <a:custGeom>
              <a:avLst/>
              <a:gdLst/>
              <a:ahLst/>
              <a:cxnLst/>
              <a:rect l="l" t="t" r="r" b="b"/>
              <a:pathLst>
                <a:path w="2743200" h="567055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2651404" y="0"/>
                  </a:lnTo>
                  <a:lnTo>
                    <a:pt x="2697124" y="12242"/>
                  </a:lnTo>
                  <a:lnTo>
                    <a:pt x="2730601" y="45719"/>
                  </a:lnTo>
                  <a:lnTo>
                    <a:pt x="2742844" y="91439"/>
                  </a:lnTo>
                  <a:lnTo>
                    <a:pt x="2743200" y="475195"/>
                  </a:lnTo>
                  <a:lnTo>
                    <a:pt x="2742401" y="487202"/>
                  </a:lnTo>
                  <a:lnTo>
                    <a:pt x="2740050" y="498870"/>
                  </a:lnTo>
                  <a:lnTo>
                    <a:pt x="2716514" y="539956"/>
                  </a:lnTo>
                  <a:lnTo>
                    <a:pt x="2675429" y="563487"/>
                  </a:lnTo>
                  <a:lnTo>
                    <a:pt x="91439" y="567004"/>
                  </a:lnTo>
                  <a:lnTo>
                    <a:pt x="45720" y="554761"/>
                  </a:lnTo>
                  <a:lnTo>
                    <a:pt x="12242" y="521284"/>
                  </a:lnTo>
                  <a:lnTo>
                    <a:pt x="0" y="475564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066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16320" y="1152006"/>
              <a:ext cx="2743200" cy="283210"/>
            </a:xfrm>
            <a:custGeom>
              <a:avLst/>
              <a:gdLst/>
              <a:ahLst/>
              <a:cxnLst/>
              <a:rect l="l" t="t" r="r" b="b"/>
              <a:pathLst>
                <a:path w="2743200" h="283209">
                  <a:moveTo>
                    <a:pt x="2742844" y="0"/>
                  </a:moveTo>
                  <a:lnTo>
                    <a:pt x="0" y="0"/>
                  </a:lnTo>
                  <a:lnTo>
                    <a:pt x="0" y="282956"/>
                  </a:lnTo>
                  <a:lnTo>
                    <a:pt x="1371600" y="282956"/>
                  </a:lnTo>
                  <a:lnTo>
                    <a:pt x="2742844" y="282956"/>
                  </a:lnTo>
                  <a:lnTo>
                    <a:pt x="2742844" y="0"/>
                  </a:lnTo>
                  <a:close/>
                </a:path>
              </a:pathLst>
            </a:custGeom>
            <a:solidFill>
              <a:srgbClr val="0066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16320" y="1152006"/>
              <a:ext cx="2743200" cy="283210"/>
            </a:xfrm>
            <a:custGeom>
              <a:avLst/>
              <a:gdLst/>
              <a:ahLst/>
              <a:cxnLst/>
              <a:rect l="l" t="t" r="r" b="b"/>
              <a:pathLst>
                <a:path w="2743200" h="283209">
                  <a:moveTo>
                    <a:pt x="1371600" y="282956"/>
                  </a:moveTo>
                  <a:lnTo>
                    <a:pt x="0" y="282956"/>
                  </a:lnTo>
                  <a:lnTo>
                    <a:pt x="0" y="0"/>
                  </a:lnTo>
                  <a:lnTo>
                    <a:pt x="2742844" y="0"/>
                  </a:lnTo>
                  <a:lnTo>
                    <a:pt x="2742844" y="282956"/>
                  </a:lnTo>
                  <a:lnTo>
                    <a:pt x="1371600" y="282956"/>
                  </a:lnTo>
                  <a:close/>
                </a:path>
              </a:pathLst>
            </a:custGeom>
            <a:ln w="12599">
              <a:solidFill>
                <a:srgbClr val="0066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704545" y="1045625"/>
            <a:ext cx="13671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FFFFFF"/>
                </a:solidFill>
                <a:latin typeface="MingLiU_HKSCS-ExtB"/>
                <a:cs typeface="MingLiU_HKSCS-ExtB"/>
              </a:rPr>
              <a:t>✅</a:t>
            </a:r>
            <a:r>
              <a:rPr sz="1100" spc="-245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SOLUCIÓN</a:t>
            </a:r>
            <a:r>
              <a:rPr sz="95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PROPUESTA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31140" y="1568426"/>
            <a:ext cx="2275205" cy="824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Portal</a:t>
            </a:r>
            <a:r>
              <a:rPr sz="1050" spc="-4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bancario</a:t>
            </a:r>
            <a:r>
              <a:rPr sz="10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JWT</a:t>
            </a:r>
            <a:r>
              <a:rPr sz="1050" spc="-4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+</a:t>
            </a:r>
            <a:r>
              <a:rPr sz="10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HTTPS,</a:t>
            </a:r>
            <a:r>
              <a:rPr sz="10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DNS</a:t>
            </a:r>
            <a:r>
              <a:rPr sz="10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interno BIND9,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hardening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SSH,</a:t>
            </a:r>
            <a:r>
              <a:rPr sz="10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Fail2ban,</a:t>
            </a:r>
            <a:r>
              <a:rPr sz="10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logs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centralizados</a:t>
            </a:r>
            <a:r>
              <a:rPr sz="10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rsyslog, backups</a:t>
            </a:r>
            <a:r>
              <a:rPr sz="10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cifrados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GPG,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todo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segmentado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FFF"/>
                </a:solidFill>
                <a:latin typeface="Calibri"/>
                <a:cs typeface="Calibri"/>
              </a:rPr>
              <a:t>por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zonas</a:t>
            </a:r>
            <a:r>
              <a:rPr sz="10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E7EFFF"/>
                </a:solidFill>
                <a:latin typeface="Calibri"/>
                <a:cs typeface="Calibri"/>
              </a:rPr>
              <a:t>de </a:t>
            </a:r>
            <a:r>
              <a:rPr sz="1050" spc="-10" dirty="0">
                <a:solidFill>
                  <a:srgbClr val="E7EFFF"/>
                </a:solidFill>
                <a:latin typeface="Calibri"/>
                <a:cs typeface="Calibri"/>
              </a:rPr>
              <a:t>seguridad.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723228"/>
            <a:ext cx="2491105" cy="4426585"/>
            <a:chOff x="-6350" y="723228"/>
            <a:chExt cx="2491105" cy="4426585"/>
          </a:xfrm>
        </p:grpSpPr>
        <p:sp>
          <p:nvSpPr>
            <p:cNvPr id="3" name="object 3"/>
            <p:cNvSpPr/>
            <p:nvPr/>
          </p:nvSpPr>
          <p:spPr>
            <a:xfrm>
              <a:off x="0" y="3200046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456844" y="0"/>
                  </a:moveTo>
                  <a:lnTo>
                    <a:pt x="408776" y="1259"/>
                  </a:lnTo>
                  <a:lnTo>
                    <a:pt x="360977" y="5021"/>
                  </a:lnTo>
                  <a:lnTo>
                    <a:pt x="313541" y="11263"/>
                  </a:lnTo>
                  <a:lnTo>
                    <a:pt x="266563" y="19961"/>
                  </a:lnTo>
                  <a:lnTo>
                    <a:pt x="220138" y="31091"/>
                  </a:lnTo>
                  <a:lnTo>
                    <a:pt x="174362" y="44629"/>
                  </a:lnTo>
                  <a:lnTo>
                    <a:pt x="129329" y="60551"/>
                  </a:lnTo>
                  <a:lnTo>
                    <a:pt x="85135" y="78835"/>
                  </a:lnTo>
                  <a:lnTo>
                    <a:pt x="41875" y="99455"/>
                  </a:lnTo>
                  <a:lnTo>
                    <a:pt x="0" y="122196"/>
                  </a:lnTo>
                  <a:lnTo>
                    <a:pt x="0" y="1706590"/>
                  </a:lnTo>
                  <a:lnTo>
                    <a:pt x="41875" y="1729331"/>
                  </a:lnTo>
                  <a:lnTo>
                    <a:pt x="85135" y="1749953"/>
                  </a:lnTo>
                  <a:lnTo>
                    <a:pt x="129329" y="1768238"/>
                  </a:lnTo>
                  <a:lnTo>
                    <a:pt x="174362" y="1784162"/>
                  </a:lnTo>
                  <a:lnTo>
                    <a:pt x="220138" y="1797702"/>
                  </a:lnTo>
                  <a:lnTo>
                    <a:pt x="266563" y="1808833"/>
                  </a:lnTo>
                  <a:lnTo>
                    <a:pt x="313541" y="1817533"/>
                  </a:lnTo>
                  <a:lnTo>
                    <a:pt x="360977" y="1823776"/>
                  </a:lnTo>
                  <a:lnTo>
                    <a:pt x="408776" y="1827540"/>
                  </a:lnTo>
                  <a:lnTo>
                    <a:pt x="456844" y="1828800"/>
                  </a:lnTo>
                  <a:lnTo>
                    <a:pt x="504908" y="1827540"/>
                  </a:lnTo>
                  <a:lnTo>
                    <a:pt x="552705" y="1823776"/>
                  </a:lnTo>
                  <a:lnTo>
                    <a:pt x="600139" y="1817533"/>
                  </a:lnTo>
                  <a:lnTo>
                    <a:pt x="647116" y="1808833"/>
                  </a:lnTo>
                  <a:lnTo>
                    <a:pt x="693540" y="1797702"/>
                  </a:lnTo>
                  <a:lnTo>
                    <a:pt x="739317" y="1784162"/>
                  </a:lnTo>
                  <a:lnTo>
                    <a:pt x="784350" y="1768238"/>
                  </a:lnTo>
                  <a:lnTo>
                    <a:pt x="828546" y="1749953"/>
                  </a:lnTo>
                  <a:lnTo>
                    <a:pt x="871809" y="1729331"/>
                  </a:lnTo>
                  <a:lnTo>
                    <a:pt x="914044" y="1706397"/>
                  </a:lnTo>
                  <a:lnTo>
                    <a:pt x="955016" y="1681267"/>
                  </a:lnTo>
                  <a:lnTo>
                    <a:pt x="994513" y="1654091"/>
                  </a:lnTo>
                  <a:lnTo>
                    <a:pt x="1032465" y="1624940"/>
                  </a:lnTo>
                  <a:lnTo>
                    <a:pt x="1068800" y="1593886"/>
                  </a:lnTo>
                  <a:lnTo>
                    <a:pt x="1103445" y="1561001"/>
                  </a:lnTo>
                  <a:lnTo>
                    <a:pt x="1136331" y="1526355"/>
                  </a:lnTo>
                  <a:lnTo>
                    <a:pt x="1167385" y="1490021"/>
                  </a:lnTo>
                  <a:lnTo>
                    <a:pt x="1196535" y="1452069"/>
                  </a:lnTo>
                  <a:lnTo>
                    <a:pt x="1223711" y="1412571"/>
                  </a:lnTo>
                  <a:lnTo>
                    <a:pt x="1248841" y="1371600"/>
                  </a:lnTo>
                  <a:lnTo>
                    <a:pt x="1271776" y="1329365"/>
                  </a:lnTo>
                  <a:lnTo>
                    <a:pt x="1292397" y="1286102"/>
                  </a:lnTo>
                  <a:lnTo>
                    <a:pt x="1310682" y="1241906"/>
                  </a:lnTo>
                  <a:lnTo>
                    <a:pt x="1326607" y="1196872"/>
                  </a:lnTo>
                  <a:lnTo>
                    <a:pt x="1340146" y="1151096"/>
                  </a:lnTo>
                  <a:lnTo>
                    <a:pt x="1351278" y="1104672"/>
                  </a:lnTo>
                  <a:lnTo>
                    <a:pt x="1359977" y="1057695"/>
                  </a:lnTo>
                  <a:lnTo>
                    <a:pt x="1366221" y="1010260"/>
                  </a:lnTo>
                  <a:lnTo>
                    <a:pt x="1369984" y="962464"/>
                  </a:lnTo>
                  <a:lnTo>
                    <a:pt x="1371244" y="914400"/>
                  </a:lnTo>
                  <a:lnTo>
                    <a:pt x="1369984" y="866332"/>
                  </a:lnTo>
                  <a:lnTo>
                    <a:pt x="1366221" y="818533"/>
                  </a:lnTo>
                  <a:lnTo>
                    <a:pt x="1359977" y="771096"/>
                  </a:lnTo>
                  <a:lnTo>
                    <a:pt x="1351278" y="724118"/>
                  </a:lnTo>
                  <a:lnTo>
                    <a:pt x="1340146" y="677694"/>
                  </a:lnTo>
                  <a:lnTo>
                    <a:pt x="1326607" y="631918"/>
                  </a:lnTo>
                  <a:lnTo>
                    <a:pt x="1310682" y="586885"/>
                  </a:lnTo>
                  <a:lnTo>
                    <a:pt x="1292397" y="542691"/>
                  </a:lnTo>
                  <a:lnTo>
                    <a:pt x="1271776" y="499431"/>
                  </a:lnTo>
                  <a:lnTo>
                    <a:pt x="1248841" y="457200"/>
                  </a:lnTo>
                  <a:lnTo>
                    <a:pt x="1223711" y="416225"/>
                  </a:lnTo>
                  <a:lnTo>
                    <a:pt x="1196535" y="376725"/>
                  </a:lnTo>
                  <a:lnTo>
                    <a:pt x="1167385" y="338772"/>
                  </a:lnTo>
                  <a:lnTo>
                    <a:pt x="1136331" y="302438"/>
                  </a:lnTo>
                  <a:lnTo>
                    <a:pt x="1103445" y="267792"/>
                  </a:lnTo>
                  <a:lnTo>
                    <a:pt x="1068800" y="234906"/>
                  </a:lnTo>
                  <a:lnTo>
                    <a:pt x="1032465" y="203852"/>
                  </a:lnTo>
                  <a:lnTo>
                    <a:pt x="994513" y="174700"/>
                  </a:lnTo>
                  <a:lnTo>
                    <a:pt x="955016" y="147522"/>
                  </a:lnTo>
                  <a:lnTo>
                    <a:pt x="914044" y="122389"/>
                  </a:lnTo>
                  <a:lnTo>
                    <a:pt x="871809" y="99455"/>
                  </a:lnTo>
                  <a:lnTo>
                    <a:pt x="828546" y="78835"/>
                  </a:lnTo>
                  <a:lnTo>
                    <a:pt x="784350" y="60551"/>
                  </a:lnTo>
                  <a:lnTo>
                    <a:pt x="739317" y="44629"/>
                  </a:lnTo>
                  <a:lnTo>
                    <a:pt x="693540" y="31091"/>
                  </a:lnTo>
                  <a:lnTo>
                    <a:pt x="647116" y="19961"/>
                  </a:lnTo>
                  <a:lnTo>
                    <a:pt x="600139" y="11263"/>
                  </a:lnTo>
                  <a:lnTo>
                    <a:pt x="552705" y="5021"/>
                  </a:lnTo>
                  <a:lnTo>
                    <a:pt x="504908" y="1259"/>
                  </a:lnTo>
                  <a:lnTo>
                    <a:pt x="456844" y="0"/>
                  </a:lnTo>
                  <a:close/>
                </a:path>
              </a:pathLst>
            </a:custGeom>
            <a:solidFill>
              <a:srgbClr val="0C1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200046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0" y="122196"/>
                  </a:moveTo>
                  <a:lnTo>
                    <a:pt x="41875" y="99455"/>
                  </a:lnTo>
                  <a:lnTo>
                    <a:pt x="85135" y="78835"/>
                  </a:lnTo>
                  <a:lnTo>
                    <a:pt x="129329" y="60551"/>
                  </a:lnTo>
                  <a:lnTo>
                    <a:pt x="174362" y="44629"/>
                  </a:lnTo>
                  <a:lnTo>
                    <a:pt x="220138" y="31091"/>
                  </a:lnTo>
                  <a:lnTo>
                    <a:pt x="266563" y="19961"/>
                  </a:lnTo>
                  <a:lnTo>
                    <a:pt x="313541" y="11263"/>
                  </a:lnTo>
                  <a:lnTo>
                    <a:pt x="360977" y="5021"/>
                  </a:lnTo>
                  <a:lnTo>
                    <a:pt x="408776" y="1259"/>
                  </a:lnTo>
                  <a:lnTo>
                    <a:pt x="456844" y="0"/>
                  </a:lnTo>
                  <a:lnTo>
                    <a:pt x="504908" y="1259"/>
                  </a:lnTo>
                  <a:lnTo>
                    <a:pt x="552705" y="5021"/>
                  </a:lnTo>
                  <a:lnTo>
                    <a:pt x="600139" y="11263"/>
                  </a:lnTo>
                  <a:lnTo>
                    <a:pt x="647116" y="19961"/>
                  </a:lnTo>
                  <a:lnTo>
                    <a:pt x="693540" y="31091"/>
                  </a:lnTo>
                  <a:lnTo>
                    <a:pt x="739317" y="44629"/>
                  </a:lnTo>
                  <a:lnTo>
                    <a:pt x="784350" y="60551"/>
                  </a:lnTo>
                  <a:lnTo>
                    <a:pt x="828546" y="78835"/>
                  </a:lnTo>
                  <a:lnTo>
                    <a:pt x="871809" y="99455"/>
                  </a:lnTo>
                  <a:lnTo>
                    <a:pt x="914044" y="122389"/>
                  </a:lnTo>
                  <a:lnTo>
                    <a:pt x="955016" y="147522"/>
                  </a:lnTo>
                  <a:lnTo>
                    <a:pt x="994513" y="174700"/>
                  </a:lnTo>
                  <a:lnTo>
                    <a:pt x="1032465" y="203852"/>
                  </a:lnTo>
                  <a:lnTo>
                    <a:pt x="1068800" y="234906"/>
                  </a:lnTo>
                  <a:lnTo>
                    <a:pt x="1103445" y="267792"/>
                  </a:lnTo>
                  <a:lnTo>
                    <a:pt x="1136331" y="302438"/>
                  </a:lnTo>
                  <a:lnTo>
                    <a:pt x="1167385" y="338772"/>
                  </a:lnTo>
                  <a:lnTo>
                    <a:pt x="1196535" y="376725"/>
                  </a:lnTo>
                  <a:lnTo>
                    <a:pt x="1223711" y="416225"/>
                  </a:lnTo>
                  <a:lnTo>
                    <a:pt x="1248841" y="457200"/>
                  </a:lnTo>
                  <a:lnTo>
                    <a:pt x="1271776" y="499431"/>
                  </a:lnTo>
                  <a:lnTo>
                    <a:pt x="1292397" y="542691"/>
                  </a:lnTo>
                  <a:lnTo>
                    <a:pt x="1310682" y="586885"/>
                  </a:lnTo>
                  <a:lnTo>
                    <a:pt x="1326607" y="631918"/>
                  </a:lnTo>
                  <a:lnTo>
                    <a:pt x="1340146" y="677694"/>
                  </a:lnTo>
                  <a:lnTo>
                    <a:pt x="1351278" y="724118"/>
                  </a:lnTo>
                  <a:lnTo>
                    <a:pt x="1359977" y="771096"/>
                  </a:lnTo>
                  <a:lnTo>
                    <a:pt x="1366221" y="818533"/>
                  </a:lnTo>
                  <a:lnTo>
                    <a:pt x="1369984" y="866332"/>
                  </a:lnTo>
                  <a:lnTo>
                    <a:pt x="1371244" y="914400"/>
                  </a:lnTo>
                  <a:lnTo>
                    <a:pt x="1369984" y="962464"/>
                  </a:lnTo>
                  <a:lnTo>
                    <a:pt x="1366221" y="1010260"/>
                  </a:lnTo>
                  <a:lnTo>
                    <a:pt x="1359977" y="1057695"/>
                  </a:lnTo>
                  <a:lnTo>
                    <a:pt x="1351278" y="1104672"/>
                  </a:lnTo>
                  <a:lnTo>
                    <a:pt x="1340146" y="1151096"/>
                  </a:lnTo>
                  <a:lnTo>
                    <a:pt x="1326607" y="1196872"/>
                  </a:lnTo>
                  <a:lnTo>
                    <a:pt x="1310682" y="1241906"/>
                  </a:lnTo>
                  <a:lnTo>
                    <a:pt x="1292397" y="1286102"/>
                  </a:lnTo>
                  <a:lnTo>
                    <a:pt x="1271776" y="1329365"/>
                  </a:lnTo>
                  <a:lnTo>
                    <a:pt x="1248841" y="1371600"/>
                  </a:lnTo>
                  <a:lnTo>
                    <a:pt x="1223711" y="1412571"/>
                  </a:lnTo>
                  <a:lnTo>
                    <a:pt x="1196535" y="1452069"/>
                  </a:lnTo>
                  <a:lnTo>
                    <a:pt x="1167385" y="1490021"/>
                  </a:lnTo>
                  <a:lnTo>
                    <a:pt x="1136331" y="1526355"/>
                  </a:lnTo>
                  <a:lnTo>
                    <a:pt x="1103445" y="1561001"/>
                  </a:lnTo>
                  <a:lnTo>
                    <a:pt x="1068800" y="1593886"/>
                  </a:lnTo>
                  <a:lnTo>
                    <a:pt x="1032465" y="1624940"/>
                  </a:lnTo>
                  <a:lnTo>
                    <a:pt x="994513" y="1654091"/>
                  </a:lnTo>
                  <a:lnTo>
                    <a:pt x="955016" y="1681267"/>
                  </a:lnTo>
                  <a:lnTo>
                    <a:pt x="914044" y="1706397"/>
                  </a:lnTo>
                  <a:lnTo>
                    <a:pt x="871809" y="1729331"/>
                  </a:lnTo>
                  <a:lnTo>
                    <a:pt x="828546" y="1749953"/>
                  </a:lnTo>
                  <a:lnTo>
                    <a:pt x="784350" y="1768238"/>
                  </a:lnTo>
                  <a:lnTo>
                    <a:pt x="739317" y="1784162"/>
                  </a:lnTo>
                  <a:lnTo>
                    <a:pt x="693540" y="1797702"/>
                  </a:lnTo>
                  <a:lnTo>
                    <a:pt x="647116" y="1808833"/>
                  </a:lnTo>
                  <a:lnTo>
                    <a:pt x="600139" y="1817533"/>
                  </a:lnTo>
                  <a:lnTo>
                    <a:pt x="552705" y="1823776"/>
                  </a:lnTo>
                  <a:lnTo>
                    <a:pt x="504908" y="1827540"/>
                  </a:lnTo>
                  <a:lnTo>
                    <a:pt x="456844" y="1828800"/>
                  </a:lnTo>
                  <a:lnTo>
                    <a:pt x="408776" y="1827540"/>
                  </a:lnTo>
                  <a:lnTo>
                    <a:pt x="360977" y="1823776"/>
                  </a:lnTo>
                  <a:lnTo>
                    <a:pt x="313541" y="1817533"/>
                  </a:lnTo>
                  <a:lnTo>
                    <a:pt x="266563" y="1808833"/>
                  </a:lnTo>
                  <a:lnTo>
                    <a:pt x="220138" y="1797702"/>
                  </a:lnTo>
                  <a:lnTo>
                    <a:pt x="174362" y="1784162"/>
                  </a:lnTo>
                  <a:lnTo>
                    <a:pt x="129329" y="1768238"/>
                  </a:lnTo>
                  <a:lnTo>
                    <a:pt x="85135" y="1749953"/>
                  </a:lnTo>
                  <a:lnTo>
                    <a:pt x="41875" y="1729331"/>
                  </a:lnTo>
                  <a:lnTo>
                    <a:pt x="0" y="1706590"/>
                  </a:lnTo>
                </a:path>
              </a:pathLst>
            </a:custGeom>
            <a:ln w="12599">
              <a:solidFill>
                <a:srgbClr val="0C1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723228"/>
              <a:ext cx="2364841" cy="44200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0875" y="804242"/>
              <a:ext cx="2149475" cy="4339590"/>
            </a:xfrm>
            <a:custGeom>
              <a:avLst/>
              <a:gdLst/>
              <a:ahLst/>
              <a:cxnLst/>
              <a:rect l="l" t="t" r="r" b="b"/>
              <a:pathLst>
                <a:path w="2149475" h="433959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252315"/>
                  </a:lnTo>
                  <a:lnTo>
                    <a:pt x="798" y="4264322"/>
                  </a:lnTo>
                  <a:lnTo>
                    <a:pt x="18843" y="4308079"/>
                  </a:lnTo>
                  <a:lnTo>
                    <a:pt x="56512" y="4336774"/>
                  </a:lnTo>
                  <a:lnTo>
                    <a:pt x="63292" y="4339082"/>
                  </a:lnTo>
                  <a:lnTo>
                    <a:pt x="2085915" y="4339082"/>
                  </a:lnTo>
                  <a:lnTo>
                    <a:pt x="2122517" y="4317076"/>
                  </a:lnTo>
                  <a:lnTo>
                    <a:pt x="2146058" y="4275989"/>
                  </a:lnTo>
                  <a:lnTo>
                    <a:pt x="2149208" y="4252315"/>
                  </a:lnTo>
                  <a:lnTo>
                    <a:pt x="2149208" y="91795"/>
                  </a:lnTo>
                  <a:lnTo>
                    <a:pt x="2136965" y="46075"/>
                  </a:lnTo>
                  <a:lnTo>
                    <a:pt x="2103488" y="12598"/>
                  </a:lnTo>
                  <a:lnTo>
                    <a:pt x="205776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0875" y="804242"/>
              <a:ext cx="2149475" cy="4339590"/>
            </a:xfrm>
            <a:custGeom>
              <a:avLst/>
              <a:gdLst/>
              <a:ahLst/>
              <a:cxnLst/>
              <a:rect l="l" t="t" r="r" b="b"/>
              <a:pathLst>
                <a:path w="2149475" h="4339590">
                  <a:moveTo>
                    <a:pt x="63292" y="4339082"/>
                  </a:moveTo>
                  <a:lnTo>
                    <a:pt x="26690" y="4317076"/>
                  </a:lnTo>
                  <a:lnTo>
                    <a:pt x="3149" y="4275989"/>
                  </a:lnTo>
                  <a:lnTo>
                    <a:pt x="0" y="4252315"/>
                  </a:lnTo>
                  <a:lnTo>
                    <a:pt x="368" y="91439"/>
                  </a:lnTo>
                  <a:lnTo>
                    <a:pt x="12598" y="45719"/>
                  </a:lnTo>
                  <a:lnTo>
                    <a:pt x="46088" y="12242"/>
                  </a:lnTo>
                  <a:lnTo>
                    <a:pt x="91808" y="0"/>
                  </a:lnTo>
                  <a:lnTo>
                    <a:pt x="2057768" y="355"/>
                  </a:lnTo>
                  <a:lnTo>
                    <a:pt x="2103488" y="12598"/>
                  </a:lnTo>
                  <a:lnTo>
                    <a:pt x="2136965" y="46075"/>
                  </a:lnTo>
                  <a:lnTo>
                    <a:pt x="2149208" y="91795"/>
                  </a:lnTo>
                  <a:lnTo>
                    <a:pt x="2149208" y="4252315"/>
                  </a:lnTo>
                  <a:lnTo>
                    <a:pt x="2136965" y="4298035"/>
                  </a:lnTo>
                  <a:lnTo>
                    <a:pt x="2103488" y="4331525"/>
                  </a:lnTo>
                  <a:lnTo>
                    <a:pt x="2085915" y="4339082"/>
                  </a:lnTo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1244" y="804597"/>
              <a:ext cx="2148840" cy="502920"/>
            </a:xfrm>
            <a:custGeom>
              <a:avLst/>
              <a:gdLst/>
              <a:ahLst/>
              <a:cxnLst/>
              <a:rect l="l" t="t" r="r" b="b"/>
              <a:pathLst>
                <a:path w="2148840" h="502919">
                  <a:moveTo>
                    <a:pt x="205703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40"/>
                  </a:lnTo>
                  <a:lnTo>
                    <a:pt x="0" y="411480"/>
                  </a:lnTo>
                  <a:lnTo>
                    <a:pt x="774" y="423129"/>
                  </a:lnTo>
                  <a:lnTo>
                    <a:pt x="798" y="423486"/>
                  </a:lnTo>
                  <a:lnTo>
                    <a:pt x="3075" y="434794"/>
                  </a:lnTo>
                  <a:lnTo>
                    <a:pt x="3148" y="435154"/>
                  </a:lnTo>
                  <a:lnTo>
                    <a:pt x="6858" y="446053"/>
                  </a:lnTo>
                  <a:lnTo>
                    <a:pt x="35675" y="484089"/>
                  </a:lnTo>
                  <a:lnTo>
                    <a:pt x="79433" y="502121"/>
                  </a:lnTo>
                  <a:lnTo>
                    <a:pt x="91439" y="502920"/>
                  </a:lnTo>
                  <a:lnTo>
                    <a:pt x="2057400" y="502564"/>
                  </a:lnTo>
                  <a:lnTo>
                    <a:pt x="2103120" y="490321"/>
                  </a:lnTo>
                  <a:lnTo>
                    <a:pt x="2136597" y="456844"/>
                  </a:lnTo>
                  <a:lnTo>
                    <a:pt x="2148816" y="411480"/>
                  </a:lnTo>
                  <a:lnTo>
                    <a:pt x="2148840" y="411124"/>
                  </a:lnTo>
                  <a:lnTo>
                    <a:pt x="2148471" y="91440"/>
                  </a:lnTo>
                  <a:lnTo>
                    <a:pt x="2136241" y="45720"/>
                  </a:lnTo>
                  <a:lnTo>
                    <a:pt x="2102751" y="12242"/>
                  </a:lnTo>
                  <a:lnTo>
                    <a:pt x="2069038" y="798"/>
                  </a:lnTo>
                  <a:lnTo>
                    <a:pt x="2057031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1244" y="804597"/>
              <a:ext cx="2148840" cy="502920"/>
            </a:xfrm>
            <a:custGeom>
              <a:avLst/>
              <a:gdLst/>
              <a:ahLst/>
              <a:cxnLst/>
              <a:rect l="l" t="t" r="r" b="b"/>
              <a:pathLst>
                <a:path w="2148840" h="502919">
                  <a:moveTo>
                    <a:pt x="0" y="91440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2057031" y="0"/>
                  </a:lnTo>
                  <a:lnTo>
                    <a:pt x="2102751" y="12242"/>
                  </a:lnTo>
                  <a:lnTo>
                    <a:pt x="2136241" y="45720"/>
                  </a:lnTo>
                  <a:lnTo>
                    <a:pt x="2148471" y="91440"/>
                  </a:lnTo>
                  <a:lnTo>
                    <a:pt x="2148840" y="411124"/>
                  </a:lnTo>
                  <a:lnTo>
                    <a:pt x="2148041" y="423129"/>
                  </a:lnTo>
                  <a:lnTo>
                    <a:pt x="2145690" y="434794"/>
                  </a:lnTo>
                  <a:lnTo>
                    <a:pt x="2122149" y="475878"/>
                  </a:lnTo>
                  <a:lnTo>
                    <a:pt x="2081064" y="499414"/>
                  </a:lnTo>
                  <a:lnTo>
                    <a:pt x="91439" y="502920"/>
                  </a:lnTo>
                  <a:lnTo>
                    <a:pt x="45720" y="490689"/>
                  </a:lnTo>
                  <a:lnTo>
                    <a:pt x="12230" y="457200"/>
                  </a:lnTo>
                  <a:lnTo>
                    <a:pt x="0" y="41148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1244" y="1051562"/>
              <a:ext cx="2148840" cy="255904"/>
            </a:xfrm>
            <a:custGeom>
              <a:avLst/>
              <a:gdLst/>
              <a:ahLst/>
              <a:cxnLst/>
              <a:rect l="l" t="t" r="r" b="b"/>
              <a:pathLst>
                <a:path w="2148840" h="255905">
                  <a:moveTo>
                    <a:pt x="2148471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074229" y="255600"/>
                  </a:lnTo>
                  <a:lnTo>
                    <a:pt x="2148471" y="255600"/>
                  </a:lnTo>
                  <a:lnTo>
                    <a:pt x="2148471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1244" y="1051562"/>
              <a:ext cx="2148840" cy="255904"/>
            </a:xfrm>
            <a:custGeom>
              <a:avLst/>
              <a:gdLst/>
              <a:ahLst/>
              <a:cxnLst/>
              <a:rect l="l" t="t" r="r" b="b"/>
              <a:pathLst>
                <a:path w="2148840" h="255905">
                  <a:moveTo>
                    <a:pt x="1074229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2148471" y="0"/>
                  </a:lnTo>
                  <a:lnTo>
                    <a:pt x="2148471" y="255600"/>
                  </a:lnTo>
                  <a:lnTo>
                    <a:pt x="1074229" y="25560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-1180" dirty="0">
                <a:solidFill>
                  <a:srgbClr val="000000"/>
                </a:solidFill>
                <a:latin typeface="MingLiU_HKSCS-ExtB"/>
                <a:cs typeface="MingLiU_HKSCS-ExtB"/>
              </a:rPr>
              <a:t>🛠️</a:t>
            </a:r>
            <a:r>
              <a:rPr sz="2800" b="0" spc="225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104" baseline="1322" dirty="0"/>
              <a:t>TECNOLOGÍAS</a:t>
            </a:r>
            <a:r>
              <a:rPr sz="3150" spc="300" baseline="1322" dirty="0"/>
              <a:t> </a:t>
            </a:r>
            <a:r>
              <a:rPr sz="3150" spc="82" baseline="1322" dirty="0"/>
              <a:t>EMPLEADAS</a:t>
            </a:r>
            <a:endParaRPr sz="3150" baseline="1322">
              <a:latin typeface="MingLiU_HKSCS-ExtB"/>
              <a:cs typeface="MingLiU_HKSCS-ExtB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0021" y="944824"/>
            <a:ext cx="99885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455" dirty="0">
                <a:solidFill>
                  <a:srgbClr val="FFFFFF"/>
                </a:solidFill>
                <a:latin typeface="MingLiU_HKSCS-ExtB"/>
                <a:cs typeface="MingLiU_HKSCS-ExtB"/>
              </a:rPr>
              <a:t>🖥️</a:t>
            </a:r>
            <a:r>
              <a:rPr sz="1100" spc="-25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Servidores</a:t>
            </a:r>
            <a:r>
              <a:rPr sz="95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9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5965" y="1382892"/>
            <a:ext cx="1979295" cy="1110615"/>
            <a:chOff x="285965" y="1382892"/>
            <a:chExt cx="1979295" cy="1110615"/>
          </a:xfrm>
        </p:grpSpPr>
        <p:sp>
          <p:nvSpPr>
            <p:cNvPr id="15" name="object 15"/>
            <p:cNvSpPr/>
            <p:nvPr/>
          </p:nvSpPr>
          <p:spPr>
            <a:xfrm>
              <a:off x="292315" y="13892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64439" y="0"/>
                  </a:moveTo>
                  <a:lnTo>
                    <a:pt x="25408" y="13357"/>
                  </a:lnTo>
                  <a:lnTo>
                    <a:pt x="2524" y="47520"/>
                  </a:lnTo>
                  <a:lnTo>
                    <a:pt x="0" y="1033564"/>
                  </a:lnTo>
                  <a:lnTo>
                    <a:pt x="540" y="1041906"/>
                  </a:lnTo>
                  <a:lnTo>
                    <a:pt x="18739" y="1078782"/>
                  </a:lnTo>
                  <a:lnTo>
                    <a:pt x="18859" y="1078920"/>
                  </a:lnTo>
                  <a:lnTo>
                    <a:pt x="55736" y="1097097"/>
                  </a:lnTo>
                  <a:lnTo>
                    <a:pt x="64084" y="1097635"/>
                  </a:lnTo>
                  <a:lnTo>
                    <a:pt x="1902244" y="1097635"/>
                  </a:lnTo>
                  <a:lnTo>
                    <a:pt x="1941281" y="1084277"/>
                  </a:lnTo>
                  <a:lnTo>
                    <a:pt x="1964166" y="1050116"/>
                  </a:lnTo>
                  <a:lnTo>
                    <a:pt x="1966328" y="1033564"/>
                  </a:lnTo>
                  <a:lnTo>
                    <a:pt x="1966305" y="64084"/>
                  </a:lnTo>
                  <a:lnTo>
                    <a:pt x="1952963" y="25402"/>
                  </a:lnTo>
                  <a:lnTo>
                    <a:pt x="1918803" y="2517"/>
                  </a:lnTo>
                  <a:lnTo>
                    <a:pt x="19022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9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2315" y="13892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902244" y="355"/>
                  </a:lnTo>
                  <a:lnTo>
                    <a:pt x="1941231" y="13570"/>
                  </a:lnTo>
                  <a:lnTo>
                    <a:pt x="1964166" y="47880"/>
                  </a:lnTo>
                  <a:lnTo>
                    <a:pt x="1966328" y="64439"/>
                  </a:lnTo>
                  <a:lnTo>
                    <a:pt x="1966328" y="1033564"/>
                  </a:lnTo>
                  <a:lnTo>
                    <a:pt x="1965787" y="1041906"/>
                  </a:lnTo>
                  <a:lnTo>
                    <a:pt x="1964166" y="1050116"/>
                  </a:lnTo>
                  <a:lnTo>
                    <a:pt x="1941281" y="1084277"/>
                  </a:lnTo>
                  <a:lnTo>
                    <a:pt x="1902244" y="1097635"/>
                  </a:lnTo>
                  <a:lnTo>
                    <a:pt x="64084" y="1097635"/>
                  </a:lnTo>
                  <a:lnTo>
                    <a:pt x="25097" y="1084433"/>
                  </a:lnTo>
                  <a:lnTo>
                    <a:pt x="2162" y="1050116"/>
                  </a:lnTo>
                  <a:lnTo>
                    <a:pt x="0" y="1033564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17016" y="1408286"/>
            <a:ext cx="111506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🐧</a:t>
            </a:r>
            <a:endParaRPr sz="23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850" b="1" dirty="0">
                <a:solidFill>
                  <a:srgbClr val="499DFF"/>
                </a:solidFill>
                <a:latin typeface="Calibri"/>
                <a:cs typeface="Calibri"/>
              </a:rPr>
              <a:t>Ubuntu</a:t>
            </a:r>
            <a:r>
              <a:rPr sz="850" b="1" spc="-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499DFF"/>
                </a:solidFill>
                <a:latin typeface="Calibri"/>
                <a:cs typeface="Calibri"/>
              </a:rPr>
              <a:t>Server</a:t>
            </a:r>
            <a:r>
              <a:rPr sz="850" b="1" spc="-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499DFF"/>
                </a:solidFill>
                <a:latin typeface="Calibri"/>
                <a:cs typeface="Calibri"/>
              </a:rPr>
              <a:t>24.04</a:t>
            </a:r>
            <a:r>
              <a:rPr sz="850" b="1" spc="-1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850" b="1" spc="-25" dirty="0">
                <a:solidFill>
                  <a:srgbClr val="499DFF"/>
                </a:solidFill>
                <a:latin typeface="Calibri"/>
                <a:cs typeface="Calibri"/>
              </a:rPr>
              <a:t>LTS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5256" y="2131100"/>
            <a:ext cx="17303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995" marR="5080" indent="-32893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8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VMs en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datacenter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 USFX.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OS base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de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8799A9"/>
                </a:solidFill>
                <a:latin typeface="Calibri"/>
                <a:cs typeface="Calibri"/>
              </a:rPr>
              <a:t>toda</a:t>
            </a:r>
            <a:r>
              <a:rPr sz="750" spc="50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la</a:t>
            </a:r>
            <a:r>
              <a:rPr sz="750" spc="3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infraestructura</a:t>
            </a:r>
            <a:r>
              <a:rPr sz="750" spc="3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bancaria.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85965" y="2589976"/>
            <a:ext cx="1979295" cy="1110615"/>
            <a:chOff x="285965" y="2589976"/>
            <a:chExt cx="1979295" cy="1110615"/>
          </a:xfrm>
        </p:grpSpPr>
        <p:sp>
          <p:nvSpPr>
            <p:cNvPr id="20" name="object 20"/>
            <p:cNvSpPr/>
            <p:nvPr/>
          </p:nvSpPr>
          <p:spPr>
            <a:xfrm>
              <a:off x="292315" y="2596326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1033551"/>
                  </a:lnTo>
                  <a:lnTo>
                    <a:pt x="540" y="1041901"/>
                  </a:lnTo>
                  <a:lnTo>
                    <a:pt x="18743" y="1078782"/>
                  </a:lnTo>
                  <a:lnTo>
                    <a:pt x="18859" y="1078915"/>
                  </a:lnTo>
                  <a:lnTo>
                    <a:pt x="55736" y="1097095"/>
                  </a:lnTo>
                  <a:lnTo>
                    <a:pt x="64084" y="1097635"/>
                  </a:lnTo>
                  <a:lnTo>
                    <a:pt x="1902244" y="1097635"/>
                  </a:lnTo>
                  <a:lnTo>
                    <a:pt x="1941281" y="1084277"/>
                  </a:lnTo>
                  <a:lnTo>
                    <a:pt x="1964166" y="1050115"/>
                  </a:lnTo>
                  <a:lnTo>
                    <a:pt x="1966328" y="1033551"/>
                  </a:lnTo>
                  <a:lnTo>
                    <a:pt x="1966304" y="64071"/>
                  </a:lnTo>
                  <a:lnTo>
                    <a:pt x="1952963" y="25397"/>
                  </a:lnTo>
                  <a:lnTo>
                    <a:pt x="1918803" y="2516"/>
                  </a:lnTo>
                  <a:lnTo>
                    <a:pt x="19022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9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2315" y="2596326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902244" y="355"/>
                  </a:lnTo>
                  <a:lnTo>
                    <a:pt x="1941231" y="13563"/>
                  </a:lnTo>
                  <a:lnTo>
                    <a:pt x="1964166" y="47875"/>
                  </a:lnTo>
                  <a:lnTo>
                    <a:pt x="1966328" y="64439"/>
                  </a:lnTo>
                  <a:lnTo>
                    <a:pt x="1966328" y="1033551"/>
                  </a:lnTo>
                  <a:lnTo>
                    <a:pt x="1965787" y="1041901"/>
                  </a:lnTo>
                  <a:lnTo>
                    <a:pt x="1964166" y="1050115"/>
                  </a:lnTo>
                  <a:lnTo>
                    <a:pt x="1941281" y="1084277"/>
                  </a:lnTo>
                  <a:lnTo>
                    <a:pt x="1902244" y="1097635"/>
                  </a:lnTo>
                  <a:lnTo>
                    <a:pt x="64084" y="1097635"/>
                  </a:lnTo>
                  <a:lnTo>
                    <a:pt x="25097" y="1084427"/>
                  </a:lnTo>
                  <a:lnTo>
                    <a:pt x="2162" y="1050115"/>
                  </a:lnTo>
                  <a:lnTo>
                    <a:pt x="0" y="1033551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3216" y="2615370"/>
            <a:ext cx="126492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" algn="ctr">
              <a:lnSpc>
                <a:spcPct val="100000"/>
              </a:lnSpc>
              <a:spcBef>
                <a:spcPts val="105"/>
              </a:spcBef>
            </a:pPr>
            <a:r>
              <a:rPr sz="2350" spc="-1015" dirty="0">
                <a:latin typeface="MingLiU_HKSCS-ExtB"/>
                <a:cs typeface="MingLiU_HKSCS-ExtB"/>
              </a:rPr>
              <a:t>☁️</a:t>
            </a:r>
            <a:endParaRPr sz="23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499DFF"/>
                </a:solidFill>
                <a:latin typeface="Calibri"/>
                <a:cs typeface="Calibri"/>
              </a:rPr>
              <a:t>Proxmox</a:t>
            </a:r>
            <a:r>
              <a:rPr sz="850" b="1" spc="-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499DFF"/>
                </a:solidFill>
                <a:latin typeface="Calibri"/>
                <a:cs typeface="Calibri"/>
              </a:rPr>
              <a:t>/</a:t>
            </a:r>
            <a:r>
              <a:rPr sz="850" b="1" spc="1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499DFF"/>
                </a:solidFill>
                <a:latin typeface="Calibri"/>
                <a:cs typeface="Calibri"/>
              </a:rPr>
              <a:t>Datacenter</a:t>
            </a:r>
            <a:r>
              <a:rPr sz="850" b="1" spc="1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499DFF"/>
                </a:solidFill>
                <a:latin typeface="Calibri"/>
                <a:cs typeface="Calibri"/>
              </a:rPr>
              <a:t>USFX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5897" y="3338184"/>
            <a:ext cx="17481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Hipervisor</a:t>
            </a:r>
            <a:r>
              <a:rPr sz="7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donde</a:t>
            </a:r>
            <a:r>
              <a:rPr sz="7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corren</a:t>
            </a:r>
            <a:r>
              <a:rPr sz="7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las</a:t>
            </a:r>
            <a:r>
              <a:rPr sz="7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VMs.</a:t>
            </a:r>
            <a:r>
              <a:rPr sz="7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Acceso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8799A9"/>
                </a:solidFill>
                <a:latin typeface="Calibri"/>
                <a:cs typeface="Calibri"/>
              </a:rPr>
              <a:t>vía</a:t>
            </a:r>
            <a:r>
              <a:rPr sz="750" spc="50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proxy</a:t>
            </a:r>
            <a:r>
              <a:rPr sz="750" spc="-3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SSH</a:t>
            </a:r>
            <a:r>
              <a:rPr sz="750" spc="-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201.131.45.42.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341803" y="723228"/>
            <a:ext cx="2365375" cy="4426585"/>
            <a:chOff x="2341803" y="723228"/>
            <a:chExt cx="2365375" cy="442658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1803" y="723228"/>
              <a:ext cx="2364841" cy="442009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422804" y="804242"/>
              <a:ext cx="2149475" cy="4339590"/>
            </a:xfrm>
            <a:custGeom>
              <a:avLst/>
              <a:gdLst/>
              <a:ahLst/>
              <a:cxnLst/>
              <a:rect l="l" t="t" r="r" b="b"/>
              <a:pathLst>
                <a:path w="2149475" h="4339590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4252315"/>
                  </a:lnTo>
                  <a:lnTo>
                    <a:pt x="798" y="4264322"/>
                  </a:lnTo>
                  <a:lnTo>
                    <a:pt x="18830" y="4308079"/>
                  </a:lnTo>
                  <a:lnTo>
                    <a:pt x="56505" y="4336774"/>
                  </a:lnTo>
                  <a:lnTo>
                    <a:pt x="63284" y="4339082"/>
                  </a:lnTo>
                  <a:lnTo>
                    <a:pt x="2085906" y="4339082"/>
                  </a:lnTo>
                  <a:lnTo>
                    <a:pt x="2122514" y="4317076"/>
                  </a:lnTo>
                  <a:lnTo>
                    <a:pt x="2146046" y="4275989"/>
                  </a:lnTo>
                  <a:lnTo>
                    <a:pt x="2149195" y="4252315"/>
                  </a:lnTo>
                  <a:lnTo>
                    <a:pt x="2149195" y="91795"/>
                  </a:lnTo>
                  <a:lnTo>
                    <a:pt x="2136952" y="46075"/>
                  </a:lnTo>
                  <a:lnTo>
                    <a:pt x="2103475" y="12598"/>
                  </a:lnTo>
                  <a:lnTo>
                    <a:pt x="20577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22804" y="804242"/>
              <a:ext cx="2149475" cy="4339590"/>
            </a:xfrm>
            <a:custGeom>
              <a:avLst/>
              <a:gdLst/>
              <a:ahLst/>
              <a:cxnLst/>
              <a:rect l="l" t="t" r="r" b="b"/>
              <a:pathLst>
                <a:path w="2149475" h="4339590">
                  <a:moveTo>
                    <a:pt x="63284" y="4339082"/>
                  </a:moveTo>
                  <a:lnTo>
                    <a:pt x="26679" y="4317076"/>
                  </a:lnTo>
                  <a:lnTo>
                    <a:pt x="3148" y="4275989"/>
                  </a:lnTo>
                  <a:lnTo>
                    <a:pt x="0" y="4252315"/>
                  </a:lnTo>
                  <a:lnTo>
                    <a:pt x="355" y="91439"/>
                  </a:lnTo>
                  <a:lnTo>
                    <a:pt x="12598" y="45719"/>
                  </a:lnTo>
                  <a:lnTo>
                    <a:pt x="46075" y="12242"/>
                  </a:lnTo>
                  <a:lnTo>
                    <a:pt x="91795" y="0"/>
                  </a:lnTo>
                  <a:lnTo>
                    <a:pt x="2057755" y="355"/>
                  </a:lnTo>
                  <a:lnTo>
                    <a:pt x="2103475" y="12598"/>
                  </a:lnTo>
                  <a:lnTo>
                    <a:pt x="2136952" y="46075"/>
                  </a:lnTo>
                  <a:lnTo>
                    <a:pt x="2149195" y="91795"/>
                  </a:lnTo>
                  <a:lnTo>
                    <a:pt x="2149195" y="4252315"/>
                  </a:lnTo>
                  <a:lnTo>
                    <a:pt x="2136952" y="4298035"/>
                  </a:lnTo>
                  <a:lnTo>
                    <a:pt x="2103475" y="4331525"/>
                  </a:lnTo>
                  <a:lnTo>
                    <a:pt x="2085906" y="4339082"/>
                  </a:lnTo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23159" y="804597"/>
              <a:ext cx="2148840" cy="502920"/>
            </a:xfrm>
            <a:custGeom>
              <a:avLst/>
              <a:gdLst/>
              <a:ahLst/>
              <a:cxnLst/>
              <a:rect l="l" t="t" r="r" b="b"/>
              <a:pathLst>
                <a:path w="2148840" h="502919">
                  <a:moveTo>
                    <a:pt x="205704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40"/>
                  </a:lnTo>
                  <a:lnTo>
                    <a:pt x="0" y="411480"/>
                  </a:lnTo>
                  <a:lnTo>
                    <a:pt x="774" y="423129"/>
                  </a:lnTo>
                  <a:lnTo>
                    <a:pt x="798" y="423486"/>
                  </a:lnTo>
                  <a:lnTo>
                    <a:pt x="18836" y="467244"/>
                  </a:lnTo>
                  <a:lnTo>
                    <a:pt x="56510" y="495938"/>
                  </a:lnTo>
                  <a:lnTo>
                    <a:pt x="91439" y="502920"/>
                  </a:lnTo>
                  <a:lnTo>
                    <a:pt x="2057400" y="502564"/>
                  </a:lnTo>
                  <a:lnTo>
                    <a:pt x="2103119" y="490321"/>
                  </a:lnTo>
                  <a:lnTo>
                    <a:pt x="2136597" y="456844"/>
                  </a:lnTo>
                  <a:lnTo>
                    <a:pt x="2148816" y="411480"/>
                  </a:lnTo>
                  <a:lnTo>
                    <a:pt x="2148840" y="411124"/>
                  </a:lnTo>
                  <a:lnTo>
                    <a:pt x="2148484" y="91440"/>
                  </a:lnTo>
                  <a:lnTo>
                    <a:pt x="2136241" y="45720"/>
                  </a:lnTo>
                  <a:lnTo>
                    <a:pt x="2102764" y="12242"/>
                  </a:lnTo>
                  <a:lnTo>
                    <a:pt x="2069044" y="798"/>
                  </a:lnTo>
                  <a:lnTo>
                    <a:pt x="2057044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23159" y="804597"/>
              <a:ext cx="2148840" cy="502920"/>
            </a:xfrm>
            <a:custGeom>
              <a:avLst/>
              <a:gdLst/>
              <a:ahLst/>
              <a:cxnLst/>
              <a:rect l="l" t="t" r="r" b="b"/>
              <a:pathLst>
                <a:path w="2148840" h="502919">
                  <a:moveTo>
                    <a:pt x="0" y="91440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2057044" y="0"/>
                  </a:lnTo>
                  <a:lnTo>
                    <a:pt x="2102764" y="12242"/>
                  </a:lnTo>
                  <a:lnTo>
                    <a:pt x="2136241" y="45720"/>
                  </a:lnTo>
                  <a:lnTo>
                    <a:pt x="2148484" y="91440"/>
                  </a:lnTo>
                  <a:lnTo>
                    <a:pt x="2148840" y="411124"/>
                  </a:lnTo>
                  <a:lnTo>
                    <a:pt x="2148041" y="423129"/>
                  </a:lnTo>
                  <a:lnTo>
                    <a:pt x="2145690" y="434794"/>
                  </a:lnTo>
                  <a:lnTo>
                    <a:pt x="2122158" y="475878"/>
                  </a:lnTo>
                  <a:lnTo>
                    <a:pt x="2081069" y="499414"/>
                  </a:lnTo>
                  <a:lnTo>
                    <a:pt x="91439" y="502920"/>
                  </a:lnTo>
                  <a:lnTo>
                    <a:pt x="45719" y="490689"/>
                  </a:lnTo>
                  <a:lnTo>
                    <a:pt x="12242" y="457200"/>
                  </a:lnTo>
                  <a:lnTo>
                    <a:pt x="0" y="41148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23159" y="1051562"/>
              <a:ext cx="2148840" cy="255904"/>
            </a:xfrm>
            <a:custGeom>
              <a:avLst/>
              <a:gdLst/>
              <a:ahLst/>
              <a:cxnLst/>
              <a:rect l="l" t="t" r="r" b="b"/>
              <a:pathLst>
                <a:path w="2148840" h="255905">
                  <a:moveTo>
                    <a:pt x="2148484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074242" y="255600"/>
                  </a:lnTo>
                  <a:lnTo>
                    <a:pt x="2148484" y="255600"/>
                  </a:lnTo>
                  <a:lnTo>
                    <a:pt x="2148484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23159" y="1051562"/>
              <a:ext cx="2148840" cy="255904"/>
            </a:xfrm>
            <a:custGeom>
              <a:avLst/>
              <a:gdLst/>
              <a:ahLst/>
              <a:cxnLst/>
              <a:rect l="l" t="t" r="r" b="b"/>
              <a:pathLst>
                <a:path w="2148840" h="255905">
                  <a:moveTo>
                    <a:pt x="1074242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2148484" y="0"/>
                  </a:lnTo>
                  <a:lnTo>
                    <a:pt x="2148484" y="255600"/>
                  </a:lnTo>
                  <a:lnTo>
                    <a:pt x="1074242" y="255600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916618" y="944824"/>
            <a:ext cx="116840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FFFFFF"/>
                </a:solidFill>
                <a:latin typeface="MingLiU_HKSCS-ExtB"/>
                <a:cs typeface="MingLiU_HKSCS-ExtB"/>
              </a:rPr>
              <a:t>⚡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Capa</a:t>
            </a:r>
            <a:r>
              <a:rPr sz="95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Aplicación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507894" y="1382892"/>
            <a:ext cx="1979295" cy="1110615"/>
            <a:chOff x="2507894" y="1382892"/>
            <a:chExt cx="1979295" cy="1110615"/>
          </a:xfrm>
        </p:grpSpPr>
        <p:sp>
          <p:nvSpPr>
            <p:cNvPr id="34" name="object 34"/>
            <p:cNvSpPr/>
            <p:nvPr/>
          </p:nvSpPr>
          <p:spPr>
            <a:xfrm>
              <a:off x="2514244" y="13892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1033564"/>
                  </a:lnTo>
                  <a:lnTo>
                    <a:pt x="538" y="1041906"/>
                  </a:lnTo>
                  <a:lnTo>
                    <a:pt x="18731" y="1078782"/>
                  </a:lnTo>
                  <a:lnTo>
                    <a:pt x="55728" y="1097097"/>
                  </a:lnTo>
                  <a:lnTo>
                    <a:pt x="64071" y="1097635"/>
                  </a:lnTo>
                  <a:lnTo>
                    <a:pt x="1902231" y="1097635"/>
                  </a:lnTo>
                  <a:lnTo>
                    <a:pt x="1941273" y="1084277"/>
                  </a:lnTo>
                  <a:lnTo>
                    <a:pt x="1964155" y="1050116"/>
                  </a:lnTo>
                  <a:lnTo>
                    <a:pt x="1966315" y="1033564"/>
                  </a:lnTo>
                  <a:lnTo>
                    <a:pt x="1966292" y="64084"/>
                  </a:lnTo>
                  <a:lnTo>
                    <a:pt x="1952957" y="25402"/>
                  </a:lnTo>
                  <a:lnTo>
                    <a:pt x="191879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9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14244" y="13892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355" y="64084"/>
                  </a:moveTo>
                  <a:lnTo>
                    <a:pt x="895" y="55734"/>
                  </a:lnTo>
                  <a:lnTo>
                    <a:pt x="2516" y="47520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1902231" y="355"/>
                  </a:lnTo>
                  <a:lnTo>
                    <a:pt x="1941223" y="13570"/>
                  </a:lnTo>
                  <a:lnTo>
                    <a:pt x="1964155" y="47880"/>
                  </a:lnTo>
                  <a:lnTo>
                    <a:pt x="1966315" y="64439"/>
                  </a:lnTo>
                  <a:lnTo>
                    <a:pt x="1966315" y="1033564"/>
                  </a:lnTo>
                  <a:lnTo>
                    <a:pt x="1965775" y="1041906"/>
                  </a:lnTo>
                  <a:lnTo>
                    <a:pt x="1964155" y="1050116"/>
                  </a:lnTo>
                  <a:lnTo>
                    <a:pt x="1941273" y="1084277"/>
                  </a:lnTo>
                  <a:lnTo>
                    <a:pt x="1902231" y="1097635"/>
                  </a:lnTo>
                  <a:lnTo>
                    <a:pt x="64071" y="1097635"/>
                  </a:lnTo>
                  <a:lnTo>
                    <a:pt x="25086" y="1084433"/>
                  </a:lnTo>
                  <a:lnTo>
                    <a:pt x="2155" y="1050116"/>
                  </a:lnTo>
                  <a:lnTo>
                    <a:pt x="0" y="1033564"/>
                  </a:lnTo>
                  <a:lnTo>
                    <a:pt x="355" y="64084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248545" y="1408286"/>
            <a:ext cx="49784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" algn="ctr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🌐</a:t>
            </a:r>
            <a:endParaRPr sz="23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850" b="1" dirty="0">
                <a:solidFill>
                  <a:srgbClr val="FFD509"/>
                </a:solidFill>
                <a:latin typeface="Calibri"/>
                <a:cs typeface="Calibri"/>
              </a:rPr>
              <a:t>Nginx</a:t>
            </a:r>
            <a:r>
              <a:rPr sz="850" b="1" spc="-35" dirty="0">
                <a:solidFill>
                  <a:srgbClr val="FFD509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FFD509"/>
                </a:solidFill>
                <a:latin typeface="Calibri"/>
                <a:cs typeface="Calibri"/>
              </a:rPr>
              <a:t>1.24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62821" y="2131100"/>
            <a:ext cx="16592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0059" marR="5080" indent="-46799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Proxy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inverso,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TLS 1.2/1.3,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portal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 bancario</a:t>
            </a:r>
            <a:r>
              <a:rPr sz="750" spc="50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8799A9"/>
                </a:solidFill>
                <a:latin typeface="Calibri"/>
                <a:cs typeface="Calibri"/>
              </a:rPr>
              <a:t>SPA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en</a:t>
            </a:r>
            <a:r>
              <a:rPr sz="7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zona</a:t>
            </a:r>
            <a:r>
              <a:rPr sz="750" spc="-20" dirty="0">
                <a:solidFill>
                  <a:srgbClr val="8799A9"/>
                </a:solidFill>
                <a:latin typeface="Calibri"/>
                <a:cs typeface="Calibri"/>
              </a:rPr>
              <a:t> DMZ.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507894" y="2589976"/>
            <a:ext cx="1979295" cy="1110615"/>
            <a:chOff x="2507894" y="2589976"/>
            <a:chExt cx="1979295" cy="1110615"/>
          </a:xfrm>
        </p:grpSpPr>
        <p:sp>
          <p:nvSpPr>
            <p:cNvPr id="39" name="object 39"/>
            <p:cNvSpPr/>
            <p:nvPr/>
          </p:nvSpPr>
          <p:spPr>
            <a:xfrm>
              <a:off x="2514244" y="2596326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64439" y="0"/>
                  </a:moveTo>
                  <a:lnTo>
                    <a:pt x="25397" y="13357"/>
                  </a:lnTo>
                  <a:lnTo>
                    <a:pt x="2516" y="47517"/>
                  </a:lnTo>
                  <a:lnTo>
                    <a:pt x="0" y="1033551"/>
                  </a:lnTo>
                  <a:lnTo>
                    <a:pt x="538" y="1041901"/>
                  </a:lnTo>
                  <a:lnTo>
                    <a:pt x="18735" y="1078782"/>
                  </a:lnTo>
                  <a:lnTo>
                    <a:pt x="55728" y="1097095"/>
                  </a:lnTo>
                  <a:lnTo>
                    <a:pt x="64071" y="1097635"/>
                  </a:lnTo>
                  <a:lnTo>
                    <a:pt x="1902231" y="1097635"/>
                  </a:lnTo>
                  <a:lnTo>
                    <a:pt x="1941273" y="1084277"/>
                  </a:lnTo>
                  <a:lnTo>
                    <a:pt x="1964155" y="1050115"/>
                  </a:lnTo>
                  <a:lnTo>
                    <a:pt x="1966315" y="1033551"/>
                  </a:lnTo>
                  <a:lnTo>
                    <a:pt x="1966291" y="64071"/>
                  </a:lnTo>
                  <a:lnTo>
                    <a:pt x="1952957" y="25397"/>
                  </a:lnTo>
                  <a:lnTo>
                    <a:pt x="1918795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9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14244" y="2596326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355" y="64071"/>
                  </a:moveTo>
                  <a:lnTo>
                    <a:pt x="895" y="55728"/>
                  </a:lnTo>
                  <a:lnTo>
                    <a:pt x="2516" y="47517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1902231" y="355"/>
                  </a:lnTo>
                  <a:lnTo>
                    <a:pt x="1941223" y="13563"/>
                  </a:lnTo>
                  <a:lnTo>
                    <a:pt x="1964155" y="47875"/>
                  </a:lnTo>
                  <a:lnTo>
                    <a:pt x="1966315" y="64439"/>
                  </a:lnTo>
                  <a:lnTo>
                    <a:pt x="1966315" y="1033551"/>
                  </a:lnTo>
                  <a:lnTo>
                    <a:pt x="1965775" y="1041901"/>
                  </a:lnTo>
                  <a:lnTo>
                    <a:pt x="1964155" y="1050115"/>
                  </a:lnTo>
                  <a:lnTo>
                    <a:pt x="1941273" y="1084277"/>
                  </a:lnTo>
                  <a:lnTo>
                    <a:pt x="1902231" y="1097635"/>
                  </a:lnTo>
                  <a:lnTo>
                    <a:pt x="64071" y="1097635"/>
                  </a:lnTo>
                  <a:lnTo>
                    <a:pt x="25086" y="1084427"/>
                  </a:lnTo>
                  <a:lnTo>
                    <a:pt x="2155" y="1050115"/>
                  </a:lnTo>
                  <a:lnTo>
                    <a:pt x="0" y="1033551"/>
                  </a:lnTo>
                  <a:lnTo>
                    <a:pt x="355" y="64071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2942894" y="2615370"/>
            <a:ext cx="110744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⚡</a:t>
            </a:r>
            <a:endParaRPr sz="23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850" b="1" dirty="0">
                <a:solidFill>
                  <a:srgbClr val="FFD509"/>
                </a:solidFill>
                <a:latin typeface="Calibri"/>
                <a:cs typeface="Calibri"/>
              </a:rPr>
              <a:t>Node.js</a:t>
            </a:r>
            <a:r>
              <a:rPr sz="850" b="1" spc="-10" dirty="0">
                <a:solidFill>
                  <a:srgbClr val="FFD509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D509"/>
                </a:solidFill>
                <a:latin typeface="Calibri"/>
                <a:cs typeface="Calibri"/>
              </a:rPr>
              <a:t>20</a:t>
            </a:r>
            <a:r>
              <a:rPr sz="850" b="1" spc="-15" dirty="0">
                <a:solidFill>
                  <a:srgbClr val="FFD509"/>
                </a:solidFill>
                <a:latin typeface="Calibri"/>
                <a:cs typeface="Calibri"/>
              </a:rPr>
              <a:t> </a:t>
            </a:r>
            <a:r>
              <a:rPr sz="850" b="1" spc="-20" dirty="0">
                <a:solidFill>
                  <a:srgbClr val="FFD509"/>
                </a:solidFill>
                <a:latin typeface="Calibri"/>
                <a:cs typeface="Calibri"/>
              </a:rPr>
              <a:t>LTS</a:t>
            </a:r>
            <a:r>
              <a:rPr sz="850" b="1" spc="-5" dirty="0">
                <a:solidFill>
                  <a:srgbClr val="FFD509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FFD509"/>
                </a:solidFill>
                <a:latin typeface="Calibri"/>
                <a:cs typeface="Calibri"/>
              </a:rPr>
              <a:t>+</a:t>
            </a:r>
            <a:r>
              <a:rPr sz="850" b="1" spc="-15" dirty="0">
                <a:solidFill>
                  <a:srgbClr val="FFD509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FFD509"/>
                </a:solidFill>
                <a:latin typeface="Calibri"/>
                <a:cs typeface="Calibri"/>
              </a:rPr>
              <a:t>Express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80906" y="3338184"/>
            <a:ext cx="14224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86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API</a:t>
            </a:r>
            <a:r>
              <a:rPr sz="7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REST</a:t>
            </a:r>
            <a:r>
              <a:rPr sz="750" spc="-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bancaria</a:t>
            </a:r>
            <a:r>
              <a:rPr sz="7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con</a:t>
            </a:r>
            <a:r>
              <a:rPr sz="7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8799A9"/>
                </a:solidFill>
                <a:latin typeface="Calibri"/>
                <a:cs typeface="Calibri"/>
              </a:rPr>
              <a:t>JWT,</a:t>
            </a:r>
            <a:r>
              <a:rPr sz="750" spc="-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bcrypt,</a:t>
            </a:r>
            <a:r>
              <a:rPr sz="750" spc="50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endpoints: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login, cuentas,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transferir.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507894" y="3796692"/>
            <a:ext cx="1979295" cy="1110615"/>
            <a:chOff x="2507894" y="3796692"/>
            <a:chExt cx="1979295" cy="1110615"/>
          </a:xfrm>
        </p:grpSpPr>
        <p:sp>
          <p:nvSpPr>
            <p:cNvPr id="44" name="object 44"/>
            <p:cNvSpPr/>
            <p:nvPr/>
          </p:nvSpPr>
          <p:spPr>
            <a:xfrm>
              <a:off x="2514244" y="38030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1033564"/>
                  </a:lnTo>
                  <a:lnTo>
                    <a:pt x="538" y="1041906"/>
                  </a:lnTo>
                  <a:lnTo>
                    <a:pt x="18731" y="1078782"/>
                  </a:lnTo>
                  <a:lnTo>
                    <a:pt x="55728" y="1097097"/>
                  </a:lnTo>
                  <a:lnTo>
                    <a:pt x="64071" y="1097635"/>
                  </a:lnTo>
                  <a:lnTo>
                    <a:pt x="1902231" y="1097635"/>
                  </a:lnTo>
                  <a:lnTo>
                    <a:pt x="1941273" y="1084277"/>
                  </a:lnTo>
                  <a:lnTo>
                    <a:pt x="1964155" y="1050116"/>
                  </a:lnTo>
                  <a:lnTo>
                    <a:pt x="1966315" y="1033564"/>
                  </a:lnTo>
                  <a:lnTo>
                    <a:pt x="1966292" y="64084"/>
                  </a:lnTo>
                  <a:lnTo>
                    <a:pt x="1952957" y="25402"/>
                  </a:lnTo>
                  <a:lnTo>
                    <a:pt x="191879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9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514244" y="38030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355" y="64084"/>
                  </a:moveTo>
                  <a:lnTo>
                    <a:pt x="895" y="55734"/>
                  </a:lnTo>
                  <a:lnTo>
                    <a:pt x="2516" y="47520"/>
                  </a:lnTo>
                  <a:lnTo>
                    <a:pt x="25397" y="13357"/>
                  </a:lnTo>
                  <a:lnTo>
                    <a:pt x="64439" y="0"/>
                  </a:lnTo>
                  <a:lnTo>
                    <a:pt x="1902231" y="355"/>
                  </a:lnTo>
                  <a:lnTo>
                    <a:pt x="1941223" y="13570"/>
                  </a:lnTo>
                  <a:lnTo>
                    <a:pt x="1964155" y="47880"/>
                  </a:lnTo>
                  <a:lnTo>
                    <a:pt x="1966315" y="64439"/>
                  </a:lnTo>
                  <a:lnTo>
                    <a:pt x="1966315" y="1033564"/>
                  </a:lnTo>
                  <a:lnTo>
                    <a:pt x="1965775" y="1041906"/>
                  </a:lnTo>
                  <a:lnTo>
                    <a:pt x="1964155" y="1050116"/>
                  </a:lnTo>
                  <a:lnTo>
                    <a:pt x="1941273" y="1084277"/>
                  </a:lnTo>
                  <a:lnTo>
                    <a:pt x="1902231" y="1097635"/>
                  </a:lnTo>
                  <a:lnTo>
                    <a:pt x="64071" y="1097635"/>
                  </a:lnTo>
                  <a:lnTo>
                    <a:pt x="25086" y="1084433"/>
                  </a:lnTo>
                  <a:lnTo>
                    <a:pt x="2155" y="1050116"/>
                  </a:lnTo>
                  <a:lnTo>
                    <a:pt x="0" y="1033564"/>
                  </a:lnTo>
                  <a:lnTo>
                    <a:pt x="355" y="64084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201746" y="3822455"/>
            <a:ext cx="59055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🔍</a:t>
            </a:r>
            <a:endParaRPr sz="23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850" b="1" dirty="0">
                <a:solidFill>
                  <a:srgbClr val="FFD509"/>
                </a:solidFill>
                <a:latin typeface="Calibri"/>
                <a:cs typeface="Calibri"/>
              </a:rPr>
              <a:t>BIND9</a:t>
            </a:r>
            <a:r>
              <a:rPr sz="850" b="1" spc="-25" dirty="0">
                <a:solidFill>
                  <a:srgbClr val="FFD509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FFD509"/>
                </a:solidFill>
                <a:latin typeface="Calibri"/>
                <a:cs typeface="Calibri"/>
              </a:rPr>
              <a:t>(DNS)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36621" y="4545255"/>
            <a:ext cx="151130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Servidor</a:t>
            </a:r>
            <a:r>
              <a:rPr sz="750" spc="-3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DNS</a:t>
            </a:r>
            <a:r>
              <a:rPr sz="750" spc="-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interno</a:t>
            </a:r>
            <a:r>
              <a:rPr sz="750" spc="-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resolviendo</a:t>
            </a:r>
            <a:r>
              <a:rPr sz="750" spc="50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bancoseguro.local</a:t>
            </a:r>
            <a:r>
              <a:rPr sz="75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para</a:t>
            </a:r>
            <a:r>
              <a:rPr sz="75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todas</a:t>
            </a:r>
            <a:r>
              <a:rPr sz="750" spc="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las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8799A9"/>
                </a:solidFill>
                <a:latin typeface="Calibri"/>
                <a:cs typeface="Calibri"/>
              </a:rPr>
              <a:t>VMs.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563719" y="723228"/>
            <a:ext cx="2365375" cy="4426585"/>
            <a:chOff x="4563719" y="723228"/>
            <a:chExt cx="2365375" cy="4426585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63719" y="723228"/>
              <a:ext cx="2364841" cy="442009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644720" y="804242"/>
              <a:ext cx="2149475" cy="4339590"/>
            </a:xfrm>
            <a:custGeom>
              <a:avLst/>
              <a:gdLst/>
              <a:ahLst/>
              <a:cxnLst/>
              <a:rect l="l" t="t" r="r" b="b"/>
              <a:pathLst>
                <a:path w="2149475" h="4339590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4252315"/>
                  </a:lnTo>
                  <a:lnTo>
                    <a:pt x="798" y="4264322"/>
                  </a:lnTo>
                  <a:lnTo>
                    <a:pt x="18836" y="4308079"/>
                  </a:lnTo>
                  <a:lnTo>
                    <a:pt x="56505" y="4336774"/>
                  </a:lnTo>
                  <a:lnTo>
                    <a:pt x="63284" y="4339082"/>
                  </a:lnTo>
                  <a:lnTo>
                    <a:pt x="2085911" y="4339082"/>
                  </a:lnTo>
                  <a:lnTo>
                    <a:pt x="2122516" y="4317076"/>
                  </a:lnTo>
                  <a:lnTo>
                    <a:pt x="2146047" y="4275989"/>
                  </a:lnTo>
                  <a:lnTo>
                    <a:pt x="2149195" y="4252315"/>
                  </a:lnTo>
                  <a:lnTo>
                    <a:pt x="2149195" y="91795"/>
                  </a:lnTo>
                  <a:lnTo>
                    <a:pt x="2136965" y="46075"/>
                  </a:lnTo>
                  <a:lnTo>
                    <a:pt x="2103475" y="12598"/>
                  </a:lnTo>
                  <a:lnTo>
                    <a:pt x="20577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44720" y="804242"/>
              <a:ext cx="2149475" cy="4339590"/>
            </a:xfrm>
            <a:custGeom>
              <a:avLst/>
              <a:gdLst/>
              <a:ahLst/>
              <a:cxnLst/>
              <a:rect l="l" t="t" r="r" b="b"/>
              <a:pathLst>
                <a:path w="2149475" h="4339590">
                  <a:moveTo>
                    <a:pt x="63284" y="4339082"/>
                  </a:moveTo>
                  <a:lnTo>
                    <a:pt x="26681" y="4317076"/>
                  </a:lnTo>
                  <a:lnTo>
                    <a:pt x="3149" y="4275989"/>
                  </a:lnTo>
                  <a:lnTo>
                    <a:pt x="0" y="4252315"/>
                  </a:lnTo>
                  <a:lnTo>
                    <a:pt x="355" y="91439"/>
                  </a:lnTo>
                  <a:lnTo>
                    <a:pt x="12598" y="45719"/>
                  </a:lnTo>
                  <a:lnTo>
                    <a:pt x="46075" y="12242"/>
                  </a:lnTo>
                  <a:lnTo>
                    <a:pt x="91795" y="0"/>
                  </a:lnTo>
                  <a:lnTo>
                    <a:pt x="2057755" y="355"/>
                  </a:lnTo>
                  <a:lnTo>
                    <a:pt x="2103475" y="12598"/>
                  </a:lnTo>
                  <a:lnTo>
                    <a:pt x="2136965" y="46075"/>
                  </a:lnTo>
                  <a:lnTo>
                    <a:pt x="2149195" y="91795"/>
                  </a:lnTo>
                  <a:lnTo>
                    <a:pt x="2149195" y="4252315"/>
                  </a:lnTo>
                  <a:lnTo>
                    <a:pt x="2136965" y="4298035"/>
                  </a:lnTo>
                  <a:lnTo>
                    <a:pt x="2103475" y="4331525"/>
                  </a:lnTo>
                  <a:lnTo>
                    <a:pt x="2085911" y="4339082"/>
                  </a:lnTo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645075" y="804597"/>
              <a:ext cx="2148840" cy="502920"/>
            </a:xfrm>
            <a:custGeom>
              <a:avLst/>
              <a:gdLst/>
              <a:ahLst/>
              <a:cxnLst/>
              <a:rect l="l" t="t" r="r" b="b"/>
              <a:pathLst>
                <a:path w="2148840" h="502919">
                  <a:moveTo>
                    <a:pt x="205704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43"/>
                  </a:lnTo>
                  <a:lnTo>
                    <a:pt x="6986" y="56512"/>
                  </a:lnTo>
                  <a:lnTo>
                    <a:pt x="0" y="91440"/>
                  </a:lnTo>
                  <a:lnTo>
                    <a:pt x="0" y="411480"/>
                  </a:lnTo>
                  <a:lnTo>
                    <a:pt x="774" y="423129"/>
                  </a:lnTo>
                  <a:lnTo>
                    <a:pt x="798" y="423486"/>
                  </a:lnTo>
                  <a:lnTo>
                    <a:pt x="3076" y="434794"/>
                  </a:lnTo>
                  <a:lnTo>
                    <a:pt x="3149" y="435154"/>
                  </a:lnTo>
                  <a:lnTo>
                    <a:pt x="6863" y="446053"/>
                  </a:lnTo>
                  <a:lnTo>
                    <a:pt x="6986" y="446414"/>
                  </a:lnTo>
                  <a:lnTo>
                    <a:pt x="35683" y="484089"/>
                  </a:lnTo>
                  <a:lnTo>
                    <a:pt x="79440" y="502121"/>
                  </a:lnTo>
                  <a:lnTo>
                    <a:pt x="91439" y="502920"/>
                  </a:lnTo>
                  <a:lnTo>
                    <a:pt x="2057400" y="502564"/>
                  </a:lnTo>
                  <a:lnTo>
                    <a:pt x="2103120" y="490321"/>
                  </a:lnTo>
                  <a:lnTo>
                    <a:pt x="2136609" y="456844"/>
                  </a:lnTo>
                  <a:lnTo>
                    <a:pt x="2145569" y="435154"/>
                  </a:lnTo>
                  <a:lnTo>
                    <a:pt x="2145691" y="434794"/>
                  </a:lnTo>
                  <a:lnTo>
                    <a:pt x="2147969" y="423486"/>
                  </a:lnTo>
                  <a:lnTo>
                    <a:pt x="2148041" y="423129"/>
                  </a:lnTo>
                  <a:lnTo>
                    <a:pt x="2148816" y="411480"/>
                  </a:lnTo>
                  <a:lnTo>
                    <a:pt x="2148839" y="411124"/>
                  </a:lnTo>
                  <a:lnTo>
                    <a:pt x="2148484" y="91440"/>
                  </a:lnTo>
                  <a:lnTo>
                    <a:pt x="2136241" y="45720"/>
                  </a:lnTo>
                  <a:lnTo>
                    <a:pt x="2102764" y="12242"/>
                  </a:lnTo>
                  <a:lnTo>
                    <a:pt x="2069049" y="798"/>
                  </a:lnTo>
                  <a:lnTo>
                    <a:pt x="2057044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645075" y="804597"/>
              <a:ext cx="2148840" cy="502920"/>
            </a:xfrm>
            <a:custGeom>
              <a:avLst/>
              <a:gdLst/>
              <a:ahLst/>
              <a:cxnLst/>
              <a:rect l="l" t="t" r="r" b="b"/>
              <a:pathLst>
                <a:path w="2148840" h="502919">
                  <a:moveTo>
                    <a:pt x="0" y="91440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90" y="26690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2057044" y="0"/>
                  </a:lnTo>
                  <a:lnTo>
                    <a:pt x="2102764" y="12242"/>
                  </a:lnTo>
                  <a:lnTo>
                    <a:pt x="2136241" y="45720"/>
                  </a:lnTo>
                  <a:lnTo>
                    <a:pt x="2148484" y="91440"/>
                  </a:lnTo>
                  <a:lnTo>
                    <a:pt x="2148839" y="411124"/>
                  </a:lnTo>
                  <a:lnTo>
                    <a:pt x="2148041" y="423129"/>
                  </a:lnTo>
                  <a:lnTo>
                    <a:pt x="2145691" y="434794"/>
                  </a:lnTo>
                  <a:lnTo>
                    <a:pt x="2122160" y="475878"/>
                  </a:lnTo>
                  <a:lnTo>
                    <a:pt x="2081074" y="499414"/>
                  </a:lnTo>
                  <a:lnTo>
                    <a:pt x="91439" y="502920"/>
                  </a:lnTo>
                  <a:lnTo>
                    <a:pt x="45719" y="490689"/>
                  </a:lnTo>
                  <a:lnTo>
                    <a:pt x="12242" y="457200"/>
                  </a:lnTo>
                  <a:lnTo>
                    <a:pt x="0" y="41148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45075" y="1051562"/>
              <a:ext cx="2148840" cy="255904"/>
            </a:xfrm>
            <a:custGeom>
              <a:avLst/>
              <a:gdLst/>
              <a:ahLst/>
              <a:cxnLst/>
              <a:rect l="l" t="t" r="r" b="b"/>
              <a:pathLst>
                <a:path w="2148840" h="255905">
                  <a:moveTo>
                    <a:pt x="2148484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074242" y="255600"/>
                  </a:lnTo>
                  <a:lnTo>
                    <a:pt x="2148484" y="255600"/>
                  </a:lnTo>
                  <a:lnTo>
                    <a:pt x="2148484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45075" y="1051562"/>
              <a:ext cx="2148840" cy="255904"/>
            </a:xfrm>
            <a:custGeom>
              <a:avLst/>
              <a:gdLst/>
              <a:ahLst/>
              <a:cxnLst/>
              <a:rect l="l" t="t" r="r" b="b"/>
              <a:pathLst>
                <a:path w="2148840" h="255905">
                  <a:moveTo>
                    <a:pt x="1074242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2148484" y="0"/>
                  </a:lnTo>
                  <a:lnTo>
                    <a:pt x="2148484" y="255600"/>
                  </a:lnTo>
                  <a:lnTo>
                    <a:pt x="1074242" y="255600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258053" y="944824"/>
            <a:ext cx="92900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455" dirty="0">
                <a:solidFill>
                  <a:srgbClr val="FFFFFF"/>
                </a:solidFill>
                <a:latin typeface="MingLiU_HKSCS-ExtB"/>
                <a:cs typeface="MingLiU_HKSCS-ExtB"/>
              </a:rPr>
              <a:t>🗄️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r>
              <a:rPr sz="9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Datos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729810" y="1382892"/>
            <a:ext cx="1979295" cy="1110615"/>
            <a:chOff x="4729810" y="1382892"/>
            <a:chExt cx="1979295" cy="1110615"/>
          </a:xfrm>
        </p:grpSpPr>
        <p:sp>
          <p:nvSpPr>
            <p:cNvPr id="58" name="object 58"/>
            <p:cNvSpPr/>
            <p:nvPr/>
          </p:nvSpPr>
          <p:spPr>
            <a:xfrm>
              <a:off x="4736160" y="13892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1033564"/>
                  </a:lnTo>
                  <a:lnTo>
                    <a:pt x="540" y="1041906"/>
                  </a:lnTo>
                  <a:lnTo>
                    <a:pt x="18733" y="1078782"/>
                  </a:lnTo>
                  <a:lnTo>
                    <a:pt x="55734" y="1097097"/>
                  </a:lnTo>
                  <a:lnTo>
                    <a:pt x="64084" y="1097635"/>
                  </a:lnTo>
                  <a:lnTo>
                    <a:pt x="1902244" y="1097635"/>
                  </a:lnTo>
                  <a:lnTo>
                    <a:pt x="1941275" y="1084277"/>
                  </a:lnTo>
                  <a:lnTo>
                    <a:pt x="1964159" y="1050116"/>
                  </a:lnTo>
                  <a:lnTo>
                    <a:pt x="1966315" y="1033564"/>
                  </a:lnTo>
                  <a:lnTo>
                    <a:pt x="1966292" y="64084"/>
                  </a:lnTo>
                  <a:lnTo>
                    <a:pt x="1952957" y="25402"/>
                  </a:lnTo>
                  <a:lnTo>
                    <a:pt x="1918796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9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736160" y="13892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355" y="64084"/>
                  </a:moveTo>
                  <a:lnTo>
                    <a:pt x="896" y="55734"/>
                  </a:lnTo>
                  <a:lnTo>
                    <a:pt x="2517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1902244" y="355"/>
                  </a:lnTo>
                  <a:lnTo>
                    <a:pt x="1941223" y="13570"/>
                  </a:lnTo>
                  <a:lnTo>
                    <a:pt x="1964159" y="47880"/>
                  </a:lnTo>
                  <a:lnTo>
                    <a:pt x="1966315" y="64439"/>
                  </a:lnTo>
                  <a:lnTo>
                    <a:pt x="1966315" y="1033564"/>
                  </a:lnTo>
                  <a:lnTo>
                    <a:pt x="1965777" y="1041906"/>
                  </a:lnTo>
                  <a:lnTo>
                    <a:pt x="1964159" y="1050116"/>
                  </a:lnTo>
                  <a:lnTo>
                    <a:pt x="1941275" y="1084277"/>
                  </a:lnTo>
                  <a:lnTo>
                    <a:pt x="1902244" y="1097635"/>
                  </a:lnTo>
                  <a:lnTo>
                    <a:pt x="64084" y="1097635"/>
                  </a:lnTo>
                  <a:lnTo>
                    <a:pt x="25091" y="1084433"/>
                  </a:lnTo>
                  <a:lnTo>
                    <a:pt x="2160" y="1050116"/>
                  </a:lnTo>
                  <a:lnTo>
                    <a:pt x="0" y="1033564"/>
                  </a:lnTo>
                  <a:lnTo>
                    <a:pt x="355" y="64084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5509336" y="1408286"/>
            <a:ext cx="419734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2350" spc="-1015" dirty="0">
                <a:latin typeface="MingLiU_HKSCS-ExtB"/>
                <a:cs typeface="MingLiU_HKSCS-ExtB"/>
              </a:rPr>
              <a:t>🗄️</a:t>
            </a:r>
            <a:endParaRPr sz="235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FF3A2F"/>
                </a:solidFill>
                <a:latin typeface="Calibri"/>
                <a:cs typeface="Calibri"/>
              </a:rPr>
              <a:t>MariaDB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842979" y="2131100"/>
            <a:ext cx="17437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marR="5080" indent="-39179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BD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relacional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 con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4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tablas: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clientes,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cuentas,</a:t>
            </a:r>
            <a:r>
              <a:rPr sz="750" spc="50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transacciones,</a:t>
            </a:r>
            <a:r>
              <a:rPr sz="750" spc="8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sesiones.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729810" y="2589976"/>
            <a:ext cx="1979295" cy="1110615"/>
            <a:chOff x="4729810" y="2589976"/>
            <a:chExt cx="1979295" cy="1110615"/>
          </a:xfrm>
        </p:grpSpPr>
        <p:sp>
          <p:nvSpPr>
            <p:cNvPr id="63" name="object 63"/>
            <p:cNvSpPr/>
            <p:nvPr/>
          </p:nvSpPr>
          <p:spPr>
            <a:xfrm>
              <a:off x="4736160" y="2596326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64439" y="0"/>
                  </a:moveTo>
                  <a:lnTo>
                    <a:pt x="25402" y="13357"/>
                  </a:lnTo>
                  <a:lnTo>
                    <a:pt x="2517" y="47517"/>
                  </a:lnTo>
                  <a:lnTo>
                    <a:pt x="0" y="1033551"/>
                  </a:lnTo>
                  <a:lnTo>
                    <a:pt x="540" y="1041901"/>
                  </a:lnTo>
                  <a:lnTo>
                    <a:pt x="18737" y="1078782"/>
                  </a:lnTo>
                  <a:lnTo>
                    <a:pt x="55734" y="1097095"/>
                  </a:lnTo>
                  <a:lnTo>
                    <a:pt x="64084" y="1097635"/>
                  </a:lnTo>
                  <a:lnTo>
                    <a:pt x="1902244" y="1097635"/>
                  </a:lnTo>
                  <a:lnTo>
                    <a:pt x="1941275" y="1084277"/>
                  </a:lnTo>
                  <a:lnTo>
                    <a:pt x="1964159" y="1050115"/>
                  </a:lnTo>
                  <a:lnTo>
                    <a:pt x="1966315" y="1033551"/>
                  </a:lnTo>
                  <a:lnTo>
                    <a:pt x="1966291" y="64071"/>
                  </a:lnTo>
                  <a:lnTo>
                    <a:pt x="1952957" y="25397"/>
                  </a:lnTo>
                  <a:lnTo>
                    <a:pt x="1918796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9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36160" y="2596326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355" y="64071"/>
                  </a:moveTo>
                  <a:lnTo>
                    <a:pt x="896" y="55728"/>
                  </a:lnTo>
                  <a:lnTo>
                    <a:pt x="2517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1902244" y="355"/>
                  </a:lnTo>
                  <a:lnTo>
                    <a:pt x="1941223" y="13563"/>
                  </a:lnTo>
                  <a:lnTo>
                    <a:pt x="1964159" y="47875"/>
                  </a:lnTo>
                  <a:lnTo>
                    <a:pt x="1966315" y="64439"/>
                  </a:lnTo>
                  <a:lnTo>
                    <a:pt x="1966315" y="1033551"/>
                  </a:lnTo>
                  <a:lnTo>
                    <a:pt x="1965777" y="1041901"/>
                  </a:lnTo>
                  <a:lnTo>
                    <a:pt x="1964159" y="1050115"/>
                  </a:lnTo>
                  <a:lnTo>
                    <a:pt x="1941275" y="1084277"/>
                  </a:lnTo>
                  <a:lnTo>
                    <a:pt x="1902244" y="1097635"/>
                  </a:lnTo>
                  <a:lnTo>
                    <a:pt x="64084" y="1097635"/>
                  </a:lnTo>
                  <a:lnTo>
                    <a:pt x="25091" y="1084427"/>
                  </a:lnTo>
                  <a:lnTo>
                    <a:pt x="2160" y="1050115"/>
                  </a:lnTo>
                  <a:lnTo>
                    <a:pt x="0" y="1033551"/>
                  </a:lnTo>
                  <a:lnTo>
                    <a:pt x="355" y="64071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407824" y="2615370"/>
            <a:ext cx="621665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020" algn="ctr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🔐</a:t>
            </a:r>
            <a:endParaRPr sz="23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850" b="1" dirty="0">
                <a:solidFill>
                  <a:srgbClr val="FF3A2F"/>
                </a:solidFill>
                <a:latin typeface="Calibri"/>
                <a:cs typeface="Calibri"/>
              </a:rPr>
              <a:t>GPG</a:t>
            </a:r>
            <a:r>
              <a:rPr sz="850" b="1" spc="-20" dirty="0">
                <a:solidFill>
                  <a:srgbClr val="FF3A2F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FF3A2F"/>
                </a:solidFill>
                <a:latin typeface="Calibri"/>
                <a:cs typeface="Calibri"/>
              </a:rPr>
              <a:t>(cifrado)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010378" y="3338184"/>
            <a:ext cx="140779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5080" indent="-14668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Backup</a:t>
            </a:r>
            <a:r>
              <a:rPr sz="750" spc="-4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cifrado</a:t>
            </a:r>
            <a:r>
              <a:rPr sz="750" spc="-3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asimétrico</a:t>
            </a:r>
            <a:r>
              <a:rPr sz="750" spc="-3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diario</a:t>
            </a:r>
            <a:r>
              <a:rPr sz="750" spc="-25" dirty="0">
                <a:solidFill>
                  <a:srgbClr val="8799A9"/>
                </a:solidFill>
                <a:latin typeface="Calibri"/>
                <a:cs typeface="Calibri"/>
              </a:rPr>
              <a:t> via</a:t>
            </a:r>
            <a:r>
              <a:rPr sz="750" spc="50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mysqldump</a:t>
            </a:r>
            <a:r>
              <a:rPr sz="750" spc="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+</a:t>
            </a:r>
            <a:r>
              <a:rPr sz="750" spc="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gpg</a:t>
            </a:r>
            <a:r>
              <a:rPr sz="750" spc="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-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-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encrypt.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785635" y="723228"/>
            <a:ext cx="2358390" cy="4426585"/>
            <a:chOff x="6785635" y="723228"/>
            <a:chExt cx="2358390" cy="4426585"/>
          </a:xfrm>
        </p:grpSpPr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85635" y="723228"/>
              <a:ext cx="2357996" cy="442009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866636" y="804242"/>
              <a:ext cx="2149475" cy="4339590"/>
            </a:xfrm>
            <a:custGeom>
              <a:avLst/>
              <a:gdLst/>
              <a:ahLst/>
              <a:cxnLst/>
              <a:rect l="l" t="t" r="r" b="b"/>
              <a:pathLst>
                <a:path w="2149475" h="433959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252315"/>
                  </a:lnTo>
                  <a:lnTo>
                    <a:pt x="798" y="4264322"/>
                  </a:lnTo>
                  <a:lnTo>
                    <a:pt x="18843" y="4308079"/>
                  </a:lnTo>
                  <a:lnTo>
                    <a:pt x="56512" y="4336774"/>
                  </a:lnTo>
                  <a:lnTo>
                    <a:pt x="63292" y="4339082"/>
                  </a:lnTo>
                  <a:lnTo>
                    <a:pt x="2085915" y="4339082"/>
                  </a:lnTo>
                  <a:lnTo>
                    <a:pt x="2122517" y="4317076"/>
                  </a:lnTo>
                  <a:lnTo>
                    <a:pt x="2146058" y="4275989"/>
                  </a:lnTo>
                  <a:lnTo>
                    <a:pt x="2149208" y="4252315"/>
                  </a:lnTo>
                  <a:lnTo>
                    <a:pt x="2149208" y="91795"/>
                  </a:lnTo>
                  <a:lnTo>
                    <a:pt x="2136965" y="46075"/>
                  </a:lnTo>
                  <a:lnTo>
                    <a:pt x="2103488" y="12598"/>
                  </a:lnTo>
                  <a:lnTo>
                    <a:pt x="205776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866636" y="804242"/>
              <a:ext cx="2149475" cy="4339590"/>
            </a:xfrm>
            <a:custGeom>
              <a:avLst/>
              <a:gdLst/>
              <a:ahLst/>
              <a:cxnLst/>
              <a:rect l="l" t="t" r="r" b="b"/>
              <a:pathLst>
                <a:path w="2149475" h="4339590">
                  <a:moveTo>
                    <a:pt x="63292" y="4339082"/>
                  </a:moveTo>
                  <a:lnTo>
                    <a:pt x="26690" y="4317076"/>
                  </a:lnTo>
                  <a:lnTo>
                    <a:pt x="3149" y="4275989"/>
                  </a:lnTo>
                  <a:lnTo>
                    <a:pt x="0" y="4252315"/>
                  </a:lnTo>
                  <a:lnTo>
                    <a:pt x="368" y="91439"/>
                  </a:lnTo>
                  <a:lnTo>
                    <a:pt x="12598" y="45719"/>
                  </a:lnTo>
                  <a:lnTo>
                    <a:pt x="46088" y="12242"/>
                  </a:lnTo>
                  <a:lnTo>
                    <a:pt x="91808" y="0"/>
                  </a:lnTo>
                  <a:lnTo>
                    <a:pt x="2057768" y="355"/>
                  </a:lnTo>
                  <a:lnTo>
                    <a:pt x="2103488" y="12598"/>
                  </a:lnTo>
                  <a:lnTo>
                    <a:pt x="2136965" y="46075"/>
                  </a:lnTo>
                  <a:lnTo>
                    <a:pt x="2149208" y="91795"/>
                  </a:lnTo>
                  <a:lnTo>
                    <a:pt x="2149208" y="4252315"/>
                  </a:lnTo>
                  <a:lnTo>
                    <a:pt x="2136965" y="4298035"/>
                  </a:lnTo>
                  <a:lnTo>
                    <a:pt x="2103488" y="4331525"/>
                  </a:lnTo>
                  <a:lnTo>
                    <a:pt x="2085915" y="4339082"/>
                  </a:lnTo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67004" y="804597"/>
              <a:ext cx="2148840" cy="502920"/>
            </a:xfrm>
            <a:custGeom>
              <a:avLst/>
              <a:gdLst/>
              <a:ahLst/>
              <a:cxnLst/>
              <a:rect l="l" t="t" r="r" b="b"/>
              <a:pathLst>
                <a:path w="2148840" h="502919">
                  <a:moveTo>
                    <a:pt x="2057031" y="0"/>
                  </a:moveTo>
                  <a:lnTo>
                    <a:pt x="91440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40"/>
                  </a:lnTo>
                  <a:lnTo>
                    <a:pt x="0" y="411480"/>
                  </a:lnTo>
                  <a:lnTo>
                    <a:pt x="774" y="423129"/>
                  </a:lnTo>
                  <a:lnTo>
                    <a:pt x="798" y="423486"/>
                  </a:lnTo>
                  <a:lnTo>
                    <a:pt x="3075" y="434794"/>
                  </a:lnTo>
                  <a:lnTo>
                    <a:pt x="3148" y="435154"/>
                  </a:lnTo>
                  <a:lnTo>
                    <a:pt x="6858" y="446053"/>
                  </a:lnTo>
                  <a:lnTo>
                    <a:pt x="6981" y="446414"/>
                  </a:lnTo>
                  <a:lnTo>
                    <a:pt x="35675" y="484089"/>
                  </a:lnTo>
                  <a:lnTo>
                    <a:pt x="79433" y="502121"/>
                  </a:lnTo>
                  <a:lnTo>
                    <a:pt x="91440" y="502920"/>
                  </a:lnTo>
                  <a:lnTo>
                    <a:pt x="2057400" y="502564"/>
                  </a:lnTo>
                  <a:lnTo>
                    <a:pt x="2103120" y="490321"/>
                  </a:lnTo>
                  <a:lnTo>
                    <a:pt x="2136597" y="456844"/>
                  </a:lnTo>
                  <a:lnTo>
                    <a:pt x="2147969" y="423486"/>
                  </a:lnTo>
                  <a:lnTo>
                    <a:pt x="2148041" y="423129"/>
                  </a:lnTo>
                  <a:lnTo>
                    <a:pt x="2148816" y="411480"/>
                  </a:lnTo>
                  <a:lnTo>
                    <a:pt x="2148840" y="411124"/>
                  </a:lnTo>
                  <a:lnTo>
                    <a:pt x="2148471" y="91440"/>
                  </a:lnTo>
                  <a:lnTo>
                    <a:pt x="2136241" y="45720"/>
                  </a:lnTo>
                  <a:lnTo>
                    <a:pt x="2102751" y="12242"/>
                  </a:lnTo>
                  <a:lnTo>
                    <a:pt x="2069038" y="798"/>
                  </a:lnTo>
                  <a:lnTo>
                    <a:pt x="2057031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67004" y="804597"/>
              <a:ext cx="2148840" cy="502920"/>
            </a:xfrm>
            <a:custGeom>
              <a:avLst/>
              <a:gdLst/>
              <a:ahLst/>
              <a:cxnLst/>
              <a:rect l="l" t="t" r="r" b="b"/>
              <a:pathLst>
                <a:path w="2148840" h="502919">
                  <a:moveTo>
                    <a:pt x="0" y="91440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40" y="0"/>
                  </a:lnTo>
                  <a:lnTo>
                    <a:pt x="2057031" y="0"/>
                  </a:lnTo>
                  <a:lnTo>
                    <a:pt x="2102751" y="12242"/>
                  </a:lnTo>
                  <a:lnTo>
                    <a:pt x="2136241" y="45720"/>
                  </a:lnTo>
                  <a:lnTo>
                    <a:pt x="2148471" y="91440"/>
                  </a:lnTo>
                  <a:lnTo>
                    <a:pt x="2148840" y="411124"/>
                  </a:lnTo>
                  <a:lnTo>
                    <a:pt x="2148041" y="423129"/>
                  </a:lnTo>
                  <a:lnTo>
                    <a:pt x="2145690" y="434794"/>
                  </a:lnTo>
                  <a:lnTo>
                    <a:pt x="2122149" y="475878"/>
                  </a:lnTo>
                  <a:lnTo>
                    <a:pt x="2081064" y="499414"/>
                  </a:lnTo>
                  <a:lnTo>
                    <a:pt x="91440" y="502920"/>
                  </a:lnTo>
                  <a:lnTo>
                    <a:pt x="45720" y="490689"/>
                  </a:lnTo>
                  <a:lnTo>
                    <a:pt x="12230" y="457200"/>
                  </a:lnTo>
                  <a:lnTo>
                    <a:pt x="0" y="41148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67004" y="1051562"/>
              <a:ext cx="2148840" cy="255904"/>
            </a:xfrm>
            <a:custGeom>
              <a:avLst/>
              <a:gdLst/>
              <a:ahLst/>
              <a:cxnLst/>
              <a:rect l="l" t="t" r="r" b="b"/>
              <a:pathLst>
                <a:path w="2148840" h="255905">
                  <a:moveTo>
                    <a:pt x="2148471" y="0"/>
                  </a:moveTo>
                  <a:lnTo>
                    <a:pt x="0" y="0"/>
                  </a:lnTo>
                  <a:lnTo>
                    <a:pt x="0" y="255600"/>
                  </a:lnTo>
                  <a:lnTo>
                    <a:pt x="1074229" y="255600"/>
                  </a:lnTo>
                  <a:lnTo>
                    <a:pt x="2148471" y="255600"/>
                  </a:lnTo>
                  <a:lnTo>
                    <a:pt x="2148471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67004" y="1051562"/>
              <a:ext cx="2148840" cy="255904"/>
            </a:xfrm>
            <a:custGeom>
              <a:avLst/>
              <a:gdLst/>
              <a:ahLst/>
              <a:cxnLst/>
              <a:rect l="l" t="t" r="r" b="b"/>
              <a:pathLst>
                <a:path w="2148840" h="255905">
                  <a:moveTo>
                    <a:pt x="1074229" y="255600"/>
                  </a:moveTo>
                  <a:lnTo>
                    <a:pt x="0" y="255600"/>
                  </a:lnTo>
                  <a:lnTo>
                    <a:pt x="0" y="0"/>
                  </a:lnTo>
                  <a:lnTo>
                    <a:pt x="2148471" y="0"/>
                  </a:lnTo>
                  <a:lnTo>
                    <a:pt x="2148471" y="255600"/>
                  </a:lnTo>
                  <a:lnTo>
                    <a:pt x="1074229" y="255600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7311859" y="944824"/>
            <a:ext cx="126619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FFFFFF"/>
                </a:solidFill>
                <a:latin typeface="MingLiU_HKSCS-ExtB"/>
                <a:cs typeface="MingLiU_HKSCS-ExtB"/>
              </a:rPr>
              <a:t>🤖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HA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Automatización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951726" y="1382892"/>
            <a:ext cx="1979295" cy="1110615"/>
            <a:chOff x="6951726" y="1382892"/>
            <a:chExt cx="1979295" cy="1110615"/>
          </a:xfrm>
        </p:grpSpPr>
        <p:sp>
          <p:nvSpPr>
            <p:cNvPr id="77" name="object 77"/>
            <p:cNvSpPr/>
            <p:nvPr/>
          </p:nvSpPr>
          <p:spPr>
            <a:xfrm>
              <a:off x="6958076" y="13892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1033564"/>
                  </a:lnTo>
                  <a:lnTo>
                    <a:pt x="540" y="1041906"/>
                  </a:lnTo>
                  <a:lnTo>
                    <a:pt x="18739" y="1078782"/>
                  </a:lnTo>
                  <a:lnTo>
                    <a:pt x="18859" y="1078920"/>
                  </a:lnTo>
                  <a:lnTo>
                    <a:pt x="55736" y="1097097"/>
                  </a:lnTo>
                  <a:lnTo>
                    <a:pt x="64084" y="1097635"/>
                  </a:lnTo>
                  <a:lnTo>
                    <a:pt x="1902244" y="1097635"/>
                  </a:lnTo>
                  <a:lnTo>
                    <a:pt x="1941281" y="1084277"/>
                  </a:lnTo>
                  <a:lnTo>
                    <a:pt x="1964166" y="1050116"/>
                  </a:lnTo>
                  <a:lnTo>
                    <a:pt x="1966328" y="1033564"/>
                  </a:lnTo>
                  <a:lnTo>
                    <a:pt x="1966305" y="64084"/>
                  </a:lnTo>
                  <a:lnTo>
                    <a:pt x="1952963" y="25402"/>
                  </a:lnTo>
                  <a:lnTo>
                    <a:pt x="1918803" y="2517"/>
                  </a:lnTo>
                  <a:lnTo>
                    <a:pt x="19022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9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958076" y="13892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1902244" y="355"/>
                  </a:lnTo>
                  <a:lnTo>
                    <a:pt x="1941231" y="13570"/>
                  </a:lnTo>
                  <a:lnTo>
                    <a:pt x="1964166" y="47880"/>
                  </a:lnTo>
                  <a:lnTo>
                    <a:pt x="1966328" y="64439"/>
                  </a:lnTo>
                  <a:lnTo>
                    <a:pt x="1966328" y="1033564"/>
                  </a:lnTo>
                  <a:lnTo>
                    <a:pt x="1965787" y="1041906"/>
                  </a:lnTo>
                  <a:lnTo>
                    <a:pt x="1964166" y="1050116"/>
                  </a:lnTo>
                  <a:lnTo>
                    <a:pt x="1941281" y="1084277"/>
                  </a:lnTo>
                  <a:lnTo>
                    <a:pt x="1902244" y="1097635"/>
                  </a:lnTo>
                  <a:lnTo>
                    <a:pt x="64084" y="1097635"/>
                  </a:lnTo>
                  <a:lnTo>
                    <a:pt x="25097" y="1084433"/>
                  </a:lnTo>
                  <a:lnTo>
                    <a:pt x="2162" y="1050116"/>
                  </a:lnTo>
                  <a:lnTo>
                    <a:pt x="0" y="1033564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7590142" y="1408286"/>
            <a:ext cx="70231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" algn="ctr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🔥</a:t>
            </a:r>
            <a:endParaRPr sz="23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00C1A7"/>
                </a:solidFill>
                <a:latin typeface="Calibri"/>
                <a:cs typeface="Calibri"/>
              </a:rPr>
              <a:t>iptables</a:t>
            </a:r>
            <a:r>
              <a:rPr sz="850" b="1" spc="10" dirty="0">
                <a:solidFill>
                  <a:srgbClr val="00C1A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0C1A7"/>
                </a:solidFill>
                <a:latin typeface="Calibri"/>
                <a:cs typeface="Calibri"/>
              </a:rPr>
              <a:t>+</a:t>
            </a:r>
            <a:r>
              <a:rPr sz="850" b="1" spc="20" dirty="0">
                <a:solidFill>
                  <a:srgbClr val="00C1A7"/>
                </a:solidFill>
                <a:latin typeface="Calibri"/>
                <a:cs typeface="Calibri"/>
              </a:rPr>
              <a:t> </a:t>
            </a:r>
            <a:r>
              <a:rPr sz="850" b="1" spc="-25" dirty="0">
                <a:solidFill>
                  <a:srgbClr val="00C1A7"/>
                </a:solidFill>
                <a:latin typeface="Calibri"/>
                <a:cs typeface="Calibri"/>
              </a:rPr>
              <a:t>UFW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215746" y="2131100"/>
            <a:ext cx="14408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 marR="5080" indent="-3619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14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reglas</a:t>
            </a:r>
            <a:r>
              <a:rPr sz="7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de</a:t>
            </a:r>
            <a:r>
              <a:rPr sz="7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segmentación</a:t>
            </a:r>
            <a:r>
              <a:rPr sz="7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bancaria,</a:t>
            </a:r>
            <a:r>
              <a:rPr sz="750" spc="50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NAT/MASQUERADE,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política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8799A9"/>
                </a:solidFill>
                <a:latin typeface="Calibri"/>
                <a:cs typeface="Calibri"/>
              </a:rPr>
              <a:t>DROP.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6951726" y="2589976"/>
            <a:ext cx="1979295" cy="1110615"/>
            <a:chOff x="6951726" y="2589976"/>
            <a:chExt cx="1979295" cy="1110615"/>
          </a:xfrm>
        </p:grpSpPr>
        <p:sp>
          <p:nvSpPr>
            <p:cNvPr id="82" name="object 82"/>
            <p:cNvSpPr/>
            <p:nvPr/>
          </p:nvSpPr>
          <p:spPr>
            <a:xfrm>
              <a:off x="6958076" y="2596326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1033551"/>
                  </a:lnTo>
                  <a:lnTo>
                    <a:pt x="540" y="1041901"/>
                  </a:lnTo>
                  <a:lnTo>
                    <a:pt x="18743" y="1078782"/>
                  </a:lnTo>
                  <a:lnTo>
                    <a:pt x="55736" y="1097095"/>
                  </a:lnTo>
                  <a:lnTo>
                    <a:pt x="64084" y="1097635"/>
                  </a:lnTo>
                  <a:lnTo>
                    <a:pt x="1902244" y="1097635"/>
                  </a:lnTo>
                  <a:lnTo>
                    <a:pt x="1941281" y="1084277"/>
                  </a:lnTo>
                  <a:lnTo>
                    <a:pt x="1964166" y="1050115"/>
                  </a:lnTo>
                  <a:lnTo>
                    <a:pt x="1966328" y="1033551"/>
                  </a:lnTo>
                  <a:lnTo>
                    <a:pt x="1966304" y="64071"/>
                  </a:lnTo>
                  <a:lnTo>
                    <a:pt x="1952963" y="25397"/>
                  </a:lnTo>
                  <a:lnTo>
                    <a:pt x="191880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9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958076" y="2596326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1902244" y="355"/>
                  </a:lnTo>
                  <a:lnTo>
                    <a:pt x="1941231" y="13563"/>
                  </a:lnTo>
                  <a:lnTo>
                    <a:pt x="1964166" y="47875"/>
                  </a:lnTo>
                  <a:lnTo>
                    <a:pt x="1966328" y="64439"/>
                  </a:lnTo>
                  <a:lnTo>
                    <a:pt x="1966328" y="1033551"/>
                  </a:lnTo>
                  <a:lnTo>
                    <a:pt x="1965787" y="1041901"/>
                  </a:lnTo>
                  <a:lnTo>
                    <a:pt x="1964166" y="1050115"/>
                  </a:lnTo>
                  <a:lnTo>
                    <a:pt x="1941281" y="1084277"/>
                  </a:lnTo>
                  <a:lnTo>
                    <a:pt x="1902244" y="1097635"/>
                  </a:lnTo>
                  <a:lnTo>
                    <a:pt x="64084" y="1097635"/>
                  </a:lnTo>
                  <a:lnTo>
                    <a:pt x="25097" y="1084427"/>
                  </a:lnTo>
                  <a:lnTo>
                    <a:pt x="2162" y="1050115"/>
                  </a:lnTo>
                  <a:lnTo>
                    <a:pt x="0" y="1033551"/>
                  </a:lnTo>
                  <a:lnTo>
                    <a:pt x="368" y="64071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7534338" y="2615370"/>
            <a:ext cx="81280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 algn="ctr">
              <a:lnSpc>
                <a:spcPct val="100000"/>
              </a:lnSpc>
              <a:spcBef>
                <a:spcPts val="105"/>
              </a:spcBef>
            </a:pPr>
            <a:r>
              <a:rPr sz="2350" spc="-1015" dirty="0">
                <a:latin typeface="MingLiU_HKSCS-ExtB"/>
                <a:cs typeface="MingLiU_HKSCS-ExtB"/>
              </a:rPr>
              <a:t>🛡️</a:t>
            </a:r>
            <a:endParaRPr sz="23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850" b="1" spc="-10" dirty="0">
                <a:solidFill>
                  <a:srgbClr val="00C1A7"/>
                </a:solidFill>
                <a:latin typeface="Calibri"/>
                <a:cs typeface="Calibri"/>
              </a:rPr>
              <a:t>Fail2ban</a:t>
            </a:r>
            <a:r>
              <a:rPr sz="850" b="1" dirty="0">
                <a:solidFill>
                  <a:srgbClr val="00C1A7"/>
                </a:solidFill>
                <a:latin typeface="Calibri"/>
                <a:cs typeface="Calibri"/>
              </a:rPr>
              <a:t> +</a:t>
            </a:r>
            <a:r>
              <a:rPr sz="850" b="1" spc="15" dirty="0">
                <a:solidFill>
                  <a:srgbClr val="00C1A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0C1A7"/>
                </a:solidFill>
                <a:latin typeface="Calibri"/>
                <a:cs typeface="Calibri"/>
              </a:rPr>
              <a:t>rsyslog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7141933" y="3338184"/>
            <a:ext cx="158877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6559" marR="5080" indent="-40449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IDS</a:t>
            </a:r>
            <a:r>
              <a:rPr sz="75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automático</a:t>
            </a:r>
            <a:r>
              <a:rPr sz="750" spc="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+</a:t>
            </a:r>
            <a:r>
              <a:rPr sz="750" spc="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logs</a:t>
            </a:r>
            <a:r>
              <a:rPr sz="75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centralizados</a:t>
            </a:r>
            <a:r>
              <a:rPr sz="750" spc="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de</a:t>
            </a:r>
            <a:r>
              <a:rPr sz="750" spc="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8799A9"/>
                </a:solidFill>
                <a:latin typeface="Calibri"/>
                <a:cs typeface="Calibri"/>
              </a:rPr>
              <a:t>7</a:t>
            </a:r>
            <a:r>
              <a:rPr sz="750" spc="50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VMs</a:t>
            </a:r>
            <a:r>
              <a:rPr sz="7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en</a:t>
            </a:r>
            <a:r>
              <a:rPr sz="75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siem-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audit.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6951776" y="3796742"/>
            <a:ext cx="1979295" cy="1110615"/>
            <a:chOff x="6951776" y="3796742"/>
            <a:chExt cx="1979295" cy="1110615"/>
          </a:xfrm>
        </p:grpSpPr>
        <p:sp>
          <p:nvSpPr>
            <p:cNvPr id="87" name="object 87"/>
            <p:cNvSpPr/>
            <p:nvPr/>
          </p:nvSpPr>
          <p:spPr>
            <a:xfrm>
              <a:off x="6958076" y="38030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64439" y="0"/>
                  </a:moveTo>
                  <a:lnTo>
                    <a:pt x="25402" y="13357"/>
                  </a:lnTo>
                  <a:lnTo>
                    <a:pt x="2524" y="47520"/>
                  </a:lnTo>
                  <a:lnTo>
                    <a:pt x="0" y="1033564"/>
                  </a:lnTo>
                  <a:lnTo>
                    <a:pt x="540" y="1041906"/>
                  </a:lnTo>
                  <a:lnTo>
                    <a:pt x="18739" y="1078782"/>
                  </a:lnTo>
                  <a:lnTo>
                    <a:pt x="18859" y="1078920"/>
                  </a:lnTo>
                  <a:lnTo>
                    <a:pt x="55736" y="1097097"/>
                  </a:lnTo>
                  <a:lnTo>
                    <a:pt x="64084" y="1097635"/>
                  </a:lnTo>
                  <a:lnTo>
                    <a:pt x="1902244" y="1097635"/>
                  </a:lnTo>
                  <a:lnTo>
                    <a:pt x="1941281" y="1084277"/>
                  </a:lnTo>
                  <a:lnTo>
                    <a:pt x="1964166" y="1050116"/>
                  </a:lnTo>
                  <a:lnTo>
                    <a:pt x="1966328" y="1033564"/>
                  </a:lnTo>
                  <a:lnTo>
                    <a:pt x="1966305" y="64084"/>
                  </a:lnTo>
                  <a:lnTo>
                    <a:pt x="1952963" y="25402"/>
                  </a:lnTo>
                  <a:lnTo>
                    <a:pt x="1918803" y="2517"/>
                  </a:lnTo>
                  <a:lnTo>
                    <a:pt x="19022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90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958076" y="3803042"/>
              <a:ext cx="1966595" cy="1097915"/>
            </a:xfrm>
            <a:custGeom>
              <a:avLst/>
              <a:gdLst/>
              <a:ahLst/>
              <a:cxnLst/>
              <a:rect l="l" t="t" r="r" b="b"/>
              <a:pathLst>
                <a:path w="1966595" h="1097914">
                  <a:moveTo>
                    <a:pt x="368" y="64084"/>
                  </a:moveTo>
                  <a:lnTo>
                    <a:pt x="906" y="55734"/>
                  </a:lnTo>
                  <a:lnTo>
                    <a:pt x="2524" y="47520"/>
                  </a:lnTo>
                  <a:lnTo>
                    <a:pt x="25402" y="13357"/>
                  </a:lnTo>
                  <a:lnTo>
                    <a:pt x="64439" y="0"/>
                  </a:lnTo>
                  <a:lnTo>
                    <a:pt x="1902244" y="355"/>
                  </a:lnTo>
                  <a:lnTo>
                    <a:pt x="1941231" y="13570"/>
                  </a:lnTo>
                  <a:lnTo>
                    <a:pt x="1964166" y="47880"/>
                  </a:lnTo>
                  <a:lnTo>
                    <a:pt x="1966328" y="64439"/>
                  </a:lnTo>
                  <a:lnTo>
                    <a:pt x="1966328" y="1033564"/>
                  </a:lnTo>
                  <a:lnTo>
                    <a:pt x="1965787" y="1041906"/>
                  </a:lnTo>
                  <a:lnTo>
                    <a:pt x="1964166" y="1050116"/>
                  </a:lnTo>
                  <a:lnTo>
                    <a:pt x="1941281" y="1084277"/>
                  </a:lnTo>
                  <a:lnTo>
                    <a:pt x="1902244" y="1097635"/>
                  </a:lnTo>
                  <a:lnTo>
                    <a:pt x="64084" y="1097635"/>
                  </a:lnTo>
                  <a:lnTo>
                    <a:pt x="25097" y="1084433"/>
                  </a:lnTo>
                  <a:lnTo>
                    <a:pt x="2162" y="1050116"/>
                  </a:lnTo>
                  <a:lnTo>
                    <a:pt x="0" y="1033564"/>
                  </a:lnTo>
                  <a:lnTo>
                    <a:pt x="368" y="64084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7506258" y="3822455"/>
            <a:ext cx="869950" cy="598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" algn="ctr">
              <a:lnSpc>
                <a:spcPct val="100000"/>
              </a:lnSpc>
              <a:spcBef>
                <a:spcPts val="105"/>
              </a:spcBef>
            </a:pPr>
            <a:r>
              <a:rPr sz="2350" spc="325" dirty="0">
                <a:latin typeface="MingLiU_HKSCS-ExtB"/>
                <a:cs typeface="MingLiU_HKSCS-ExtB"/>
              </a:rPr>
              <a:t>⏰</a:t>
            </a:r>
            <a:endParaRPr sz="23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850" b="1" dirty="0">
                <a:solidFill>
                  <a:srgbClr val="00C1A7"/>
                </a:solidFill>
                <a:latin typeface="Calibri"/>
                <a:cs typeface="Calibri"/>
              </a:rPr>
              <a:t>Cron</a:t>
            </a:r>
            <a:r>
              <a:rPr sz="850" b="1" spc="-25" dirty="0">
                <a:solidFill>
                  <a:srgbClr val="00C1A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0C1A7"/>
                </a:solidFill>
                <a:latin typeface="Calibri"/>
                <a:cs typeface="Calibri"/>
              </a:rPr>
              <a:t>+</a:t>
            </a:r>
            <a:r>
              <a:rPr sz="850" b="1" spc="-20" dirty="0">
                <a:solidFill>
                  <a:srgbClr val="00C1A7"/>
                </a:solidFill>
                <a:latin typeface="Calibri"/>
                <a:cs typeface="Calibri"/>
              </a:rPr>
              <a:t> </a:t>
            </a:r>
            <a:r>
              <a:rPr sz="850" b="1" dirty="0">
                <a:solidFill>
                  <a:srgbClr val="00C1A7"/>
                </a:solidFill>
                <a:latin typeface="Calibri"/>
                <a:cs typeface="Calibri"/>
              </a:rPr>
              <a:t>Bash</a:t>
            </a:r>
            <a:r>
              <a:rPr sz="850" b="1" spc="-5" dirty="0">
                <a:solidFill>
                  <a:srgbClr val="00C1A7"/>
                </a:solidFill>
                <a:latin typeface="Calibri"/>
                <a:cs typeface="Calibri"/>
              </a:rPr>
              <a:t> </a:t>
            </a:r>
            <a:r>
              <a:rPr sz="850" b="1" spc="-10" dirty="0">
                <a:solidFill>
                  <a:srgbClr val="00C1A7"/>
                </a:solidFill>
                <a:latin typeface="Calibri"/>
                <a:cs typeface="Calibri"/>
              </a:rPr>
              <a:t>scripts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126465" y="4545255"/>
            <a:ext cx="161925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7675" marR="5080" indent="-435609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Backup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diario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2AM,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auditoría automática</a:t>
            </a:r>
            <a:r>
              <a:rPr sz="750" spc="50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8799A9"/>
                </a:solidFill>
                <a:latin typeface="Calibri"/>
                <a:cs typeface="Calibri"/>
              </a:rPr>
              <a:t>cada</a:t>
            </a:r>
            <a:r>
              <a:rPr sz="750" spc="-4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8799A9"/>
                </a:solidFill>
                <a:latin typeface="Calibri"/>
                <a:cs typeface="Calibri"/>
              </a:rPr>
              <a:t>hora/minuto.</a:t>
            </a:r>
            <a:endParaRPr sz="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475" dirty="0">
                <a:solidFill>
                  <a:srgbClr val="000000"/>
                </a:solidFill>
                <a:latin typeface="MingLiU_HKSCS-ExtB"/>
                <a:cs typeface="MingLiU_HKSCS-ExtB"/>
              </a:rPr>
              <a:t>🧠</a:t>
            </a:r>
            <a:r>
              <a:rPr sz="2800" b="0" spc="280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97" baseline="1322" dirty="0"/>
              <a:t>TEMAS</a:t>
            </a:r>
            <a:r>
              <a:rPr sz="3150" spc="322" baseline="1322" dirty="0"/>
              <a:t> </a:t>
            </a:r>
            <a:r>
              <a:rPr sz="3150" baseline="1322" dirty="0"/>
              <a:t>DE</a:t>
            </a:r>
            <a:r>
              <a:rPr sz="3150" spc="337" baseline="1322" dirty="0"/>
              <a:t> </a:t>
            </a:r>
            <a:r>
              <a:rPr sz="3150" baseline="1322" dirty="0"/>
              <a:t>LA</a:t>
            </a:r>
            <a:r>
              <a:rPr sz="3150" spc="337" baseline="1322" dirty="0"/>
              <a:t> </a:t>
            </a:r>
            <a:r>
              <a:rPr sz="3150" spc="89" baseline="1322" dirty="0"/>
              <a:t>ASIGNATURA</a:t>
            </a:r>
            <a:r>
              <a:rPr sz="3150" spc="322" baseline="1322" dirty="0"/>
              <a:t> </a:t>
            </a:r>
            <a:r>
              <a:rPr sz="3150" spc="89" baseline="1322" dirty="0"/>
              <a:t>PUESTOS</a:t>
            </a:r>
            <a:r>
              <a:rPr sz="3150" spc="330" baseline="1322" dirty="0"/>
              <a:t> </a:t>
            </a:r>
            <a:r>
              <a:rPr sz="3150" baseline="1322" dirty="0"/>
              <a:t>EN</a:t>
            </a:r>
            <a:r>
              <a:rPr sz="3150" spc="337" baseline="1322" dirty="0"/>
              <a:t> </a:t>
            </a:r>
            <a:r>
              <a:rPr sz="3150" spc="89" baseline="1322" dirty="0"/>
              <a:t>PRÁCTICA</a:t>
            </a:r>
            <a:endParaRPr sz="3150" baseline="1322">
              <a:latin typeface="MingLiU_HKSCS-ExtB"/>
              <a:cs typeface="MingLiU_HKSCS-ExtB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9875" y="759957"/>
            <a:ext cx="3005455" cy="2181860"/>
            <a:chOff x="119875" y="759957"/>
            <a:chExt cx="3005455" cy="21818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759957"/>
              <a:ext cx="3004921" cy="21816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0875" y="84095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5" h="1966595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1874888"/>
                  </a:lnTo>
                  <a:lnTo>
                    <a:pt x="798" y="1886888"/>
                  </a:lnTo>
                  <a:lnTo>
                    <a:pt x="18843" y="1930645"/>
                  </a:lnTo>
                  <a:lnTo>
                    <a:pt x="56512" y="1959341"/>
                  </a:lnTo>
                  <a:lnTo>
                    <a:pt x="91439" y="1966328"/>
                  </a:lnTo>
                  <a:lnTo>
                    <a:pt x="2697848" y="1966328"/>
                  </a:lnTo>
                  <a:lnTo>
                    <a:pt x="2743568" y="1954085"/>
                  </a:lnTo>
                  <a:lnTo>
                    <a:pt x="2777045" y="1920608"/>
                  </a:lnTo>
                  <a:lnTo>
                    <a:pt x="2789288" y="1874888"/>
                  </a:lnTo>
                  <a:lnTo>
                    <a:pt x="2789263" y="91440"/>
                  </a:lnTo>
                  <a:lnTo>
                    <a:pt x="2777045" y="46088"/>
                  </a:lnTo>
                  <a:lnTo>
                    <a:pt x="2743568" y="12598"/>
                  </a:lnTo>
                  <a:lnTo>
                    <a:pt x="269784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875" y="84095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5" h="1966595">
                  <a:moveTo>
                    <a:pt x="368" y="91440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697848" y="368"/>
                  </a:lnTo>
                  <a:lnTo>
                    <a:pt x="2743568" y="12598"/>
                  </a:lnTo>
                  <a:lnTo>
                    <a:pt x="2777045" y="46088"/>
                  </a:lnTo>
                  <a:lnTo>
                    <a:pt x="2789288" y="91808"/>
                  </a:lnTo>
                  <a:lnTo>
                    <a:pt x="2789288" y="1874888"/>
                  </a:lnTo>
                  <a:lnTo>
                    <a:pt x="2788489" y="1886888"/>
                  </a:lnTo>
                  <a:lnTo>
                    <a:pt x="2786138" y="1898553"/>
                  </a:lnTo>
                  <a:lnTo>
                    <a:pt x="2762597" y="1939637"/>
                  </a:lnTo>
                  <a:lnTo>
                    <a:pt x="2721513" y="1963178"/>
                  </a:lnTo>
                  <a:lnTo>
                    <a:pt x="2697848" y="1966328"/>
                  </a:lnTo>
                  <a:lnTo>
                    <a:pt x="91439" y="1966328"/>
                  </a:lnTo>
                  <a:lnTo>
                    <a:pt x="45720" y="1954085"/>
                  </a:lnTo>
                  <a:lnTo>
                    <a:pt x="12242" y="1920608"/>
                  </a:lnTo>
                  <a:lnTo>
                    <a:pt x="0" y="1874888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0875" y="84095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5" h="530860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439204"/>
                  </a:lnTo>
                  <a:lnTo>
                    <a:pt x="798" y="451209"/>
                  </a:lnTo>
                  <a:lnTo>
                    <a:pt x="18843" y="494968"/>
                  </a:lnTo>
                  <a:lnTo>
                    <a:pt x="56512" y="523657"/>
                  </a:lnTo>
                  <a:lnTo>
                    <a:pt x="91439" y="530644"/>
                  </a:lnTo>
                  <a:lnTo>
                    <a:pt x="2697848" y="530644"/>
                  </a:lnTo>
                  <a:lnTo>
                    <a:pt x="2743568" y="518401"/>
                  </a:lnTo>
                  <a:lnTo>
                    <a:pt x="2777045" y="484924"/>
                  </a:lnTo>
                  <a:lnTo>
                    <a:pt x="2789288" y="439204"/>
                  </a:lnTo>
                  <a:lnTo>
                    <a:pt x="2789263" y="91440"/>
                  </a:lnTo>
                  <a:lnTo>
                    <a:pt x="2777045" y="46088"/>
                  </a:lnTo>
                  <a:lnTo>
                    <a:pt x="2743568" y="12598"/>
                  </a:lnTo>
                  <a:lnTo>
                    <a:pt x="269784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0875" y="84095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5" h="530860">
                  <a:moveTo>
                    <a:pt x="368" y="91440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697848" y="368"/>
                  </a:lnTo>
                  <a:lnTo>
                    <a:pt x="2743568" y="12598"/>
                  </a:lnTo>
                  <a:lnTo>
                    <a:pt x="2777045" y="46088"/>
                  </a:lnTo>
                  <a:lnTo>
                    <a:pt x="2789288" y="91808"/>
                  </a:lnTo>
                  <a:lnTo>
                    <a:pt x="2789288" y="439204"/>
                  </a:lnTo>
                  <a:lnTo>
                    <a:pt x="2788489" y="451209"/>
                  </a:lnTo>
                  <a:lnTo>
                    <a:pt x="2786138" y="462873"/>
                  </a:lnTo>
                  <a:lnTo>
                    <a:pt x="2762597" y="503962"/>
                  </a:lnTo>
                  <a:lnTo>
                    <a:pt x="2721513" y="527494"/>
                  </a:lnTo>
                  <a:lnTo>
                    <a:pt x="2697848" y="530644"/>
                  </a:lnTo>
                  <a:lnTo>
                    <a:pt x="91439" y="530644"/>
                  </a:lnTo>
                  <a:lnTo>
                    <a:pt x="45720" y="518401"/>
                  </a:lnTo>
                  <a:lnTo>
                    <a:pt x="12242" y="484924"/>
                  </a:lnTo>
                  <a:lnTo>
                    <a:pt x="0" y="439204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1244" y="110628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30">
                  <a:moveTo>
                    <a:pt x="2788551" y="0"/>
                  </a:moveTo>
                  <a:lnTo>
                    <a:pt x="0" y="0"/>
                  </a:lnTo>
                  <a:lnTo>
                    <a:pt x="0" y="264960"/>
                  </a:lnTo>
                  <a:lnTo>
                    <a:pt x="1394269" y="264960"/>
                  </a:lnTo>
                  <a:lnTo>
                    <a:pt x="2788551" y="264960"/>
                  </a:lnTo>
                  <a:lnTo>
                    <a:pt x="2788551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1244" y="110628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30">
                  <a:moveTo>
                    <a:pt x="1394269" y="264960"/>
                  </a:moveTo>
                  <a:lnTo>
                    <a:pt x="0" y="264960"/>
                  </a:lnTo>
                  <a:lnTo>
                    <a:pt x="0" y="0"/>
                  </a:lnTo>
                  <a:lnTo>
                    <a:pt x="2788551" y="0"/>
                  </a:lnTo>
                  <a:lnTo>
                    <a:pt x="2788551" y="264960"/>
                  </a:lnTo>
                  <a:lnTo>
                    <a:pt x="1394269" y="26496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39774" y="999904"/>
            <a:ext cx="151066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FFFFFF"/>
                </a:solidFill>
                <a:latin typeface="MingLiU_HKSCS-ExtB"/>
                <a:cs typeface="MingLiU_HKSCS-ExtB"/>
              </a:rPr>
              <a:t>🔒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T5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 Segmentación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 de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Red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340" y="149066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1418" y="1508660"/>
            <a:ext cx="165671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iptables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con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política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FORWARD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DROP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8340" y="1819696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1418" y="1837704"/>
            <a:ext cx="173291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UFW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cada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VM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con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puertos mínimos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8340" y="2149096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1418" y="2167104"/>
            <a:ext cx="154305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Cajero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no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accede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Core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(validado)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8340" y="24781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1418" y="2496136"/>
            <a:ext cx="13284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Zones: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DMZ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·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Consultas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·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Core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73323" y="759957"/>
            <a:ext cx="3005455" cy="2181860"/>
            <a:chOff x="3073323" y="759957"/>
            <a:chExt cx="3005455" cy="218186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3323" y="759957"/>
              <a:ext cx="3004921" cy="218160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54324" y="84095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4" h="1966595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874888"/>
                  </a:lnTo>
                  <a:lnTo>
                    <a:pt x="798" y="1886888"/>
                  </a:lnTo>
                  <a:lnTo>
                    <a:pt x="18830" y="1930645"/>
                  </a:lnTo>
                  <a:lnTo>
                    <a:pt x="56505" y="1959341"/>
                  </a:lnTo>
                  <a:lnTo>
                    <a:pt x="91439" y="1966328"/>
                  </a:lnTo>
                  <a:lnTo>
                    <a:pt x="2697835" y="1966328"/>
                  </a:lnTo>
                  <a:lnTo>
                    <a:pt x="2743555" y="1954085"/>
                  </a:lnTo>
                  <a:lnTo>
                    <a:pt x="2777032" y="1920608"/>
                  </a:lnTo>
                  <a:lnTo>
                    <a:pt x="2789275" y="1874888"/>
                  </a:lnTo>
                  <a:lnTo>
                    <a:pt x="2789251" y="91440"/>
                  </a:lnTo>
                  <a:lnTo>
                    <a:pt x="2777032" y="46088"/>
                  </a:lnTo>
                  <a:lnTo>
                    <a:pt x="2743555" y="12598"/>
                  </a:lnTo>
                  <a:lnTo>
                    <a:pt x="26978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54324" y="84095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4" h="196659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2697835" y="368"/>
                  </a:lnTo>
                  <a:lnTo>
                    <a:pt x="2743555" y="12598"/>
                  </a:lnTo>
                  <a:lnTo>
                    <a:pt x="2777032" y="46088"/>
                  </a:lnTo>
                  <a:lnTo>
                    <a:pt x="2789275" y="91808"/>
                  </a:lnTo>
                  <a:lnTo>
                    <a:pt x="2789275" y="1874888"/>
                  </a:lnTo>
                  <a:lnTo>
                    <a:pt x="2788477" y="1886888"/>
                  </a:lnTo>
                  <a:lnTo>
                    <a:pt x="2786126" y="1898553"/>
                  </a:lnTo>
                  <a:lnTo>
                    <a:pt x="2762594" y="1939637"/>
                  </a:lnTo>
                  <a:lnTo>
                    <a:pt x="2721505" y="1963178"/>
                  </a:lnTo>
                  <a:lnTo>
                    <a:pt x="2697835" y="1966328"/>
                  </a:lnTo>
                  <a:lnTo>
                    <a:pt x="91439" y="1966328"/>
                  </a:lnTo>
                  <a:lnTo>
                    <a:pt x="45719" y="1954085"/>
                  </a:lnTo>
                  <a:lnTo>
                    <a:pt x="12230" y="1920608"/>
                  </a:lnTo>
                  <a:lnTo>
                    <a:pt x="0" y="187488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54324" y="84095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4" h="53086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439204"/>
                  </a:lnTo>
                  <a:lnTo>
                    <a:pt x="798" y="451209"/>
                  </a:lnTo>
                  <a:lnTo>
                    <a:pt x="18830" y="494968"/>
                  </a:lnTo>
                  <a:lnTo>
                    <a:pt x="56505" y="523657"/>
                  </a:lnTo>
                  <a:lnTo>
                    <a:pt x="91439" y="530644"/>
                  </a:lnTo>
                  <a:lnTo>
                    <a:pt x="2697835" y="530644"/>
                  </a:lnTo>
                  <a:lnTo>
                    <a:pt x="2743555" y="518401"/>
                  </a:lnTo>
                  <a:lnTo>
                    <a:pt x="2777032" y="484924"/>
                  </a:lnTo>
                  <a:lnTo>
                    <a:pt x="2789275" y="439204"/>
                  </a:lnTo>
                  <a:lnTo>
                    <a:pt x="2789251" y="91440"/>
                  </a:lnTo>
                  <a:lnTo>
                    <a:pt x="2777032" y="46088"/>
                  </a:lnTo>
                  <a:lnTo>
                    <a:pt x="2743555" y="12598"/>
                  </a:lnTo>
                  <a:lnTo>
                    <a:pt x="26978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54324" y="84095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4" h="530860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2697835" y="368"/>
                  </a:lnTo>
                  <a:lnTo>
                    <a:pt x="2743555" y="12598"/>
                  </a:lnTo>
                  <a:lnTo>
                    <a:pt x="2777032" y="46088"/>
                  </a:lnTo>
                  <a:lnTo>
                    <a:pt x="2789275" y="91808"/>
                  </a:lnTo>
                  <a:lnTo>
                    <a:pt x="2789275" y="439204"/>
                  </a:lnTo>
                  <a:lnTo>
                    <a:pt x="2788477" y="451209"/>
                  </a:lnTo>
                  <a:lnTo>
                    <a:pt x="2786126" y="462873"/>
                  </a:lnTo>
                  <a:lnTo>
                    <a:pt x="2762594" y="503962"/>
                  </a:lnTo>
                  <a:lnTo>
                    <a:pt x="2721505" y="527494"/>
                  </a:lnTo>
                  <a:lnTo>
                    <a:pt x="2697835" y="530644"/>
                  </a:lnTo>
                  <a:lnTo>
                    <a:pt x="91439" y="530644"/>
                  </a:lnTo>
                  <a:lnTo>
                    <a:pt x="45719" y="518401"/>
                  </a:lnTo>
                  <a:lnTo>
                    <a:pt x="12230" y="484924"/>
                  </a:lnTo>
                  <a:lnTo>
                    <a:pt x="0" y="439204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54680" y="110628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30">
                  <a:moveTo>
                    <a:pt x="2788564" y="0"/>
                  </a:moveTo>
                  <a:lnTo>
                    <a:pt x="0" y="0"/>
                  </a:lnTo>
                  <a:lnTo>
                    <a:pt x="0" y="264960"/>
                  </a:lnTo>
                  <a:lnTo>
                    <a:pt x="1394282" y="264960"/>
                  </a:lnTo>
                  <a:lnTo>
                    <a:pt x="2788564" y="264960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154680" y="110628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30">
                  <a:moveTo>
                    <a:pt x="1394282" y="264960"/>
                  </a:moveTo>
                  <a:lnTo>
                    <a:pt x="0" y="264960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264960"/>
                  </a:lnTo>
                  <a:lnTo>
                    <a:pt x="1394282" y="264960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879265" y="999904"/>
            <a:ext cx="133921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-455" dirty="0">
                <a:solidFill>
                  <a:srgbClr val="FFFFFF"/>
                </a:solidFill>
                <a:latin typeface="MingLiU_HKSCS-ExtB"/>
                <a:cs typeface="MingLiU_HKSCS-ExtB"/>
              </a:rPr>
              <a:t>🛡️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T6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 Firewall Avanzado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41776" y="149066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84854" y="1508660"/>
            <a:ext cx="15627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14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reglas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iptables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segmentación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341776" y="1819696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84854" y="1837704"/>
            <a:ext cx="17532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NAT/MASQUERADE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para salida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internet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41776" y="2149096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84854" y="2167104"/>
            <a:ext cx="16351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Bloqueo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ICMP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desde</a:t>
            </a:r>
            <a:r>
              <a:rPr sz="850" spc="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cajero-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terminal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41776" y="24781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84854" y="2496136"/>
            <a:ext cx="17030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Reglas</a:t>
            </a:r>
            <a:r>
              <a:rPr sz="8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persistentes</a:t>
            </a:r>
            <a:r>
              <a:rPr sz="8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netfilter-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persistent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026759" y="759957"/>
            <a:ext cx="3005455" cy="2181860"/>
            <a:chOff x="6026759" y="759957"/>
            <a:chExt cx="3005455" cy="218186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26759" y="759957"/>
              <a:ext cx="3004921" cy="218160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107760" y="84095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4" h="1966595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1874888"/>
                  </a:lnTo>
                  <a:lnTo>
                    <a:pt x="798" y="1886888"/>
                  </a:lnTo>
                  <a:lnTo>
                    <a:pt x="18836" y="1930645"/>
                  </a:lnTo>
                  <a:lnTo>
                    <a:pt x="56505" y="1959341"/>
                  </a:lnTo>
                  <a:lnTo>
                    <a:pt x="91439" y="1966328"/>
                  </a:lnTo>
                  <a:lnTo>
                    <a:pt x="2697835" y="1966328"/>
                  </a:lnTo>
                  <a:lnTo>
                    <a:pt x="2743555" y="1954085"/>
                  </a:lnTo>
                  <a:lnTo>
                    <a:pt x="2777045" y="1920608"/>
                  </a:lnTo>
                  <a:lnTo>
                    <a:pt x="2789275" y="1874888"/>
                  </a:lnTo>
                  <a:lnTo>
                    <a:pt x="2789251" y="91440"/>
                  </a:lnTo>
                  <a:lnTo>
                    <a:pt x="2777045" y="46088"/>
                  </a:lnTo>
                  <a:lnTo>
                    <a:pt x="2743555" y="12598"/>
                  </a:lnTo>
                  <a:lnTo>
                    <a:pt x="26978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07760" y="84095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4" h="1966595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46" y="26690"/>
                  </a:lnTo>
                  <a:lnTo>
                    <a:pt x="68130" y="3149"/>
                  </a:lnTo>
                  <a:lnTo>
                    <a:pt x="91795" y="0"/>
                  </a:lnTo>
                  <a:lnTo>
                    <a:pt x="2697835" y="368"/>
                  </a:lnTo>
                  <a:lnTo>
                    <a:pt x="2743555" y="12598"/>
                  </a:lnTo>
                  <a:lnTo>
                    <a:pt x="2777045" y="46088"/>
                  </a:lnTo>
                  <a:lnTo>
                    <a:pt x="2789275" y="91808"/>
                  </a:lnTo>
                  <a:lnTo>
                    <a:pt x="2789275" y="1874888"/>
                  </a:lnTo>
                  <a:lnTo>
                    <a:pt x="2788477" y="1886888"/>
                  </a:lnTo>
                  <a:lnTo>
                    <a:pt x="2786127" y="1898553"/>
                  </a:lnTo>
                  <a:lnTo>
                    <a:pt x="2762596" y="1939637"/>
                  </a:lnTo>
                  <a:lnTo>
                    <a:pt x="2721509" y="1963178"/>
                  </a:lnTo>
                  <a:lnTo>
                    <a:pt x="2697835" y="1966328"/>
                  </a:lnTo>
                  <a:lnTo>
                    <a:pt x="91439" y="1966328"/>
                  </a:lnTo>
                  <a:lnTo>
                    <a:pt x="45720" y="1954085"/>
                  </a:lnTo>
                  <a:lnTo>
                    <a:pt x="12242" y="1920608"/>
                  </a:lnTo>
                  <a:lnTo>
                    <a:pt x="0" y="1874888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107760" y="84095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4" h="530860">
                  <a:moveTo>
                    <a:pt x="91795" y="0"/>
                  </a:moveTo>
                  <a:lnTo>
                    <a:pt x="46075" y="12242"/>
                  </a:lnTo>
                  <a:lnTo>
                    <a:pt x="12598" y="45720"/>
                  </a:lnTo>
                  <a:lnTo>
                    <a:pt x="355" y="91440"/>
                  </a:lnTo>
                  <a:lnTo>
                    <a:pt x="0" y="439204"/>
                  </a:lnTo>
                  <a:lnTo>
                    <a:pt x="798" y="451209"/>
                  </a:lnTo>
                  <a:lnTo>
                    <a:pt x="18836" y="494968"/>
                  </a:lnTo>
                  <a:lnTo>
                    <a:pt x="56505" y="523657"/>
                  </a:lnTo>
                  <a:lnTo>
                    <a:pt x="91439" y="530644"/>
                  </a:lnTo>
                  <a:lnTo>
                    <a:pt x="2697835" y="530644"/>
                  </a:lnTo>
                  <a:lnTo>
                    <a:pt x="2743555" y="518401"/>
                  </a:lnTo>
                  <a:lnTo>
                    <a:pt x="2777045" y="484924"/>
                  </a:lnTo>
                  <a:lnTo>
                    <a:pt x="2789275" y="439204"/>
                  </a:lnTo>
                  <a:lnTo>
                    <a:pt x="2789251" y="91440"/>
                  </a:lnTo>
                  <a:lnTo>
                    <a:pt x="2777045" y="46088"/>
                  </a:lnTo>
                  <a:lnTo>
                    <a:pt x="2743555" y="12598"/>
                  </a:lnTo>
                  <a:lnTo>
                    <a:pt x="26978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07760" y="84095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4" h="530860">
                  <a:moveTo>
                    <a:pt x="355" y="91440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46" y="26690"/>
                  </a:lnTo>
                  <a:lnTo>
                    <a:pt x="68130" y="3149"/>
                  </a:lnTo>
                  <a:lnTo>
                    <a:pt x="91795" y="0"/>
                  </a:lnTo>
                  <a:lnTo>
                    <a:pt x="2697835" y="368"/>
                  </a:lnTo>
                  <a:lnTo>
                    <a:pt x="2743555" y="12598"/>
                  </a:lnTo>
                  <a:lnTo>
                    <a:pt x="2777045" y="46088"/>
                  </a:lnTo>
                  <a:lnTo>
                    <a:pt x="2789275" y="91808"/>
                  </a:lnTo>
                  <a:lnTo>
                    <a:pt x="2789275" y="439204"/>
                  </a:lnTo>
                  <a:lnTo>
                    <a:pt x="2788477" y="451209"/>
                  </a:lnTo>
                  <a:lnTo>
                    <a:pt x="2786127" y="462873"/>
                  </a:lnTo>
                  <a:lnTo>
                    <a:pt x="2762596" y="503962"/>
                  </a:lnTo>
                  <a:lnTo>
                    <a:pt x="2721509" y="527494"/>
                  </a:lnTo>
                  <a:lnTo>
                    <a:pt x="2697835" y="530644"/>
                  </a:lnTo>
                  <a:lnTo>
                    <a:pt x="91439" y="530644"/>
                  </a:lnTo>
                  <a:lnTo>
                    <a:pt x="45720" y="518401"/>
                  </a:lnTo>
                  <a:lnTo>
                    <a:pt x="12242" y="484924"/>
                  </a:lnTo>
                  <a:lnTo>
                    <a:pt x="0" y="439204"/>
                  </a:lnTo>
                  <a:lnTo>
                    <a:pt x="355" y="91440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08115" y="110628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30">
                  <a:moveTo>
                    <a:pt x="2788564" y="0"/>
                  </a:moveTo>
                  <a:lnTo>
                    <a:pt x="0" y="0"/>
                  </a:lnTo>
                  <a:lnTo>
                    <a:pt x="0" y="264960"/>
                  </a:lnTo>
                  <a:lnTo>
                    <a:pt x="1394282" y="264960"/>
                  </a:lnTo>
                  <a:lnTo>
                    <a:pt x="2788564" y="264960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108115" y="110628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30">
                  <a:moveTo>
                    <a:pt x="1394282" y="264960"/>
                  </a:moveTo>
                  <a:lnTo>
                    <a:pt x="0" y="264960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264960"/>
                  </a:lnTo>
                  <a:lnTo>
                    <a:pt x="1394282" y="264960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886702" y="999904"/>
            <a:ext cx="122999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FFFFFF"/>
                </a:solidFill>
                <a:latin typeface="MingLiU_HKSCS-ExtB"/>
                <a:cs typeface="MingLiU_HKSCS-ExtB"/>
              </a:rPr>
              <a:t>🔑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T11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 Hardening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SSH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95225" y="149066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38302" y="1508660"/>
            <a:ext cx="11423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Puerto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no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estándar: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2222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295225" y="1819696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38302" y="1837704"/>
            <a:ext cx="14357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Claves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ed25519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(sin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contraseña)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95225" y="2149096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38302" y="2167104"/>
            <a:ext cx="163385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PermitRootLogin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no,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MaxAuthTries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50" dirty="0">
                <a:solidFill>
                  <a:srgbClr val="E7EFFF"/>
                </a:solidFill>
                <a:latin typeface="Calibri"/>
                <a:cs typeface="Calibri"/>
              </a:rPr>
              <a:t>3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295225" y="24781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638302" y="2496136"/>
            <a:ext cx="136525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Solo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accesible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desde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router-fw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19875" y="2863077"/>
            <a:ext cx="3005455" cy="2181860"/>
            <a:chOff x="119875" y="2863077"/>
            <a:chExt cx="3005455" cy="2181860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2863077"/>
              <a:ext cx="3004921" cy="2181606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00875" y="294407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5" h="196659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874888"/>
                  </a:lnTo>
                  <a:lnTo>
                    <a:pt x="798" y="1886888"/>
                  </a:lnTo>
                  <a:lnTo>
                    <a:pt x="18843" y="1930645"/>
                  </a:lnTo>
                  <a:lnTo>
                    <a:pt x="56512" y="1959341"/>
                  </a:lnTo>
                  <a:lnTo>
                    <a:pt x="91439" y="1966328"/>
                  </a:lnTo>
                  <a:lnTo>
                    <a:pt x="2697848" y="1966328"/>
                  </a:lnTo>
                  <a:lnTo>
                    <a:pt x="2743568" y="1954085"/>
                  </a:lnTo>
                  <a:lnTo>
                    <a:pt x="2777045" y="1920608"/>
                  </a:lnTo>
                  <a:lnTo>
                    <a:pt x="2789288" y="1874888"/>
                  </a:lnTo>
                  <a:lnTo>
                    <a:pt x="2789263" y="91439"/>
                  </a:lnTo>
                  <a:lnTo>
                    <a:pt x="2777045" y="46088"/>
                  </a:lnTo>
                  <a:lnTo>
                    <a:pt x="2743568" y="12598"/>
                  </a:lnTo>
                  <a:lnTo>
                    <a:pt x="269784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00875" y="294407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5" h="1966595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697848" y="368"/>
                  </a:lnTo>
                  <a:lnTo>
                    <a:pt x="2743568" y="12598"/>
                  </a:lnTo>
                  <a:lnTo>
                    <a:pt x="2777045" y="46088"/>
                  </a:lnTo>
                  <a:lnTo>
                    <a:pt x="2789288" y="91808"/>
                  </a:lnTo>
                  <a:lnTo>
                    <a:pt x="2789288" y="1874888"/>
                  </a:lnTo>
                  <a:lnTo>
                    <a:pt x="2788489" y="1886888"/>
                  </a:lnTo>
                  <a:lnTo>
                    <a:pt x="2786138" y="1898553"/>
                  </a:lnTo>
                  <a:lnTo>
                    <a:pt x="2762597" y="1939637"/>
                  </a:lnTo>
                  <a:lnTo>
                    <a:pt x="2721513" y="1963178"/>
                  </a:lnTo>
                  <a:lnTo>
                    <a:pt x="2697848" y="1966328"/>
                  </a:lnTo>
                  <a:lnTo>
                    <a:pt x="91439" y="1966328"/>
                  </a:lnTo>
                  <a:lnTo>
                    <a:pt x="45720" y="1954085"/>
                  </a:lnTo>
                  <a:lnTo>
                    <a:pt x="12242" y="1920608"/>
                  </a:lnTo>
                  <a:lnTo>
                    <a:pt x="0" y="187488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00875" y="294407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5" h="53086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39204"/>
                  </a:lnTo>
                  <a:lnTo>
                    <a:pt x="798" y="451209"/>
                  </a:lnTo>
                  <a:lnTo>
                    <a:pt x="18843" y="494968"/>
                  </a:lnTo>
                  <a:lnTo>
                    <a:pt x="56512" y="523657"/>
                  </a:lnTo>
                  <a:lnTo>
                    <a:pt x="91439" y="530644"/>
                  </a:lnTo>
                  <a:lnTo>
                    <a:pt x="2697848" y="530644"/>
                  </a:lnTo>
                  <a:lnTo>
                    <a:pt x="2743568" y="518401"/>
                  </a:lnTo>
                  <a:lnTo>
                    <a:pt x="2777045" y="484924"/>
                  </a:lnTo>
                  <a:lnTo>
                    <a:pt x="2789288" y="439204"/>
                  </a:lnTo>
                  <a:lnTo>
                    <a:pt x="2789263" y="91439"/>
                  </a:lnTo>
                  <a:lnTo>
                    <a:pt x="2777045" y="46088"/>
                  </a:lnTo>
                  <a:lnTo>
                    <a:pt x="2743568" y="12598"/>
                  </a:lnTo>
                  <a:lnTo>
                    <a:pt x="2697848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200875" y="294407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5" h="530860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697848" y="368"/>
                  </a:lnTo>
                  <a:lnTo>
                    <a:pt x="2743568" y="12598"/>
                  </a:lnTo>
                  <a:lnTo>
                    <a:pt x="2777045" y="46088"/>
                  </a:lnTo>
                  <a:lnTo>
                    <a:pt x="2789288" y="91808"/>
                  </a:lnTo>
                  <a:lnTo>
                    <a:pt x="2789288" y="439204"/>
                  </a:lnTo>
                  <a:lnTo>
                    <a:pt x="2788489" y="451209"/>
                  </a:lnTo>
                  <a:lnTo>
                    <a:pt x="2786138" y="462873"/>
                  </a:lnTo>
                  <a:lnTo>
                    <a:pt x="2762597" y="503962"/>
                  </a:lnTo>
                  <a:lnTo>
                    <a:pt x="2721513" y="527494"/>
                  </a:lnTo>
                  <a:lnTo>
                    <a:pt x="2697848" y="530644"/>
                  </a:lnTo>
                  <a:lnTo>
                    <a:pt x="91439" y="530644"/>
                  </a:lnTo>
                  <a:lnTo>
                    <a:pt x="45720" y="518401"/>
                  </a:lnTo>
                  <a:lnTo>
                    <a:pt x="12242" y="484924"/>
                  </a:lnTo>
                  <a:lnTo>
                    <a:pt x="0" y="43920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01244" y="320940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29">
                  <a:moveTo>
                    <a:pt x="2788551" y="0"/>
                  </a:moveTo>
                  <a:lnTo>
                    <a:pt x="0" y="0"/>
                  </a:lnTo>
                  <a:lnTo>
                    <a:pt x="0" y="264960"/>
                  </a:lnTo>
                  <a:lnTo>
                    <a:pt x="1394269" y="264960"/>
                  </a:lnTo>
                  <a:lnTo>
                    <a:pt x="2788551" y="264960"/>
                  </a:lnTo>
                  <a:lnTo>
                    <a:pt x="2788551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01244" y="320940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29">
                  <a:moveTo>
                    <a:pt x="1394269" y="264960"/>
                  </a:moveTo>
                  <a:lnTo>
                    <a:pt x="0" y="264960"/>
                  </a:lnTo>
                  <a:lnTo>
                    <a:pt x="0" y="0"/>
                  </a:lnTo>
                  <a:lnTo>
                    <a:pt x="2788551" y="0"/>
                  </a:lnTo>
                  <a:lnTo>
                    <a:pt x="2788551" y="264960"/>
                  </a:lnTo>
                  <a:lnTo>
                    <a:pt x="1394269" y="264960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052537" y="3103024"/>
            <a:ext cx="108585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FFFFFF"/>
                </a:solidFill>
                <a:latin typeface="MingLiU_HKSCS-ExtB"/>
                <a:cs typeface="MingLiU_HKSCS-ExtB"/>
              </a:rPr>
              <a:t>🔐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T12</a:t>
            </a:r>
            <a:r>
              <a:rPr sz="9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TLS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HTTPS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88340" y="359378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31418" y="3611780"/>
            <a:ext cx="151003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Certificado autofirmado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RSA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2048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88340" y="3922815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31418" y="3940824"/>
            <a:ext cx="111315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TLS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1.2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y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1.3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únicamente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88340" y="4252216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31418" y="4270224"/>
            <a:ext cx="14732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Redirección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HTTP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→ HTTPS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(301)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88340" y="4581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31418" y="4599256"/>
            <a:ext cx="173926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Portal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bancario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cifrado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completamente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073323" y="2863077"/>
            <a:ext cx="3005455" cy="2181860"/>
            <a:chOff x="3073323" y="2863077"/>
            <a:chExt cx="3005455" cy="2181860"/>
          </a:xfrm>
        </p:grpSpPr>
        <p:pic>
          <p:nvPicPr>
            <p:cNvPr id="72" name="object 7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73323" y="2863077"/>
              <a:ext cx="3004921" cy="218160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3154324" y="294407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4" h="196659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1874888"/>
                  </a:lnTo>
                  <a:lnTo>
                    <a:pt x="798" y="1886888"/>
                  </a:lnTo>
                  <a:lnTo>
                    <a:pt x="18830" y="1930645"/>
                  </a:lnTo>
                  <a:lnTo>
                    <a:pt x="56505" y="1959341"/>
                  </a:lnTo>
                  <a:lnTo>
                    <a:pt x="91439" y="1966328"/>
                  </a:lnTo>
                  <a:lnTo>
                    <a:pt x="2697835" y="1966328"/>
                  </a:lnTo>
                  <a:lnTo>
                    <a:pt x="2743555" y="1954085"/>
                  </a:lnTo>
                  <a:lnTo>
                    <a:pt x="2777032" y="1920608"/>
                  </a:lnTo>
                  <a:lnTo>
                    <a:pt x="2789275" y="1874888"/>
                  </a:lnTo>
                  <a:lnTo>
                    <a:pt x="2789251" y="91439"/>
                  </a:lnTo>
                  <a:lnTo>
                    <a:pt x="2777032" y="46088"/>
                  </a:lnTo>
                  <a:lnTo>
                    <a:pt x="2743555" y="12598"/>
                  </a:lnTo>
                  <a:lnTo>
                    <a:pt x="26978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154324" y="294407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4" h="1966595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2697835" y="368"/>
                  </a:lnTo>
                  <a:lnTo>
                    <a:pt x="2743555" y="12598"/>
                  </a:lnTo>
                  <a:lnTo>
                    <a:pt x="2777032" y="46088"/>
                  </a:lnTo>
                  <a:lnTo>
                    <a:pt x="2789275" y="91808"/>
                  </a:lnTo>
                  <a:lnTo>
                    <a:pt x="2789275" y="1874888"/>
                  </a:lnTo>
                  <a:lnTo>
                    <a:pt x="2788477" y="1886888"/>
                  </a:lnTo>
                  <a:lnTo>
                    <a:pt x="2786126" y="1898553"/>
                  </a:lnTo>
                  <a:lnTo>
                    <a:pt x="2762594" y="1939637"/>
                  </a:lnTo>
                  <a:lnTo>
                    <a:pt x="2721505" y="1963178"/>
                  </a:lnTo>
                  <a:lnTo>
                    <a:pt x="2697835" y="1966328"/>
                  </a:lnTo>
                  <a:lnTo>
                    <a:pt x="91439" y="1966328"/>
                  </a:lnTo>
                  <a:lnTo>
                    <a:pt x="45719" y="1954085"/>
                  </a:lnTo>
                  <a:lnTo>
                    <a:pt x="12230" y="1920608"/>
                  </a:lnTo>
                  <a:lnTo>
                    <a:pt x="0" y="1874888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154324" y="294407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4" h="530860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439204"/>
                  </a:lnTo>
                  <a:lnTo>
                    <a:pt x="798" y="451209"/>
                  </a:lnTo>
                  <a:lnTo>
                    <a:pt x="18830" y="494968"/>
                  </a:lnTo>
                  <a:lnTo>
                    <a:pt x="56505" y="523657"/>
                  </a:lnTo>
                  <a:lnTo>
                    <a:pt x="91439" y="530644"/>
                  </a:lnTo>
                  <a:lnTo>
                    <a:pt x="2697835" y="530644"/>
                  </a:lnTo>
                  <a:lnTo>
                    <a:pt x="2743555" y="518401"/>
                  </a:lnTo>
                  <a:lnTo>
                    <a:pt x="2777032" y="484924"/>
                  </a:lnTo>
                  <a:lnTo>
                    <a:pt x="2789275" y="439204"/>
                  </a:lnTo>
                  <a:lnTo>
                    <a:pt x="2789251" y="91439"/>
                  </a:lnTo>
                  <a:lnTo>
                    <a:pt x="2777032" y="46088"/>
                  </a:lnTo>
                  <a:lnTo>
                    <a:pt x="2743555" y="12598"/>
                  </a:lnTo>
                  <a:lnTo>
                    <a:pt x="26978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154324" y="294407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4" h="53086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36" y="26690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2697835" y="368"/>
                  </a:lnTo>
                  <a:lnTo>
                    <a:pt x="2743555" y="12598"/>
                  </a:lnTo>
                  <a:lnTo>
                    <a:pt x="2777032" y="46088"/>
                  </a:lnTo>
                  <a:lnTo>
                    <a:pt x="2789275" y="91808"/>
                  </a:lnTo>
                  <a:lnTo>
                    <a:pt x="2789275" y="439204"/>
                  </a:lnTo>
                  <a:lnTo>
                    <a:pt x="2788477" y="451209"/>
                  </a:lnTo>
                  <a:lnTo>
                    <a:pt x="2786126" y="462873"/>
                  </a:lnTo>
                  <a:lnTo>
                    <a:pt x="2762594" y="503962"/>
                  </a:lnTo>
                  <a:lnTo>
                    <a:pt x="2721505" y="527494"/>
                  </a:lnTo>
                  <a:lnTo>
                    <a:pt x="2697835" y="530644"/>
                  </a:lnTo>
                  <a:lnTo>
                    <a:pt x="91439" y="530644"/>
                  </a:lnTo>
                  <a:lnTo>
                    <a:pt x="45719" y="518401"/>
                  </a:lnTo>
                  <a:lnTo>
                    <a:pt x="12230" y="484924"/>
                  </a:lnTo>
                  <a:lnTo>
                    <a:pt x="0" y="43920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154680" y="320940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29">
                  <a:moveTo>
                    <a:pt x="2788564" y="0"/>
                  </a:moveTo>
                  <a:lnTo>
                    <a:pt x="0" y="0"/>
                  </a:lnTo>
                  <a:lnTo>
                    <a:pt x="0" y="264960"/>
                  </a:lnTo>
                  <a:lnTo>
                    <a:pt x="1394282" y="264960"/>
                  </a:lnTo>
                  <a:lnTo>
                    <a:pt x="2788564" y="264960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3154680" y="320940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29">
                  <a:moveTo>
                    <a:pt x="1394282" y="264960"/>
                  </a:moveTo>
                  <a:lnTo>
                    <a:pt x="0" y="264960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264960"/>
                  </a:lnTo>
                  <a:lnTo>
                    <a:pt x="1394282" y="264960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3924262" y="3103024"/>
            <a:ext cx="124777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FFFFFF"/>
                </a:solidFill>
                <a:latin typeface="MingLiU_HKSCS-ExtB"/>
                <a:cs typeface="MingLiU_HKSCS-ExtB"/>
              </a:rPr>
              <a:t>🚨</a:t>
            </a:r>
            <a:r>
              <a:rPr sz="1100" spc="-260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T13</a:t>
            </a:r>
            <a:r>
              <a:rPr sz="9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Fail2ban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 Logs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341776" y="359378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684854" y="3611780"/>
            <a:ext cx="15335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Fail2ban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router-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fw y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siem-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audit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341776" y="3922815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684854" y="3940824"/>
            <a:ext cx="13944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rsyslog</a:t>
            </a:r>
            <a:r>
              <a:rPr sz="8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centralizado</a:t>
            </a:r>
            <a:r>
              <a:rPr sz="8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puerto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514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341776" y="4252216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684854" y="4270224"/>
            <a:ext cx="15113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Logs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separados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por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VM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hostname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341776" y="4581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684854" y="4599256"/>
            <a:ext cx="15494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Banea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tras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3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intentos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 5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minutos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6026759" y="2863077"/>
            <a:ext cx="3005455" cy="2181860"/>
            <a:chOff x="6026759" y="2863077"/>
            <a:chExt cx="3005455" cy="2181860"/>
          </a:xfrm>
        </p:grpSpPr>
        <p:pic>
          <p:nvPicPr>
            <p:cNvPr id="89" name="object 8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26759" y="2863077"/>
              <a:ext cx="3004921" cy="2181606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6107760" y="294407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4" h="196659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1874888"/>
                  </a:lnTo>
                  <a:lnTo>
                    <a:pt x="798" y="1886888"/>
                  </a:lnTo>
                  <a:lnTo>
                    <a:pt x="18836" y="1930645"/>
                  </a:lnTo>
                  <a:lnTo>
                    <a:pt x="56505" y="1959341"/>
                  </a:lnTo>
                  <a:lnTo>
                    <a:pt x="91439" y="1966328"/>
                  </a:lnTo>
                  <a:lnTo>
                    <a:pt x="2697835" y="1966328"/>
                  </a:lnTo>
                  <a:lnTo>
                    <a:pt x="2743555" y="1954085"/>
                  </a:lnTo>
                  <a:lnTo>
                    <a:pt x="2777045" y="1920608"/>
                  </a:lnTo>
                  <a:lnTo>
                    <a:pt x="2789275" y="1874888"/>
                  </a:lnTo>
                  <a:lnTo>
                    <a:pt x="2789251" y="91439"/>
                  </a:lnTo>
                  <a:lnTo>
                    <a:pt x="2777045" y="46088"/>
                  </a:lnTo>
                  <a:lnTo>
                    <a:pt x="2743555" y="12598"/>
                  </a:lnTo>
                  <a:lnTo>
                    <a:pt x="26978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107760" y="2944077"/>
              <a:ext cx="2789555" cy="1966595"/>
            </a:xfrm>
            <a:custGeom>
              <a:avLst/>
              <a:gdLst/>
              <a:ahLst/>
              <a:cxnLst/>
              <a:rect l="l" t="t" r="r" b="b"/>
              <a:pathLst>
                <a:path w="2789554" h="1966595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46" y="26690"/>
                  </a:lnTo>
                  <a:lnTo>
                    <a:pt x="68130" y="3149"/>
                  </a:lnTo>
                  <a:lnTo>
                    <a:pt x="91795" y="0"/>
                  </a:lnTo>
                  <a:lnTo>
                    <a:pt x="2697835" y="368"/>
                  </a:lnTo>
                  <a:lnTo>
                    <a:pt x="2743555" y="12598"/>
                  </a:lnTo>
                  <a:lnTo>
                    <a:pt x="2777045" y="46088"/>
                  </a:lnTo>
                  <a:lnTo>
                    <a:pt x="2789275" y="91808"/>
                  </a:lnTo>
                  <a:lnTo>
                    <a:pt x="2789275" y="1874888"/>
                  </a:lnTo>
                  <a:lnTo>
                    <a:pt x="2788477" y="1886888"/>
                  </a:lnTo>
                  <a:lnTo>
                    <a:pt x="2786127" y="1898553"/>
                  </a:lnTo>
                  <a:lnTo>
                    <a:pt x="2762596" y="1939637"/>
                  </a:lnTo>
                  <a:lnTo>
                    <a:pt x="2721509" y="1963178"/>
                  </a:lnTo>
                  <a:lnTo>
                    <a:pt x="2697835" y="1966328"/>
                  </a:lnTo>
                  <a:lnTo>
                    <a:pt x="91439" y="1966328"/>
                  </a:lnTo>
                  <a:lnTo>
                    <a:pt x="45720" y="1954085"/>
                  </a:lnTo>
                  <a:lnTo>
                    <a:pt x="12242" y="1920608"/>
                  </a:lnTo>
                  <a:lnTo>
                    <a:pt x="0" y="1874888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107760" y="294407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4" h="530860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439204"/>
                  </a:lnTo>
                  <a:lnTo>
                    <a:pt x="798" y="451209"/>
                  </a:lnTo>
                  <a:lnTo>
                    <a:pt x="18836" y="494968"/>
                  </a:lnTo>
                  <a:lnTo>
                    <a:pt x="56505" y="523657"/>
                  </a:lnTo>
                  <a:lnTo>
                    <a:pt x="91439" y="530644"/>
                  </a:lnTo>
                  <a:lnTo>
                    <a:pt x="2697835" y="530644"/>
                  </a:lnTo>
                  <a:lnTo>
                    <a:pt x="2743555" y="518401"/>
                  </a:lnTo>
                  <a:lnTo>
                    <a:pt x="2777045" y="484924"/>
                  </a:lnTo>
                  <a:lnTo>
                    <a:pt x="2789275" y="439204"/>
                  </a:lnTo>
                  <a:lnTo>
                    <a:pt x="2789251" y="91439"/>
                  </a:lnTo>
                  <a:lnTo>
                    <a:pt x="2777045" y="46088"/>
                  </a:lnTo>
                  <a:lnTo>
                    <a:pt x="2743555" y="12598"/>
                  </a:lnTo>
                  <a:lnTo>
                    <a:pt x="2697835" y="368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107760" y="2944077"/>
              <a:ext cx="2789555" cy="530860"/>
            </a:xfrm>
            <a:custGeom>
              <a:avLst/>
              <a:gdLst/>
              <a:ahLst/>
              <a:cxnLst/>
              <a:rect l="l" t="t" r="r" b="b"/>
              <a:pathLst>
                <a:path w="2789554" h="530860">
                  <a:moveTo>
                    <a:pt x="355" y="91439"/>
                  </a:moveTo>
                  <a:lnTo>
                    <a:pt x="1154" y="79440"/>
                  </a:lnTo>
                  <a:lnTo>
                    <a:pt x="3505" y="67775"/>
                  </a:lnTo>
                  <a:lnTo>
                    <a:pt x="27046" y="26690"/>
                  </a:lnTo>
                  <a:lnTo>
                    <a:pt x="68130" y="3149"/>
                  </a:lnTo>
                  <a:lnTo>
                    <a:pt x="91795" y="0"/>
                  </a:lnTo>
                  <a:lnTo>
                    <a:pt x="2697835" y="368"/>
                  </a:lnTo>
                  <a:lnTo>
                    <a:pt x="2743555" y="12598"/>
                  </a:lnTo>
                  <a:lnTo>
                    <a:pt x="2777045" y="46088"/>
                  </a:lnTo>
                  <a:lnTo>
                    <a:pt x="2789275" y="91808"/>
                  </a:lnTo>
                  <a:lnTo>
                    <a:pt x="2789275" y="439204"/>
                  </a:lnTo>
                  <a:lnTo>
                    <a:pt x="2788477" y="451209"/>
                  </a:lnTo>
                  <a:lnTo>
                    <a:pt x="2786127" y="462873"/>
                  </a:lnTo>
                  <a:lnTo>
                    <a:pt x="2762596" y="503962"/>
                  </a:lnTo>
                  <a:lnTo>
                    <a:pt x="2721509" y="527494"/>
                  </a:lnTo>
                  <a:lnTo>
                    <a:pt x="2697835" y="530644"/>
                  </a:lnTo>
                  <a:lnTo>
                    <a:pt x="91439" y="530644"/>
                  </a:lnTo>
                  <a:lnTo>
                    <a:pt x="45720" y="518401"/>
                  </a:lnTo>
                  <a:lnTo>
                    <a:pt x="12242" y="484924"/>
                  </a:lnTo>
                  <a:lnTo>
                    <a:pt x="0" y="439204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108115" y="320940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29">
                  <a:moveTo>
                    <a:pt x="2788564" y="0"/>
                  </a:moveTo>
                  <a:lnTo>
                    <a:pt x="0" y="0"/>
                  </a:lnTo>
                  <a:lnTo>
                    <a:pt x="0" y="264960"/>
                  </a:lnTo>
                  <a:lnTo>
                    <a:pt x="1394282" y="264960"/>
                  </a:lnTo>
                  <a:lnTo>
                    <a:pt x="2788564" y="264960"/>
                  </a:lnTo>
                  <a:lnTo>
                    <a:pt x="2788564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108115" y="3209406"/>
              <a:ext cx="2788920" cy="265430"/>
            </a:xfrm>
            <a:custGeom>
              <a:avLst/>
              <a:gdLst/>
              <a:ahLst/>
              <a:cxnLst/>
              <a:rect l="l" t="t" r="r" b="b"/>
              <a:pathLst>
                <a:path w="2788920" h="265429">
                  <a:moveTo>
                    <a:pt x="1394282" y="264960"/>
                  </a:moveTo>
                  <a:lnTo>
                    <a:pt x="0" y="264960"/>
                  </a:lnTo>
                  <a:lnTo>
                    <a:pt x="0" y="0"/>
                  </a:lnTo>
                  <a:lnTo>
                    <a:pt x="2788564" y="0"/>
                  </a:lnTo>
                  <a:lnTo>
                    <a:pt x="2788564" y="264960"/>
                  </a:lnTo>
                  <a:lnTo>
                    <a:pt x="1394282" y="264960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6701663" y="3103024"/>
            <a:ext cx="159893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95" dirty="0">
                <a:solidFill>
                  <a:srgbClr val="FFFFFF"/>
                </a:solidFill>
                <a:latin typeface="MingLiU_HKSCS-ExtB"/>
                <a:cs typeface="MingLiU_HKSCS-ExtB"/>
              </a:rPr>
              <a:t>📊</a:t>
            </a:r>
            <a:r>
              <a:rPr sz="1100" spc="-254" dirty="0">
                <a:solidFill>
                  <a:srgbClr val="FFFFFF"/>
                </a:solidFill>
                <a:latin typeface="MingLiU_HKSCS-ExtB"/>
                <a:cs typeface="MingLiU_HKSCS-ExtB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T14-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15 ·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Auditoría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 +</a:t>
            </a:r>
            <a:r>
              <a:rPr sz="9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6295225" y="359378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638302" y="3611780"/>
            <a:ext cx="148780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Script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bash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automático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cada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hora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295225" y="3922815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638302" y="3940824"/>
            <a:ext cx="15665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Reporte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5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fases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al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detectar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ataques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6295225" y="4252216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638302" y="4270224"/>
            <a:ext cx="12369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Backup diario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las 2:00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AM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295225" y="4581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638302" y="4599256"/>
            <a:ext cx="10420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Cifrado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GPG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asimétrico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475" dirty="0">
                <a:solidFill>
                  <a:srgbClr val="000000"/>
                </a:solidFill>
                <a:latin typeface="MingLiU_HKSCS-ExtB"/>
                <a:cs typeface="MingLiU_HKSCS-ExtB"/>
              </a:rPr>
              <a:t>🌐</a:t>
            </a:r>
            <a:r>
              <a:rPr sz="2800" b="0" spc="280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97" baseline="1322" dirty="0"/>
              <a:t>DISEÑO</a:t>
            </a:r>
            <a:r>
              <a:rPr sz="3150" spc="345" baseline="1322" dirty="0"/>
              <a:t> </a:t>
            </a:r>
            <a:r>
              <a:rPr sz="3150" baseline="1322" dirty="0"/>
              <a:t>DE</a:t>
            </a:r>
            <a:r>
              <a:rPr sz="3150" spc="330" baseline="1322" dirty="0"/>
              <a:t> </a:t>
            </a:r>
            <a:r>
              <a:rPr sz="3150" baseline="1322" dirty="0"/>
              <a:t>LA</a:t>
            </a:r>
            <a:r>
              <a:rPr sz="3150" spc="345" baseline="1322" dirty="0"/>
              <a:t> </a:t>
            </a:r>
            <a:r>
              <a:rPr sz="3150" spc="89" baseline="1322" dirty="0"/>
              <a:t>INFRAESTRUCTURA</a:t>
            </a:r>
            <a:endParaRPr sz="3150" baseline="1322">
              <a:latin typeface="MingLiU_HKSCS-ExtB"/>
              <a:cs typeface="MingLiU_HKSCS-ExtB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468064" y="706502"/>
            <a:ext cx="2207260" cy="469900"/>
            <a:chOff x="3468064" y="706502"/>
            <a:chExt cx="2207260" cy="469900"/>
          </a:xfrm>
        </p:grpSpPr>
        <p:sp>
          <p:nvSpPr>
            <p:cNvPr id="4" name="object 4"/>
            <p:cNvSpPr/>
            <p:nvPr/>
          </p:nvSpPr>
          <p:spPr>
            <a:xfrm>
              <a:off x="3474364" y="712802"/>
              <a:ext cx="2194560" cy="457200"/>
            </a:xfrm>
            <a:custGeom>
              <a:avLst/>
              <a:gdLst/>
              <a:ahLst/>
              <a:cxnLst/>
              <a:rect l="l" t="t" r="r" b="b"/>
              <a:pathLst>
                <a:path w="2194560" h="457200">
                  <a:moveTo>
                    <a:pt x="21211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84124"/>
                  </a:lnTo>
                  <a:lnTo>
                    <a:pt x="15091" y="428494"/>
                  </a:lnTo>
                  <a:lnTo>
                    <a:pt x="54041" y="454771"/>
                  </a:lnTo>
                  <a:lnTo>
                    <a:pt x="73075" y="457200"/>
                  </a:lnTo>
                  <a:lnTo>
                    <a:pt x="2121471" y="456844"/>
                  </a:lnTo>
                  <a:lnTo>
                    <a:pt x="2165849" y="441740"/>
                  </a:lnTo>
                  <a:lnTo>
                    <a:pt x="2192069" y="402975"/>
                  </a:lnTo>
                  <a:lnTo>
                    <a:pt x="2194560" y="383755"/>
                  </a:lnTo>
                  <a:lnTo>
                    <a:pt x="2194191" y="73075"/>
                  </a:lnTo>
                  <a:lnTo>
                    <a:pt x="2179100" y="28705"/>
                  </a:lnTo>
                  <a:lnTo>
                    <a:pt x="2140150" y="2428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0C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74364" y="712802"/>
              <a:ext cx="2194560" cy="457200"/>
            </a:xfrm>
            <a:custGeom>
              <a:avLst/>
              <a:gdLst/>
              <a:ahLst/>
              <a:cxnLst/>
              <a:rect l="l" t="t" r="r" b="b"/>
              <a:pathLst>
                <a:path w="2194560" h="4572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121115" y="0"/>
                  </a:lnTo>
                  <a:lnTo>
                    <a:pt x="2165643" y="15104"/>
                  </a:lnTo>
                  <a:lnTo>
                    <a:pt x="2191762" y="54224"/>
                  </a:lnTo>
                  <a:lnTo>
                    <a:pt x="2194191" y="73075"/>
                  </a:lnTo>
                  <a:lnTo>
                    <a:pt x="2194560" y="383755"/>
                  </a:lnTo>
                  <a:lnTo>
                    <a:pt x="2193952" y="393395"/>
                  </a:lnTo>
                  <a:lnTo>
                    <a:pt x="2192129" y="402796"/>
                  </a:lnTo>
                  <a:lnTo>
                    <a:pt x="2165849" y="441740"/>
                  </a:lnTo>
                  <a:lnTo>
                    <a:pt x="2121471" y="456844"/>
                  </a:lnTo>
                  <a:lnTo>
                    <a:pt x="73075" y="457200"/>
                  </a:lnTo>
                  <a:lnTo>
                    <a:pt x="28548" y="442095"/>
                  </a:lnTo>
                  <a:lnTo>
                    <a:pt x="2428" y="402975"/>
                  </a:lnTo>
                  <a:lnTo>
                    <a:pt x="0" y="38412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92104" y="829926"/>
            <a:ext cx="75882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215" dirty="0">
                <a:solidFill>
                  <a:srgbClr val="499DFF"/>
                </a:solidFill>
                <a:latin typeface="MingLiU_HKSCS-ExtB"/>
                <a:cs typeface="MingLiU_HKSCS-ExtB"/>
              </a:rPr>
              <a:t>🌍</a:t>
            </a:r>
            <a:r>
              <a:rPr sz="1150" spc="-270" dirty="0">
                <a:solidFill>
                  <a:srgbClr val="499DFF"/>
                </a:solidFill>
                <a:latin typeface="MingLiU_HKSCS-ExtB"/>
                <a:cs typeface="MingLiU_HKSCS-ExtB"/>
              </a:rPr>
              <a:t> </a:t>
            </a:r>
            <a:r>
              <a:rPr sz="1000" b="1" spc="-10" dirty="0">
                <a:solidFill>
                  <a:srgbClr val="499DFF"/>
                </a:solidFill>
                <a:latin typeface="Calibri"/>
                <a:cs typeface="Calibri"/>
              </a:rPr>
              <a:t>INTERNET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02304" y="1346582"/>
            <a:ext cx="2938780" cy="469900"/>
            <a:chOff x="3102304" y="1346582"/>
            <a:chExt cx="2938780" cy="469900"/>
          </a:xfrm>
        </p:grpSpPr>
        <p:sp>
          <p:nvSpPr>
            <p:cNvPr id="8" name="object 8"/>
            <p:cNvSpPr/>
            <p:nvPr/>
          </p:nvSpPr>
          <p:spPr>
            <a:xfrm>
              <a:off x="3108604" y="1352882"/>
              <a:ext cx="2926080" cy="457200"/>
            </a:xfrm>
            <a:custGeom>
              <a:avLst/>
              <a:gdLst/>
              <a:ahLst/>
              <a:cxnLst/>
              <a:rect l="l" t="t" r="r" b="b"/>
              <a:pathLst>
                <a:path w="2926079" h="457200">
                  <a:moveTo>
                    <a:pt x="285263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84124"/>
                  </a:lnTo>
                  <a:lnTo>
                    <a:pt x="5412" y="411859"/>
                  </a:lnTo>
                  <a:lnTo>
                    <a:pt x="5464" y="412015"/>
                  </a:lnTo>
                  <a:lnTo>
                    <a:pt x="36360" y="447484"/>
                  </a:lnTo>
                  <a:lnTo>
                    <a:pt x="73075" y="457200"/>
                  </a:lnTo>
                  <a:lnTo>
                    <a:pt x="2852991" y="456844"/>
                  </a:lnTo>
                  <a:lnTo>
                    <a:pt x="2897369" y="441740"/>
                  </a:lnTo>
                  <a:lnTo>
                    <a:pt x="2923589" y="402975"/>
                  </a:lnTo>
                  <a:lnTo>
                    <a:pt x="2926080" y="383755"/>
                  </a:lnTo>
                  <a:lnTo>
                    <a:pt x="2925711" y="73075"/>
                  </a:lnTo>
                  <a:lnTo>
                    <a:pt x="2910620" y="28705"/>
                  </a:lnTo>
                  <a:lnTo>
                    <a:pt x="2871670" y="2428"/>
                  </a:lnTo>
                  <a:lnTo>
                    <a:pt x="2862269" y="607"/>
                  </a:lnTo>
                  <a:lnTo>
                    <a:pt x="2852635" y="0"/>
                  </a:lnTo>
                  <a:close/>
                </a:path>
              </a:pathLst>
            </a:custGeom>
            <a:solidFill>
              <a:srgbClr val="190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8604" y="1352882"/>
              <a:ext cx="2926080" cy="457200"/>
            </a:xfrm>
            <a:custGeom>
              <a:avLst/>
              <a:gdLst/>
              <a:ahLst/>
              <a:cxnLst/>
              <a:rect l="l" t="t" r="r" b="b"/>
              <a:pathLst>
                <a:path w="2926079" h="457200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852635" y="0"/>
                  </a:lnTo>
                  <a:lnTo>
                    <a:pt x="2897163" y="15104"/>
                  </a:lnTo>
                  <a:lnTo>
                    <a:pt x="2923282" y="54224"/>
                  </a:lnTo>
                  <a:lnTo>
                    <a:pt x="2925711" y="73075"/>
                  </a:lnTo>
                  <a:lnTo>
                    <a:pt x="2926080" y="383755"/>
                  </a:lnTo>
                  <a:lnTo>
                    <a:pt x="2925472" y="393395"/>
                  </a:lnTo>
                  <a:lnTo>
                    <a:pt x="2923649" y="402796"/>
                  </a:lnTo>
                  <a:lnTo>
                    <a:pt x="2897369" y="441740"/>
                  </a:lnTo>
                  <a:lnTo>
                    <a:pt x="2852991" y="456844"/>
                  </a:lnTo>
                  <a:lnTo>
                    <a:pt x="73075" y="457200"/>
                  </a:lnTo>
                  <a:lnTo>
                    <a:pt x="28548" y="442095"/>
                  </a:lnTo>
                  <a:lnTo>
                    <a:pt x="2428" y="402975"/>
                  </a:lnTo>
                  <a:lnTo>
                    <a:pt x="0" y="384124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792143" y="1479789"/>
            <a:ext cx="155956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75" dirty="0">
                <a:solidFill>
                  <a:srgbClr val="B693F3"/>
                </a:solidFill>
                <a:latin typeface="MingLiU_HKSCS-ExtB"/>
                <a:cs typeface="MingLiU_HKSCS-ExtB"/>
              </a:rPr>
              <a:t>🔀</a:t>
            </a:r>
            <a:r>
              <a:rPr sz="1050" spc="-254" dirty="0">
                <a:solidFill>
                  <a:srgbClr val="B693F3"/>
                </a:solidFill>
                <a:latin typeface="MingLiU_HKSCS-ExtB"/>
                <a:cs typeface="MingLiU_HKSCS-ExtB"/>
              </a:rPr>
              <a:t> </a:t>
            </a:r>
            <a:r>
              <a:rPr sz="900" b="1" spc="-10" dirty="0">
                <a:solidFill>
                  <a:srgbClr val="B693F3"/>
                </a:solidFill>
                <a:latin typeface="Calibri"/>
                <a:cs typeface="Calibri"/>
              </a:rPr>
              <a:t>PROXY</a:t>
            </a:r>
            <a:r>
              <a:rPr sz="900" b="1" spc="-25" dirty="0">
                <a:solidFill>
                  <a:srgbClr val="B693F3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B693F3"/>
                </a:solidFill>
                <a:latin typeface="Calibri"/>
                <a:cs typeface="Calibri"/>
              </a:rPr>
              <a:t>USFX</a:t>
            </a:r>
            <a:r>
              <a:rPr sz="900" b="1" spc="-15" dirty="0">
                <a:solidFill>
                  <a:srgbClr val="B693F3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B693F3"/>
                </a:solidFill>
                <a:latin typeface="Calibri"/>
                <a:cs typeface="Calibri"/>
              </a:rPr>
              <a:t>· </a:t>
            </a:r>
            <a:r>
              <a:rPr sz="900" b="1" spc="-10" dirty="0">
                <a:solidFill>
                  <a:srgbClr val="B693F3"/>
                </a:solidFill>
                <a:latin typeface="Calibri"/>
                <a:cs typeface="Calibri"/>
              </a:rPr>
              <a:t>201.131.45.42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52915" y="1911948"/>
            <a:ext cx="3691254" cy="782955"/>
            <a:chOff x="2752915" y="1911948"/>
            <a:chExt cx="3691254" cy="78295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2915" y="1911948"/>
              <a:ext cx="3690721" cy="7826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834284" y="1993317"/>
              <a:ext cx="3474720" cy="567055"/>
            </a:xfrm>
            <a:custGeom>
              <a:avLst/>
              <a:gdLst/>
              <a:ahLst/>
              <a:cxnLst/>
              <a:rect l="l" t="t" r="r" b="b"/>
              <a:pathLst>
                <a:path w="3474720" h="567055">
                  <a:moveTo>
                    <a:pt x="3401275" y="0"/>
                  </a:moveTo>
                  <a:lnTo>
                    <a:pt x="73075" y="0"/>
                  </a:lnTo>
                  <a:lnTo>
                    <a:pt x="63649" y="607"/>
                  </a:lnTo>
                  <a:lnTo>
                    <a:pt x="21458" y="21291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493928"/>
                  </a:lnTo>
                  <a:lnTo>
                    <a:pt x="15041" y="538298"/>
                  </a:lnTo>
                  <a:lnTo>
                    <a:pt x="54041" y="564575"/>
                  </a:lnTo>
                  <a:lnTo>
                    <a:pt x="73075" y="567004"/>
                  </a:lnTo>
                  <a:lnTo>
                    <a:pt x="3401631" y="566648"/>
                  </a:lnTo>
                  <a:lnTo>
                    <a:pt x="3446009" y="551594"/>
                  </a:lnTo>
                  <a:lnTo>
                    <a:pt x="3472274" y="512646"/>
                  </a:lnTo>
                  <a:lnTo>
                    <a:pt x="3474696" y="493928"/>
                  </a:lnTo>
                  <a:lnTo>
                    <a:pt x="3474720" y="493560"/>
                  </a:lnTo>
                  <a:lnTo>
                    <a:pt x="3474351" y="73088"/>
                  </a:lnTo>
                  <a:lnTo>
                    <a:pt x="3459310" y="28710"/>
                  </a:lnTo>
                  <a:lnTo>
                    <a:pt x="3420310" y="2430"/>
                  </a:lnTo>
                  <a:lnTo>
                    <a:pt x="3410909" y="607"/>
                  </a:lnTo>
                  <a:lnTo>
                    <a:pt x="3401275" y="0"/>
                  </a:lnTo>
                  <a:close/>
                </a:path>
              </a:pathLst>
            </a:custGeom>
            <a:solidFill>
              <a:srgbClr val="1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34284" y="1993317"/>
              <a:ext cx="3474720" cy="567055"/>
            </a:xfrm>
            <a:custGeom>
              <a:avLst/>
              <a:gdLst/>
              <a:ahLst/>
              <a:cxnLst/>
              <a:rect l="l" t="t" r="r" b="b"/>
              <a:pathLst>
                <a:path w="3474720" h="567055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053"/>
                  </a:lnTo>
                  <a:lnTo>
                    <a:pt x="73075" y="0"/>
                  </a:lnTo>
                  <a:lnTo>
                    <a:pt x="3401275" y="0"/>
                  </a:lnTo>
                  <a:lnTo>
                    <a:pt x="3445953" y="15109"/>
                  </a:lnTo>
                  <a:lnTo>
                    <a:pt x="3471922" y="54365"/>
                  </a:lnTo>
                  <a:lnTo>
                    <a:pt x="3474351" y="73088"/>
                  </a:lnTo>
                  <a:lnTo>
                    <a:pt x="3474720" y="493560"/>
                  </a:lnTo>
                  <a:lnTo>
                    <a:pt x="3474112" y="503199"/>
                  </a:lnTo>
                  <a:lnTo>
                    <a:pt x="3472289" y="512600"/>
                  </a:lnTo>
                  <a:lnTo>
                    <a:pt x="3446009" y="551594"/>
                  </a:lnTo>
                  <a:lnTo>
                    <a:pt x="3401631" y="566648"/>
                  </a:lnTo>
                  <a:lnTo>
                    <a:pt x="73075" y="567004"/>
                  </a:lnTo>
                  <a:lnTo>
                    <a:pt x="28398" y="551900"/>
                  </a:lnTo>
                  <a:lnTo>
                    <a:pt x="2428" y="512646"/>
                  </a:lnTo>
                  <a:lnTo>
                    <a:pt x="0" y="493928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21214" y="2037010"/>
            <a:ext cx="1701800" cy="4419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150" spc="215" dirty="0">
                <a:solidFill>
                  <a:srgbClr val="FF3A2F"/>
                </a:solidFill>
                <a:latin typeface="MingLiU_HKSCS-ExtB"/>
                <a:cs typeface="MingLiU_HKSCS-ExtB"/>
              </a:rPr>
              <a:t>🔥</a:t>
            </a:r>
            <a:r>
              <a:rPr sz="1150" spc="-245" dirty="0">
                <a:solidFill>
                  <a:srgbClr val="FF3A2F"/>
                </a:solidFill>
                <a:latin typeface="MingLiU_HKSCS-ExtB"/>
                <a:cs typeface="MingLiU_HKSCS-ExtB"/>
              </a:rPr>
              <a:t> </a:t>
            </a:r>
            <a:r>
              <a:rPr sz="1000" b="1" spc="-20" dirty="0">
                <a:solidFill>
                  <a:srgbClr val="FF3A2F"/>
                </a:solidFill>
                <a:latin typeface="Calibri"/>
                <a:cs typeface="Calibri"/>
              </a:rPr>
              <a:t>router-</a:t>
            </a:r>
            <a:r>
              <a:rPr sz="1000" b="1" dirty="0">
                <a:solidFill>
                  <a:srgbClr val="FF3A2F"/>
                </a:solidFill>
                <a:latin typeface="Calibri"/>
                <a:cs typeface="Calibri"/>
              </a:rPr>
              <a:t>fw</a:t>
            </a:r>
            <a:r>
              <a:rPr sz="1000" b="1" spc="15" dirty="0">
                <a:solidFill>
                  <a:srgbClr val="FF3A2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3A2F"/>
                </a:solidFill>
                <a:latin typeface="Calibri"/>
                <a:cs typeface="Calibri"/>
              </a:rPr>
              <a:t>·</a:t>
            </a:r>
            <a:r>
              <a:rPr sz="1000" b="1" spc="15" dirty="0">
                <a:solidFill>
                  <a:srgbClr val="FF3A2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3A2F"/>
                </a:solidFill>
                <a:latin typeface="Calibri"/>
                <a:cs typeface="Calibri"/>
              </a:rPr>
              <a:t>192.168.100.182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sz="800" spc="-10" dirty="0">
                <a:solidFill>
                  <a:srgbClr val="8799A9"/>
                </a:solidFill>
                <a:latin typeface="Calibri"/>
                <a:cs typeface="Calibri"/>
              </a:rPr>
              <a:t>iptables</a:t>
            </a:r>
            <a:r>
              <a:rPr sz="80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8799A9"/>
                </a:solidFill>
                <a:latin typeface="Calibri"/>
                <a:cs typeface="Calibri"/>
              </a:rPr>
              <a:t>·</a:t>
            </a:r>
            <a:r>
              <a:rPr sz="80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8799A9"/>
                </a:solidFill>
                <a:latin typeface="Calibri"/>
                <a:cs typeface="Calibri"/>
              </a:rPr>
              <a:t>NAT</a:t>
            </a:r>
            <a:r>
              <a:rPr sz="80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00" dirty="0">
                <a:solidFill>
                  <a:srgbClr val="8799A9"/>
                </a:solidFill>
                <a:latin typeface="Calibri"/>
                <a:cs typeface="Calibri"/>
              </a:rPr>
              <a:t>· </a:t>
            </a:r>
            <a:r>
              <a:rPr sz="800" spc="-10" dirty="0">
                <a:solidFill>
                  <a:srgbClr val="8799A9"/>
                </a:solidFill>
                <a:latin typeface="Calibri"/>
                <a:cs typeface="Calibri"/>
              </a:rPr>
              <a:t>Fail2ban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803" y="2753260"/>
            <a:ext cx="1661160" cy="1020444"/>
            <a:chOff x="55803" y="2753260"/>
            <a:chExt cx="1661160" cy="1020444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03" y="2753260"/>
              <a:ext cx="1660677" cy="102026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37160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60" h="805179">
                  <a:moveTo>
                    <a:pt x="137124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31519"/>
                  </a:lnTo>
                  <a:lnTo>
                    <a:pt x="594" y="740796"/>
                  </a:lnTo>
                  <a:lnTo>
                    <a:pt x="607" y="740998"/>
                  </a:lnTo>
                  <a:lnTo>
                    <a:pt x="2393" y="750193"/>
                  </a:lnTo>
                  <a:lnTo>
                    <a:pt x="2428" y="750376"/>
                  </a:lnTo>
                  <a:lnTo>
                    <a:pt x="5410" y="759255"/>
                  </a:lnTo>
                  <a:lnTo>
                    <a:pt x="5464" y="759416"/>
                  </a:lnTo>
                  <a:lnTo>
                    <a:pt x="9715" y="767880"/>
                  </a:lnTo>
                  <a:lnTo>
                    <a:pt x="44984" y="799130"/>
                  </a:lnTo>
                  <a:lnTo>
                    <a:pt x="73075" y="804595"/>
                  </a:lnTo>
                  <a:lnTo>
                    <a:pt x="1371600" y="804240"/>
                  </a:lnTo>
                  <a:lnTo>
                    <a:pt x="1415977" y="789141"/>
                  </a:lnTo>
                  <a:lnTo>
                    <a:pt x="1442185" y="750376"/>
                  </a:lnTo>
                  <a:lnTo>
                    <a:pt x="1444029" y="740998"/>
                  </a:lnTo>
                  <a:lnTo>
                    <a:pt x="1444068" y="740796"/>
                  </a:lnTo>
                  <a:lnTo>
                    <a:pt x="1444653" y="731519"/>
                  </a:lnTo>
                  <a:lnTo>
                    <a:pt x="1444675" y="731164"/>
                  </a:lnTo>
                  <a:lnTo>
                    <a:pt x="1444320" y="73075"/>
                  </a:lnTo>
                  <a:lnTo>
                    <a:pt x="1429221" y="28705"/>
                  </a:lnTo>
                  <a:lnTo>
                    <a:pt x="1390273" y="2428"/>
                  </a:lnTo>
                  <a:lnTo>
                    <a:pt x="1380876" y="607"/>
                  </a:lnTo>
                  <a:lnTo>
                    <a:pt x="1371244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7160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60" h="8051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1371244" y="0"/>
                  </a:lnTo>
                  <a:lnTo>
                    <a:pt x="1415764" y="15104"/>
                  </a:lnTo>
                  <a:lnTo>
                    <a:pt x="1441891" y="54224"/>
                  </a:lnTo>
                  <a:lnTo>
                    <a:pt x="1444320" y="73075"/>
                  </a:lnTo>
                  <a:lnTo>
                    <a:pt x="1444675" y="731164"/>
                  </a:lnTo>
                  <a:lnTo>
                    <a:pt x="1444068" y="740796"/>
                  </a:lnTo>
                  <a:lnTo>
                    <a:pt x="1442246" y="750193"/>
                  </a:lnTo>
                  <a:lnTo>
                    <a:pt x="1415977" y="789141"/>
                  </a:lnTo>
                  <a:lnTo>
                    <a:pt x="1371600" y="804240"/>
                  </a:lnTo>
                  <a:lnTo>
                    <a:pt x="73075" y="804595"/>
                  </a:lnTo>
                  <a:lnTo>
                    <a:pt x="28555" y="789498"/>
                  </a:lnTo>
                  <a:lnTo>
                    <a:pt x="2428" y="750376"/>
                  </a:lnTo>
                  <a:lnTo>
                    <a:pt x="0" y="73151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1426" y="3052345"/>
            <a:ext cx="435609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dns-server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.183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BIND9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82915" y="2753260"/>
            <a:ext cx="1661160" cy="1020444"/>
            <a:chOff x="1582915" y="2753260"/>
            <a:chExt cx="1661160" cy="1020444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2915" y="2753260"/>
              <a:ext cx="1660677" cy="102026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664284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60" h="805179">
                  <a:moveTo>
                    <a:pt x="13712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31519"/>
                  </a:lnTo>
                  <a:lnTo>
                    <a:pt x="594" y="740796"/>
                  </a:lnTo>
                  <a:lnTo>
                    <a:pt x="607" y="740998"/>
                  </a:lnTo>
                  <a:lnTo>
                    <a:pt x="2393" y="750193"/>
                  </a:lnTo>
                  <a:lnTo>
                    <a:pt x="2428" y="750376"/>
                  </a:lnTo>
                  <a:lnTo>
                    <a:pt x="5410" y="759255"/>
                  </a:lnTo>
                  <a:lnTo>
                    <a:pt x="5464" y="759416"/>
                  </a:lnTo>
                  <a:lnTo>
                    <a:pt x="9715" y="767880"/>
                  </a:lnTo>
                  <a:lnTo>
                    <a:pt x="44979" y="799130"/>
                  </a:lnTo>
                  <a:lnTo>
                    <a:pt x="73075" y="804595"/>
                  </a:lnTo>
                  <a:lnTo>
                    <a:pt x="1371600" y="804240"/>
                  </a:lnTo>
                  <a:lnTo>
                    <a:pt x="1415970" y="789141"/>
                  </a:lnTo>
                  <a:lnTo>
                    <a:pt x="1439131" y="759416"/>
                  </a:lnTo>
                  <a:lnTo>
                    <a:pt x="1439210" y="759255"/>
                  </a:lnTo>
                  <a:lnTo>
                    <a:pt x="1442185" y="750376"/>
                  </a:lnTo>
                  <a:lnTo>
                    <a:pt x="1442246" y="750193"/>
                  </a:lnTo>
                  <a:lnTo>
                    <a:pt x="1444029" y="740998"/>
                  </a:lnTo>
                  <a:lnTo>
                    <a:pt x="1444068" y="740796"/>
                  </a:lnTo>
                  <a:lnTo>
                    <a:pt x="1444653" y="731519"/>
                  </a:lnTo>
                  <a:lnTo>
                    <a:pt x="1444675" y="731164"/>
                  </a:lnTo>
                  <a:lnTo>
                    <a:pt x="1444320" y="73075"/>
                  </a:lnTo>
                  <a:lnTo>
                    <a:pt x="1429216" y="28705"/>
                  </a:lnTo>
                  <a:lnTo>
                    <a:pt x="1390272" y="2428"/>
                  </a:lnTo>
                  <a:lnTo>
                    <a:pt x="1380871" y="607"/>
                  </a:lnTo>
                  <a:lnTo>
                    <a:pt x="1371231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64284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60" h="8051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371231" y="0"/>
                  </a:lnTo>
                  <a:lnTo>
                    <a:pt x="1415764" y="15104"/>
                  </a:lnTo>
                  <a:lnTo>
                    <a:pt x="1441889" y="54224"/>
                  </a:lnTo>
                  <a:lnTo>
                    <a:pt x="1444320" y="73075"/>
                  </a:lnTo>
                  <a:lnTo>
                    <a:pt x="1444675" y="731164"/>
                  </a:lnTo>
                  <a:lnTo>
                    <a:pt x="1444068" y="740796"/>
                  </a:lnTo>
                  <a:lnTo>
                    <a:pt x="1442246" y="750193"/>
                  </a:lnTo>
                  <a:lnTo>
                    <a:pt x="1415970" y="789141"/>
                  </a:lnTo>
                  <a:lnTo>
                    <a:pt x="1371600" y="804240"/>
                  </a:lnTo>
                  <a:lnTo>
                    <a:pt x="73075" y="804595"/>
                  </a:lnTo>
                  <a:lnTo>
                    <a:pt x="28548" y="789498"/>
                  </a:lnTo>
                  <a:lnTo>
                    <a:pt x="2428" y="750376"/>
                  </a:lnTo>
                  <a:lnTo>
                    <a:pt x="0" y="73151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173935" y="3052345"/>
            <a:ext cx="42481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web-</a:t>
            </a:r>
            <a:r>
              <a:rPr sz="750" spc="-25" dirty="0">
                <a:solidFill>
                  <a:srgbClr val="FFFFFF"/>
                </a:solidFill>
                <a:latin typeface="Calibri"/>
                <a:cs typeface="Calibri"/>
              </a:rPr>
              <a:t>dmz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.184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Nginx+TLS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10039" y="2753260"/>
            <a:ext cx="1661160" cy="1020444"/>
            <a:chOff x="3110039" y="2753260"/>
            <a:chExt cx="1661160" cy="1020444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0039" y="2753260"/>
              <a:ext cx="1660677" cy="102026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191395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60" h="805179">
                  <a:moveTo>
                    <a:pt x="137124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31519"/>
                  </a:lnTo>
                  <a:lnTo>
                    <a:pt x="594" y="740796"/>
                  </a:lnTo>
                  <a:lnTo>
                    <a:pt x="607" y="740998"/>
                  </a:lnTo>
                  <a:lnTo>
                    <a:pt x="2394" y="750193"/>
                  </a:lnTo>
                  <a:lnTo>
                    <a:pt x="2430" y="750376"/>
                  </a:lnTo>
                  <a:lnTo>
                    <a:pt x="5416" y="759255"/>
                  </a:lnTo>
                  <a:lnTo>
                    <a:pt x="5470" y="759416"/>
                  </a:lnTo>
                  <a:lnTo>
                    <a:pt x="36360" y="794880"/>
                  </a:lnTo>
                  <a:lnTo>
                    <a:pt x="73088" y="804595"/>
                  </a:lnTo>
                  <a:lnTo>
                    <a:pt x="1371600" y="804240"/>
                  </a:lnTo>
                  <a:lnTo>
                    <a:pt x="1415977" y="789141"/>
                  </a:lnTo>
                  <a:lnTo>
                    <a:pt x="1442196" y="750376"/>
                  </a:lnTo>
                  <a:lnTo>
                    <a:pt x="1442258" y="750193"/>
                  </a:lnTo>
                  <a:lnTo>
                    <a:pt x="1444041" y="740998"/>
                  </a:lnTo>
                  <a:lnTo>
                    <a:pt x="1444081" y="740796"/>
                  </a:lnTo>
                  <a:lnTo>
                    <a:pt x="1444666" y="731519"/>
                  </a:lnTo>
                  <a:lnTo>
                    <a:pt x="1444320" y="73075"/>
                  </a:lnTo>
                  <a:lnTo>
                    <a:pt x="1429228" y="28705"/>
                  </a:lnTo>
                  <a:lnTo>
                    <a:pt x="1390278" y="2428"/>
                  </a:lnTo>
                  <a:lnTo>
                    <a:pt x="1380878" y="607"/>
                  </a:lnTo>
                  <a:lnTo>
                    <a:pt x="1371244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191395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60" h="80517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1371244" y="0"/>
                  </a:lnTo>
                  <a:lnTo>
                    <a:pt x="1415771" y="15104"/>
                  </a:lnTo>
                  <a:lnTo>
                    <a:pt x="1441891" y="54224"/>
                  </a:lnTo>
                  <a:lnTo>
                    <a:pt x="1444320" y="73075"/>
                  </a:lnTo>
                  <a:lnTo>
                    <a:pt x="1444688" y="731164"/>
                  </a:lnTo>
                  <a:lnTo>
                    <a:pt x="1444081" y="740796"/>
                  </a:lnTo>
                  <a:lnTo>
                    <a:pt x="1442258" y="750193"/>
                  </a:lnTo>
                  <a:lnTo>
                    <a:pt x="1415977" y="789141"/>
                  </a:lnTo>
                  <a:lnTo>
                    <a:pt x="1371600" y="804240"/>
                  </a:lnTo>
                  <a:lnTo>
                    <a:pt x="73088" y="804595"/>
                  </a:lnTo>
                  <a:lnTo>
                    <a:pt x="28555" y="789498"/>
                  </a:lnTo>
                  <a:lnTo>
                    <a:pt x="2430" y="750376"/>
                  </a:lnTo>
                  <a:lnTo>
                    <a:pt x="0" y="73151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660737" y="3052345"/>
            <a:ext cx="50482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app-server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.185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dirty="0">
                <a:solidFill>
                  <a:srgbClr val="FFFFFF"/>
                </a:solidFill>
                <a:latin typeface="Calibri"/>
                <a:cs typeface="Calibri"/>
              </a:rPr>
              <a:t>Node.js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636795" y="2753260"/>
            <a:ext cx="1661160" cy="1020444"/>
            <a:chOff x="4636795" y="2753260"/>
            <a:chExt cx="1661160" cy="1020444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6795" y="2753260"/>
              <a:ext cx="1660677" cy="1020267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718164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60" h="805179">
                  <a:moveTo>
                    <a:pt x="13712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31519"/>
                  </a:lnTo>
                  <a:lnTo>
                    <a:pt x="594" y="740796"/>
                  </a:lnTo>
                  <a:lnTo>
                    <a:pt x="607" y="740998"/>
                  </a:lnTo>
                  <a:lnTo>
                    <a:pt x="2393" y="750193"/>
                  </a:lnTo>
                  <a:lnTo>
                    <a:pt x="2428" y="750376"/>
                  </a:lnTo>
                  <a:lnTo>
                    <a:pt x="5410" y="759255"/>
                  </a:lnTo>
                  <a:lnTo>
                    <a:pt x="36360" y="794880"/>
                  </a:lnTo>
                  <a:lnTo>
                    <a:pt x="73075" y="804595"/>
                  </a:lnTo>
                  <a:lnTo>
                    <a:pt x="1371600" y="804240"/>
                  </a:lnTo>
                  <a:lnTo>
                    <a:pt x="1415970" y="789141"/>
                  </a:lnTo>
                  <a:lnTo>
                    <a:pt x="1442185" y="750376"/>
                  </a:lnTo>
                  <a:lnTo>
                    <a:pt x="1442246" y="750193"/>
                  </a:lnTo>
                  <a:lnTo>
                    <a:pt x="1444029" y="740998"/>
                  </a:lnTo>
                  <a:lnTo>
                    <a:pt x="1444068" y="740796"/>
                  </a:lnTo>
                  <a:lnTo>
                    <a:pt x="1444653" y="731519"/>
                  </a:lnTo>
                  <a:lnTo>
                    <a:pt x="1444675" y="731164"/>
                  </a:lnTo>
                  <a:lnTo>
                    <a:pt x="1444320" y="73075"/>
                  </a:lnTo>
                  <a:lnTo>
                    <a:pt x="1429216" y="28705"/>
                  </a:lnTo>
                  <a:lnTo>
                    <a:pt x="1390272" y="2428"/>
                  </a:lnTo>
                  <a:lnTo>
                    <a:pt x="1380870" y="607"/>
                  </a:lnTo>
                  <a:lnTo>
                    <a:pt x="1371231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18164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60" h="8051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1371231" y="0"/>
                  </a:lnTo>
                  <a:lnTo>
                    <a:pt x="1415764" y="15104"/>
                  </a:lnTo>
                  <a:lnTo>
                    <a:pt x="1441889" y="54224"/>
                  </a:lnTo>
                  <a:lnTo>
                    <a:pt x="1444320" y="73075"/>
                  </a:lnTo>
                  <a:lnTo>
                    <a:pt x="1444675" y="731164"/>
                  </a:lnTo>
                  <a:lnTo>
                    <a:pt x="1444068" y="740796"/>
                  </a:lnTo>
                  <a:lnTo>
                    <a:pt x="1442246" y="750193"/>
                  </a:lnTo>
                  <a:lnTo>
                    <a:pt x="1415970" y="789141"/>
                  </a:lnTo>
                  <a:lnTo>
                    <a:pt x="1371600" y="804240"/>
                  </a:lnTo>
                  <a:lnTo>
                    <a:pt x="73075" y="804595"/>
                  </a:lnTo>
                  <a:lnTo>
                    <a:pt x="28548" y="789498"/>
                  </a:lnTo>
                  <a:lnTo>
                    <a:pt x="2428" y="750376"/>
                  </a:lnTo>
                  <a:lnTo>
                    <a:pt x="0" y="73151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257698" y="3052345"/>
            <a:ext cx="36576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db-</a:t>
            </a: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.186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MariaDB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163919" y="2753260"/>
            <a:ext cx="1661160" cy="1020444"/>
            <a:chOff x="6163919" y="2753260"/>
            <a:chExt cx="1661160" cy="1020444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63919" y="2753260"/>
              <a:ext cx="1660677" cy="102026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245275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59" h="805179">
                  <a:moveTo>
                    <a:pt x="1371244" y="0"/>
                  </a:moveTo>
                  <a:lnTo>
                    <a:pt x="73088" y="0"/>
                  </a:lnTo>
                  <a:lnTo>
                    <a:pt x="63610" y="607"/>
                  </a:lnTo>
                  <a:lnTo>
                    <a:pt x="21431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31519"/>
                  </a:lnTo>
                  <a:lnTo>
                    <a:pt x="594" y="740796"/>
                  </a:lnTo>
                  <a:lnTo>
                    <a:pt x="607" y="740998"/>
                  </a:lnTo>
                  <a:lnTo>
                    <a:pt x="2394" y="750193"/>
                  </a:lnTo>
                  <a:lnTo>
                    <a:pt x="2430" y="750376"/>
                  </a:lnTo>
                  <a:lnTo>
                    <a:pt x="5416" y="759255"/>
                  </a:lnTo>
                  <a:lnTo>
                    <a:pt x="36360" y="794880"/>
                  </a:lnTo>
                  <a:lnTo>
                    <a:pt x="73088" y="804595"/>
                  </a:lnTo>
                  <a:lnTo>
                    <a:pt x="1371600" y="804240"/>
                  </a:lnTo>
                  <a:lnTo>
                    <a:pt x="1415977" y="789141"/>
                  </a:lnTo>
                  <a:lnTo>
                    <a:pt x="1439138" y="759416"/>
                  </a:lnTo>
                  <a:lnTo>
                    <a:pt x="1439218" y="759255"/>
                  </a:lnTo>
                  <a:lnTo>
                    <a:pt x="1442196" y="750376"/>
                  </a:lnTo>
                  <a:lnTo>
                    <a:pt x="1442258" y="750193"/>
                  </a:lnTo>
                  <a:lnTo>
                    <a:pt x="1444041" y="740998"/>
                  </a:lnTo>
                  <a:lnTo>
                    <a:pt x="1444081" y="740796"/>
                  </a:lnTo>
                  <a:lnTo>
                    <a:pt x="1444666" y="731519"/>
                  </a:lnTo>
                  <a:lnTo>
                    <a:pt x="1444688" y="731164"/>
                  </a:lnTo>
                  <a:lnTo>
                    <a:pt x="1444320" y="73075"/>
                  </a:lnTo>
                  <a:lnTo>
                    <a:pt x="1429228" y="28705"/>
                  </a:lnTo>
                  <a:lnTo>
                    <a:pt x="1390278" y="2428"/>
                  </a:lnTo>
                  <a:lnTo>
                    <a:pt x="1380878" y="607"/>
                  </a:lnTo>
                  <a:lnTo>
                    <a:pt x="1371244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45275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59" h="805179">
                  <a:moveTo>
                    <a:pt x="0" y="73075"/>
                  </a:moveTo>
                  <a:lnTo>
                    <a:pt x="607" y="63443"/>
                  </a:lnTo>
                  <a:lnTo>
                    <a:pt x="2430" y="54046"/>
                  </a:lnTo>
                  <a:lnTo>
                    <a:pt x="28710" y="15098"/>
                  </a:lnTo>
                  <a:lnTo>
                    <a:pt x="73088" y="0"/>
                  </a:lnTo>
                  <a:lnTo>
                    <a:pt x="1371244" y="0"/>
                  </a:lnTo>
                  <a:lnTo>
                    <a:pt x="1415771" y="15104"/>
                  </a:lnTo>
                  <a:lnTo>
                    <a:pt x="1441891" y="54224"/>
                  </a:lnTo>
                  <a:lnTo>
                    <a:pt x="1444320" y="73075"/>
                  </a:lnTo>
                  <a:lnTo>
                    <a:pt x="1444688" y="731164"/>
                  </a:lnTo>
                  <a:lnTo>
                    <a:pt x="1444081" y="740796"/>
                  </a:lnTo>
                  <a:lnTo>
                    <a:pt x="1442258" y="750193"/>
                  </a:lnTo>
                  <a:lnTo>
                    <a:pt x="1415977" y="789141"/>
                  </a:lnTo>
                  <a:lnTo>
                    <a:pt x="1371600" y="804240"/>
                  </a:lnTo>
                  <a:lnTo>
                    <a:pt x="73088" y="804595"/>
                  </a:lnTo>
                  <a:lnTo>
                    <a:pt x="28555" y="789498"/>
                  </a:lnTo>
                  <a:lnTo>
                    <a:pt x="2430" y="750376"/>
                  </a:lnTo>
                  <a:lnTo>
                    <a:pt x="0" y="73151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6726859" y="3052345"/>
            <a:ext cx="48133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FFFFFF"/>
                </a:solidFill>
                <a:latin typeface="Calibri"/>
                <a:cs typeface="Calibri"/>
              </a:rPr>
              <a:t>siem-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.188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rsyslog+F2b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508163" y="2753260"/>
            <a:ext cx="1635760" cy="1020444"/>
            <a:chOff x="7508163" y="2753260"/>
            <a:chExt cx="1635760" cy="1020444"/>
          </a:xfrm>
        </p:grpSpPr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08163" y="2753260"/>
              <a:ext cx="1635467" cy="102026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589519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59" h="805179">
                  <a:moveTo>
                    <a:pt x="1371244" y="0"/>
                  </a:moveTo>
                  <a:lnTo>
                    <a:pt x="73075" y="0"/>
                  </a:lnTo>
                  <a:lnTo>
                    <a:pt x="63599" y="607"/>
                  </a:lnTo>
                  <a:lnTo>
                    <a:pt x="2142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731519"/>
                  </a:lnTo>
                  <a:lnTo>
                    <a:pt x="594" y="740796"/>
                  </a:lnTo>
                  <a:lnTo>
                    <a:pt x="607" y="740998"/>
                  </a:lnTo>
                  <a:lnTo>
                    <a:pt x="2393" y="750193"/>
                  </a:lnTo>
                  <a:lnTo>
                    <a:pt x="2428" y="750376"/>
                  </a:lnTo>
                  <a:lnTo>
                    <a:pt x="5410" y="759255"/>
                  </a:lnTo>
                  <a:lnTo>
                    <a:pt x="36360" y="794880"/>
                  </a:lnTo>
                  <a:lnTo>
                    <a:pt x="73075" y="804595"/>
                  </a:lnTo>
                  <a:lnTo>
                    <a:pt x="1371600" y="804240"/>
                  </a:lnTo>
                  <a:lnTo>
                    <a:pt x="1415977" y="789141"/>
                  </a:lnTo>
                  <a:lnTo>
                    <a:pt x="1442185" y="750376"/>
                  </a:lnTo>
                  <a:lnTo>
                    <a:pt x="1442246" y="750193"/>
                  </a:lnTo>
                  <a:lnTo>
                    <a:pt x="1444029" y="740998"/>
                  </a:lnTo>
                  <a:lnTo>
                    <a:pt x="1444068" y="740796"/>
                  </a:lnTo>
                  <a:lnTo>
                    <a:pt x="1444653" y="731519"/>
                  </a:lnTo>
                  <a:lnTo>
                    <a:pt x="1444320" y="73075"/>
                  </a:lnTo>
                  <a:lnTo>
                    <a:pt x="1429221" y="28705"/>
                  </a:lnTo>
                  <a:lnTo>
                    <a:pt x="1390273" y="2428"/>
                  </a:lnTo>
                  <a:lnTo>
                    <a:pt x="1380876" y="607"/>
                  </a:lnTo>
                  <a:lnTo>
                    <a:pt x="1371244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589519" y="2834642"/>
              <a:ext cx="1445260" cy="805180"/>
            </a:xfrm>
            <a:custGeom>
              <a:avLst/>
              <a:gdLst/>
              <a:ahLst/>
              <a:cxnLst/>
              <a:rect l="l" t="t" r="r" b="b"/>
              <a:pathLst>
                <a:path w="1445259" h="80517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705" y="15098"/>
                  </a:lnTo>
                  <a:lnTo>
                    <a:pt x="73075" y="0"/>
                  </a:lnTo>
                  <a:lnTo>
                    <a:pt x="1371244" y="0"/>
                  </a:lnTo>
                  <a:lnTo>
                    <a:pt x="1415764" y="15104"/>
                  </a:lnTo>
                  <a:lnTo>
                    <a:pt x="1441891" y="54224"/>
                  </a:lnTo>
                  <a:lnTo>
                    <a:pt x="1444320" y="73075"/>
                  </a:lnTo>
                  <a:lnTo>
                    <a:pt x="1444675" y="731164"/>
                  </a:lnTo>
                  <a:lnTo>
                    <a:pt x="1444068" y="740796"/>
                  </a:lnTo>
                  <a:lnTo>
                    <a:pt x="1442246" y="750193"/>
                  </a:lnTo>
                  <a:lnTo>
                    <a:pt x="1415977" y="789141"/>
                  </a:lnTo>
                  <a:lnTo>
                    <a:pt x="1371600" y="804240"/>
                  </a:lnTo>
                  <a:lnTo>
                    <a:pt x="73075" y="804595"/>
                  </a:lnTo>
                  <a:lnTo>
                    <a:pt x="28555" y="789498"/>
                  </a:lnTo>
                  <a:lnTo>
                    <a:pt x="2428" y="750376"/>
                  </a:lnTo>
                  <a:lnTo>
                    <a:pt x="0" y="731519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043024" y="3052345"/>
            <a:ext cx="53784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attacker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.189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Hydra+Nmap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582915" y="3740748"/>
            <a:ext cx="1661160" cy="901700"/>
            <a:chOff x="1582915" y="3740748"/>
            <a:chExt cx="1661160" cy="901700"/>
          </a:xfrm>
        </p:grpSpPr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2915" y="3740748"/>
              <a:ext cx="1660677" cy="90145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664284" y="3822117"/>
              <a:ext cx="1445260" cy="685800"/>
            </a:xfrm>
            <a:custGeom>
              <a:avLst/>
              <a:gdLst/>
              <a:ahLst/>
              <a:cxnLst/>
              <a:rect l="l" t="t" r="r" b="b"/>
              <a:pathLst>
                <a:path w="1445260" h="685800">
                  <a:moveTo>
                    <a:pt x="1371231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612724"/>
                  </a:lnTo>
                  <a:lnTo>
                    <a:pt x="594" y="622000"/>
                  </a:lnTo>
                  <a:lnTo>
                    <a:pt x="607" y="622202"/>
                  </a:lnTo>
                  <a:lnTo>
                    <a:pt x="2393" y="631397"/>
                  </a:lnTo>
                  <a:lnTo>
                    <a:pt x="2428" y="631580"/>
                  </a:lnTo>
                  <a:lnTo>
                    <a:pt x="28548" y="670703"/>
                  </a:lnTo>
                  <a:lnTo>
                    <a:pt x="73075" y="685800"/>
                  </a:lnTo>
                  <a:lnTo>
                    <a:pt x="1371600" y="685444"/>
                  </a:lnTo>
                  <a:lnTo>
                    <a:pt x="1415970" y="670345"/>
                  </a:lnTo>
                  <a:lnTo>
                    <a:pt x="1439131" y="640620"/>
                  </a:lnTo>
                  <a:lnTo>
                    <a:pt x="1439210" y="640459"/>
                  </a:lnTo>
                  <a:lnTo>
                    <a:pt x="1442185" y="631580"/>
                  </a:lnTo>
                  <a:lnTo>
                    <a:pt x="1442246" y="631397"/>
                  </a:lnTo>
                  <a:lnTo>
                    <a:pt x="1444029" y="622202"/>
                  </a:lnTo>
                  <a:lnTo>
                    <a:pt x="1444068" y="622000"/>
                  </a:lnTo>
                  <a:lnTo>
                    <a:pt x="1444653" y="612724"/>
                  </a:lnTo>
                  <a:lnTo>
                    <a:pt x="1444675" y="612368"/>
                  </a:lnTo>
                  <a:lnTo>
                    <a:pt x="1444320" y="73088"/>
                  </a:lnTo>
                  <a:lnTo>
                    <a:pt x="1429216" y="28710"/>
                  </a:lnTo>
                  <a:lnTo>
                    <a:pt x="1390272" y="2430"/>
                  </a:lnTo>
                  <a:lnTo>
                    <a:pt x="1380871" y="607"/>
                  </a:lnTo>
                  <a:lnTo>
                    <a:pt x="1371231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664284" y="3822117"/>
              <a:ext cx="1445260" cy="685800"/>
            </a:xfrm>
            <a:custGeom>
              <a:avLst/>
              <a:gdLst/>
              <a:ahLst/>
              <a:cxnLst/>
              <a:rect l="l" t="t" r="r" b="b"/>
              <a:pathLst>
                <a:path w="1445260" h="685800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1371231" y="0"/>
                  </a:lnTo>
                  <a:lnTo>
                    <a:pt x="1415764" y="15109"/>
                  </a:lnTo>
                  <a:lnTo>
                    <a:pt x="1441889" y="54232"/>
                  </a:lnTo>
                  <a:lnTo>
                    <a:pt x="1444320" y="73088"/>
                  </a:lnTo>
                  <a:lnTo>
                    <a:pt x="1444675" y="612368"/>
                  </a:lnTo>
                  <a:lnTo>
                    <a:pt x="1444068" y="622000"/>
                  </a:lnTo>
                  <a:lnTo>
                    <a:pt x="1442246" y="631397"/>
                  </a:lnTo>
                  <a:lnTo>
                    <a:pt x="1415970" y="670345"/>
                  </a:lnTo>
                  <a:lnTo>
                    <a:pt x="1371600" y="685444"/>
                  </a:lnTo>
                  <a:lnTo>
                    <a:pt x="73075" y="685800"/>
                  </a:lnTo>
                  <a:lnTo>
                    <a:pt x="28548" y="670703"/>
                  </a:lnTo>
                  <a:lnTo>
                    <a:pt x="2428" y="631580"/>
                  </a:lnTo>
                  <a:lnTo>
                    <a:pt x="0" y="612724"/>
                  </a:lnTo>
                  <a:lnTo>
                    <a:pt x="0" y="73088"/>
                  </a:lnTo>
                  <a:close/>
                </a:path>
              </a:pathLst>
            </a:custGeom>
            <a:ln w="12599">
              <a:solidFill>
                <a:srgbClr val="923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163495" y="3980423"/>
            <a:ext cx="44704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cajero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20" dirty="0">
                <a:solidFill>
                  <a:srgbClr val="FFFFFF"/>
                </a:solidFill>
                <a:latin typeface="Calibri"/>
                <a:cs typeface="Calibri"/>
              </a:rPr>
              <a:t>.187</a:t>
            </a:r>
            <a:endParaRPr sz="7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curl+mysql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68020" y="4766578"/>
            <a:ext cx="213995" cy="195580"/>
            <a:chOff x="268020" y="4766578"/>
            <a:chExt cx="213995" cy="195580"/>
          </a:xfrm>
        </p:grpSpPr>
        <p:sp>
          <p:nvSpPr>
            <p:cNvPr id="52" name="object 52"/>
            <p:cNvSpPr/>
            <p:nvPr/>
          </p:nvSpPr>
          <p:spPr>
            <a:xfrm>
              <a:off x="274319" y="4772877"/>
              <a:ext cx="201295" cy="182880"/>
            </a:xfrm>
            <a:custGeom>
              <a:avLst/>
              <a:gdLst/>
              <a:ahLst/>
              <a:cxnLst/>
              <a:rect l="l" t="t" r="r" b="b"/>
              <a:pathLst>
                <a:path w="201295" h="182879">
                  <a:moveTo>
                    <a:pt x="200875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00444" y="182524"/>
                  </a:lnTo>
                  <a:lnTo>
                    <a:pt x="200875" y="182524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74319" y="4772877"/>
              <a:ext cx="201295" cy="182880"/>
            </a:xfrm>
            <a:custGeom>
              <a:avLst/>
              <a:gdLst/>
              <a:ahLst/>
              <a:cxnLst/>
              <a:rect l="l" t="t" r="r" b="b"/>
              <a:pathLst>
                <a:path w="201295" h="182879">
                  <a:moveTo>
                    <a:pt x="100444" y="182524"/>
                  </a:moveTo>
                  <a:lnTo>
                    <a:pt x="0" y="182524"/>
                  </a:lnTo>
                  <a:lnTo>
                    <a:pt x="0" y="0"/>
                  </a:lnTo>
                  <a:lnTo>
                    <a:pt x="200875" y="0"/>
                  </a:lnTo>
                  <a:lnTo>
                    <a:pt x="200875" y="182524"/>
                  </a:lnTo>
                  <a:lnTo>
                    <a:pt x="100444" y="182524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07225" y="4790772"/>
            <a:ext cx="44767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8799A9"/>
                </a:solidFill>
                <a:latin typeface="Calibri"/>
                <a:cs typeface="Calibri"/>
              </a:rPr>
              <a:t>Zona</a:t>
            </a:r>
            <a:r>
              <a:rPr sz="800" spc="-4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8799A9"/>
                </a:solidFill>
                <a:latin typeface="Calibri"/>
                <a:cs typeface="Calibri"/>
              </a:rPr>
              <a:t>DMZ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462580" y="4766578"/>
            <a:ext cx="213995" cy="195580"/>
            <a:chOff x="2462580" y="4766578"/>
            <a:chExt cx="213995" cy="195580"/>
          </a:xfrm>
        </p:grpSpPr>
        <p:sp>
          <p:nvSpPr>
            <p:cNvPr id="56" name="object 56"/>
            <p:cNvSpPr/>
            <p:nvPr/>
          </p:nvSpPr>
          <p:spPr>
            <a:xfrm>
              <a:off x="2468880" y="4772877"/>
              <a:ext cx="201295" cy="182880"/>
            </a:xfrm>
            <a:custGeom>
              <a:avLst/>
              <a:gdLst/>
              <a:ahLst/>
              <a:cxnLst/>
              <a:rect l="l" t="t" r="r" b="b"/>
              <a:pathLst>
                <a:path w="201294" h="182879">
                  <a:moveTo>
                    <a:pt x="200875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00444" y="182524"/>
                  </a:lnTo>
                  <a:lnTo>
                    <a:pt x="200875" y="182524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468880" y="4772877"/>
              <a:ext cx="201295" cy="182880"/>
            </a:xfrm>
            <a:custGeom>
              <a:avLst/>
              <a:gdLst/>
              <a:ahLst/>
              <a:cxnLst/>
              <a:rect l="l" t="t" r="r" b="b"/>
              <a:pathLst>
                <a:path w="201294" h="182879">
                  <a:moveTo>
                    <a:pt x="100444" y="182524"/>
                  </a:moveTo>
                  <a:lnTo>
                    <a:pt x="0" y="182524"/>
                  </a:lnTo>
                  <a:lnTo>
                    <a:pt x="0" y="0"/>
                  </a:lnTo>
                  <a:lnTo>
                    <a:pt x="200875" y="0"/>
                  </a:lnTo>
                  <a:lnTo>
                    <a:pt x="200875" y="182524"/>
                  </a:lnTo>
                  <a:lnTo>
                    <a:pt x="100444" y="182524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801785" y="4790772"/>
            <a:ext cx="442595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8799A9"/>
                </a:solidFill>
                <a:latin typeface="Calibri"/>
                <a:cs typeface="Calibri"/>
              </a:rPr>
              <a:t>Zona</a:t>
            </a:r>
            <a:r>
              <a:rPr sz="800" spc="-4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00" spc="-20" dirty="0">
                <a:solidFill>
                  <a:srgbClr val="8799A9"/>
                </a:solidFill>
                <a:latin typeface="Calibri"/>
                <a:cs typeface="Calibri"/>
              </a:rPr>
              <a:t>Core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657140" y="4766578"/>
            <a:ext cx="213995" cy="195580"/>
            <a:chOff x="4657140" y="4766578"/>
            <a:chExt cx="213995" cy="195580"/>
          </a:xfrm>
        </p:grpSpPr>
        <p:sp>
          <p:nvSpPr>
            <p:cNvPr id="60" name="object 60"/>
            <p:cNvSpPr/>
            <p:nvPr/>
          </p:nvSpPr>
          <p:spPr>
            <a:xfrm>
              <a:off x="4663440" y="4772877"/>
              <a:ext cx="201295" cy="182880"/>
            </a:xfrm>
            <a:custGeom>
              <a:avLst/>
              <a:gdLst/>
              <a:ahLst/>
              <a:cxnLst/>
              <a:rect l="l" t="t" r="r" b="b"/>
              <a:pathLst>
                <a:path w="201295" h="182879">
                  <a:moveTo>
                    <a:pt x="200875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00444" y="182524"/>
                  </a:lnTo>
                  <a:lnTo>
                    <a:pt x="200875" y="182524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663440" y="4772877"/>
              <a:ext cx="201295" cy="182880"/>
            </a:xfrm>
            <a:custGeom>
              <a:avLst/>
              <a:gdLst/>
              <a:ahLst/>
              <a:cxnLst/>
              <a:rect l="l" t="t" r="r" b="b"/>
              <a:pathLst>
                <a:path w="201295" h="182879">
                  <a:moveTo>
                    <a:pt x="100444" y="182524"/>
                  </a:moveTo>
                  <a:lnTo>
                    <a:pt x="0" y="182524"/>
                  </a:lnTo>
                  <a:lnTo>
                    <a:pt x="0" y="0"/>
                  </a:lnTo>
                  <a:lnTo>
                    <a:pt x="200875" y="0"/>
                  </a:lnTo>
                  <a:lnTo>
                    <a:pt x="200875" y="182524"/>
                  </a:lnTo>
                  <a:lnTo>
                    <a:pt x="100444" y="182524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996345" y="4790772"/>
            <a:ext cx="4254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8799A9"/>
                </a:solidFill>
                <a:latin typeface="Calibri"/>
                <a:cs typeface="Calibri"/>
              </a:rPr>
              <a:t>Zona</a:t>
            </a:r>
            <a:r>
              <a:rPr sz="800" spc="-4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00" spc="-25" dirty="0">
                <a:solidFill>
                  <a:srgbClr val="8799A9"/>
                </a:solidFill>
                <a:latin typeface="Calibri"/>
                <a:cs typeface="Calibri"/>
              </a:rPr>
              <a:t>DNS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851700" y="4766578"/>
            <a:ext cx="213995" cy="195580"/>
            <a:chOff x="6851700" y="4766578"/>
            <a:chExt cx="213995" cy="195580"/>
          </a:xfrm>
        </p:grpSpPr>
        <p:sp>
          <p:nvSpPr>
            <p:cNvPr id="64" name="object 64"/>
            <p:cNvSpPr/>
            <p:nvPr/>
          </p:nvSpPr>
          <p:spPr>
            <a:xfrm>
              <a:off x="6858000" y="4772877"/>
              <a:ext cx="201295" cy="182880"/>
            </a:xfrm>
            <a:custGeom>
              <a:avLst/>
              <a:gdLst/>
              <a:ahLst/>
              <a:cxnLst/>
              <a:rect l="l" t="t" r="r" b="b"/>
              <a:pathLst>
                <a:path w="201295" h="182879">
                  <a:moveTo>
                    <a:pt x="200875" y="0"/>
                  </a:moveTo>
                  <a:lnTo>
                    <a:pt x="0" y="0"/>
                  </a:lnTo>
                  <a:lnTo>
                    <a:pt x="0" y="182524"/>
                  </a:lnTo>
                  <a:lnTo>
                    <a:pt x="100444" y="182524"/>
                  </a:lnTo>
                  <a:lnTo>
                    <a:pt x="200875" y="182524"/>
                  </a:lnTo>
                  <a:lnTo>
                    <a:pt x="200875" y="0"/>
                  </a:lnTo>
                  <a:close/>
                </a:path>
              </a:pathLst>
            </a:custGeom>
            <a:solidFill>
              <a:srgbClr val="923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858000" y="4772877"/>
              <a:ext cx="201295" cy="182880"/>
            </a:xfrm>
            <a:custGeom>
              <a:avLst/>
              <a:gdLst/>
              <a:ahLst/>
              <a:cxnLst/>
              <a:rect l="l" t="t" r="r" b="b"/>
              <a:pathLst>
                <a:path w="201295" h="182879">
                  <a:moveTo>
                    <a:pt x="100444" y="182524"/>
                  </a:moveTo>
                  <a:lnTo>
                    <a:pt x="0" y="182524"/>
                  </a:lnTo>
                  <a:lnTo>
                    <a:pt x="0" y="0"/>
                  </a:lnTo>
                  <a:lnTo>
                    <a:pt x="200875" y="0"/>
                  </a:lnTo>
                  <a:lnTo>
                    <a:pt x="200875" y="182524"/>
                  </a:lnTo>
                  <a:lnTo>
                    <a:pt x="100444" y="182524"/>
                  </a:lnTo>
                  <a:close/>
                </a:path>
              </a:pathLst>
            </a:custGeom>
            <a:ln w="12599">
              <a:solidFill>
                <a:srgbClr val="923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190905" y="4790772"/>
            <a:ext cx="5156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8799A9"/>
                </a:solidFill>
                <a:latin typeface="Calibri"/>
                <a:cs typeface="Calibri"/>
              </a:rPr>
              <a:t>Zona</a:t>
            </a:r>
            <a:r>
              <a:rPr sz="800" spc="-4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00" spc="-10" dirty="0">
                <a:solidFill>
                  <a:srgbClr val="8799A9"/>
                </a:solidFill>
                <a:latin typeface="Calibri"/>
                <a:cs typeface="Calibri"/>
              </a:rPr>
              <a:t>Cajero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475" dirty="0">
                <a:solidFill>
                  <a:srgbClr val="000000"/>
                </a:solidFill>
                <a:latin typeface="MingLiU_HKSCS-ExtB"/>
                <a:cs typeface="MingLiU_HKSCS-ExtB"/>
              </a:rPr>
              <a:t>🏰</a:t>
            </a:r>
            <a:r>
              <a:rPr sz="2800" b="0" spc="305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97" baseline="1322" dirty="0"/>
              <a:t>SEGURIDAD</a:t>
            </a:r>
            <a:r>
              <a:rPr sz="3150" spc="345" baseline="1322" dirty="0"/>
              <a:t> </a:t>
            </a:r>
            <a:r>
              <a:rPr sz="3150" baseline="1322" dirty="0"/>
              <a:t>EN</a:t>
            </a:r>
            <a:r>
              <a:rPr sz="3150" spc="359" baseline="1322" dirty="0"/>
              <a:t> </a:t>
            </a:r>
            <a:r>
              <a:rPr sz="3150" baseline="1322" dirty="0"/>
              <a:t>CAPAS</a:t>
            </a:r>
            <a:r>
              <a:rPr sz="3150" spc="359" baseline="1322" dirty="0"/>
              <a:t> </a:t>
            </a:r>
            <a:r>
              <a:rPr sz="3150" baseline="1322" dirty="0"/>
              <a:t>—</a:t>
            </a:r>
            <a:r>
              <a:rPr sz="3150" spc="359" baseline="1322" dirty="0"/>
              <a:t> </a:t>
            </a:r>
            <a:r>
              <a:rPr sz="3150" spc="104" baseline="1322" dirty="0"/>
              <a:t>DEFENSE</a:t>
            </a:r>
            <a:r>
              <a:rPr sz="3150" spc="345" baseline="1322" dirty="0"/>
              <a:t> </a:t>
            </a:r>
            <a:r>
              <a:rPr sz="3150" baseline="1322" dirty="0"/>
              <a:t>IN</a:t>
            </a:r>
            <a:r>
              <a:rPr sz="3150" spc="359" baseline="1322" dirty="0"/>
              <a:t> </a:t>
            </a:r>
            <a:r>
              <a:rPr sz="3150" spc="67" baseline="1322" dirty="0"/>
              <a:t>DEPTH</a:t>
            </a:r>
            <a:endParaRPr sz="3150" baseline="1322">
              <a:latin typeface="MingLiU_HKSCS-ExtB"/>
              <a:cs typeface="MingLiU_HKSCS-ExtB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2595" y="723228"/>
            <a:ext cx="8811260" cy="746125"/>
            <a:chOff x="192595" y="723228"/>
            <a:chExt cx="8811260" cy="7461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595" y="723228"/>
              <a:ext cx="8811006" cy="7459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73964" y="804597"/>
              <a:ext cx="8595360" cy="530860"/>
            </a:xfrm>
            <a:custGeom>
              <a:avLst/>
              <a:gdLst/>
              <a:ahLst/>
              <a:cxnLst/>
              <a:rect l="l" t="t" r="r" b="b"/>
              <a:pathLst>
                <a:path w="8595360" h="530860">
                  <a:moveTo>
                    <a:pt x="8540280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475564"/>
                  </a:lnTo>
                  <a:lnTo>
                    <a:pt x="452" y="482417"/>
                  </a:lnTo>
                  <a:lnTo>
                    <a:pt x="466" y="482622"/>
                  </a:lnTo>
                  <a:lnTo>
                    <a:pt x="1799" y="489424"/>
                  </a:lnTo>
                  <a:lnTo>
                    <a:pt x="1843" y="489646"/>
                  </a:lnTo>
                  <a:lnTo>
                    <a:pt x="3997" y="496163"/>
                  </a:lnTo>
                  <a:lnTo>
                    <a:pt x="33757" y="526184"/>
                  </a:lnTo>
                  <a:lnTo>
                    <a:pt x="48008" y="529920"/>
                  </a:lnTo>
                  <a:lnTo>
                    <a:pt x="49037" y="529920"/>
                  </a:lnTo>
                  <a:lnTo>
                    <a:pt x="54711" y="530288"/>
                  </a:lnTo>
                  <a:lnTo>
                    <a:pt x="8540635" y="529920"/>
                  </a:lnTo>
                  <a:lnTo>
                    <a:pt x="8579289" y="513994"/>
                  </a:lnTo>
                  <a:lnTo>
                    <a:pt x="8593437" y="489646"/>
                  </a:lnTo>
                  <a:lnTo>
                    <a:pt x="8593512" y="489424"/>
                  </a:lnTo>
                  <a:lnTo>
                    <a:pt x="8594851" y="482622"/>
                  </a:lnTo>
                  <a:lnTo>
                    <a:pt x="8594892" y="482417"/>
                  </a:lnTo>
                  <a:lnTo>
                    <a:pt x="8595336" y="475564"/>
                  </a:lnTo>
                  <a:lnTo>
                    <a:pt x="8594991" y="54724"/>
                  </a:lnTo>
                  <a:lnTo>
                    <a:pt x="8579065" y="16070"/>
                  </a:lnTo>
                  <a:lnTo>
                    <a:pt x="8547488" y="467"/>
                  </a:lnTo>
                  <a:lnTo>
                    <a:pt x="854028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3964" y="804597"/>
              <a:ext cx="8595360" cy="530860"/>
            </a:xfrm>
            <a:custGeom>
              <a:avLst/>
              <a:gdLst/>
              <a:ahLst/>
              <a:cxnLst/>
              <a:rect l="l" t="t" r="r" b="b"/>
              <a:pathLst>
                <a:path w="8595360" h="5308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8540280" y="0"/>
                  </a:lnTo>
                  <a:lnTo>
                    <a:pt x="8579065" y="16070"/>
                  </a:lnTo>
                  <a:lnTo>
                    <a:pt x="8594991" y="54724"/>
                  </a:lnTo>
                  <a:lnTo>
                    <a:pt x="8595360" y="475208"/>
                  </a:lnTo>
                  <a:lnTo>
                    <a:pt x="8594892" y="482417"/>
                  </a:lnTo>
                  <a:lnTo>
                    <a:pt x="8593512" y="489424"/>
                  </a:lnTo>
                  <a:lnTo>
                    <a:pt x="8567991" y="522719"/>
                  </a:lnTo>
                  <a:lnTo>
                    <a:pt x="54711" y="530288"/>
                  </a:lnTo>
                  <a:lnTo>
                    <a:pt x="15925" y="514218"/>
                  </a:lnTo>
                  <a:lnTo>
                    <a:pt x="0" y="475564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47040" y="88667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59">
                  <a:moveTo>
                    <a:pt x="182879" y="0"/>
                  </a:moveTo>
                  <a:lnTo>
                    <a:pt x="135540" y="6165"/>
                  </a:lnTo>
                  <a:lnTo>
                    <a:pt x="91440" y="24485"/>
                  </a:lnTo>
                  <a:lnTo>
                    <a:pt x="53638" y="53643"/>
                  </a:lnTo>
                  <a:lnTo>
                    <a:pt x="24485" y="91439"/>
                  </a:lnTo>
                  <a:lnTo>
                    <a:pt x="6165" y="135540"/>
                  </a:lnTo>
                  <a:lnTo>
                    <a:pt x="0" y="182879"/>
                  </a:lnTo>
                  <a:lnTo>
                    <a:pt x="1547" y="206788"/>
                  </a:lnTo>
                  <a:lnTo>
                    <a:pt x="13823" y="252847"/>
                  </a:lnTo>
                  <a:lnTo>
                    <a:pt x="37879" y="294200"/>
                  </a:lnTo>
                  <a:lnTo>
                    <a:pt x="71559" y="327885"/>
                  </a:lnTo>
                  <a:lnTo>
                    <a:pt x="112917" y="351942"/>
                  </a:lnTo>
                  <a:lnTo>
                    <a:pt x="158973" y="364213"/>
                  </a:lnTo>
                  <a:lnTo>
                    <a:pt x="182879" y="365760"/>
                  </a:lnTo>
                  <a:lnTo>
                    <a:pt x="206786" y="364213"/>
                  </a:lnTo>
                  <a:lnTo>
                    <a:pt x="252842" y="351942"/>
                  </a:lnTo>
                  <a:lnTo>
                    <a:pt x="294200" y="327885"/>
                  </a:lnTo>
                  <a:lnTo>
                    <a:pt x="327880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59" y="182879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80" y="71564"/>
                  </a:lnTo>
                  <a:lnTo>
                    <a:pt x="294200" y="37881"/>
                  </a:lnTo>
                  <a:lnTo>
                    <a:pt x="252842" y="13823"/>
                  </a:lnTo>
                  <a:lnTo>
                    <a:pt x="206786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7040" y="88667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59">
                  <a:moveTo>
                    <a:pt x="0" y="182879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39"/>
                  </a:lnTo>
                  <a:lnTo>
                    <a:pt x="53638" y="53643"/>
                  </a:lnTo>
                  <a:lnTo>
                    <a:pt x="91440" y="24485"/>
                  </a:lnTo>
                  <a:lnTo>
                    <a:pt x="135540" y="6165"/>
                  </a:lnTo>
                  <a:lnTo>
                    <a:pt x="182879" y="0"/>
                  </a:lnTo>
                  <a:lnTo>
                    <a:pt x="230219" y="6165"/>
                  </a:lnTo>
                  <a:lnTo>
                    <a:pt x="274320" y="24485"/>
                  </a:lnTo>
                  <a:lnTo>
                    <a:pt x="312121" y="53643"/>
                  </a:lnTo>
                  <a:lnTo>
                    <a:pt x="341274" y="91439"/>
                  </a:lnTo>
                  <a:lnTo>
                    <a:pt x="359594" y="135540"/>
                  </a:lnTo>
                  <a:lnTo>
                    <a:pt x="365759" y="182879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20"/>
                  </a:lnTo>
                  <a:lnTo>
                    <a:pt x="312121" y="312123"/>
                  </a:lnTo>
                  <a:lnTo>
                    <a:pt x="274320" y="341287"/>
                  </a:lnTo>
                  <a:lnTo>
                    <a:pt x="230219" y="359595"/>
                  </a:lnTo>
                  <a:lnTo>
                    <a:pt x="182879" y="365760"/>
                  </a:lnTo>
                  <a:lnTo>
                    <a:pt x="135540" y="359595"/>
                  </a:lnTo>
                  <a:lnTo>
                    <a:pt x="91440" y="341287"/>
                  </a:lnTo>
                  <a:lnTo>
                    <a:pt x="53638" y="312123"/>
                  </a:lnTo>
                  <a:lnTo>
                    <a:pt x="24485" y="274320"/>
                  </a:lnTo>
                  <a:lnTo>
                    <a:pt x="6165" y="230224"/>
                  </a:lnTo>
                  <a:lnTo>
                    <a:pt x="1547" y="206788"/>
                  </a:lnTo>
                  <a:lnTo>
                    <a:pt x="0" y="18287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81939" y="972986"/>
            <a:ext cx="96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9896" y="866421"/>
            <a:ext cx="3114675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r>
              <a:rPr sz="1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Cifrado</a:t>
            </a:r>
            <a:r>
              <a:rPr sz="1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GPG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mysqldump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diario +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cifrado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asimétrico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 ·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Protección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 de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datos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reposo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5399" y="1317588"/>
            <a:ext cx="8647430" cy="746125"/>
            <a:chOff x="275399" y="1317588"/>
            <a:chExt cx="8647430" cy="74612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399" y="1317588"/>
              <a:ext cx="8646845" cy="74593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6755" y="1398957"/>
              <a:ext cx="8430895" cy="530860"/>
            </a:xfrm>
            <a:custGeom>
              <a:avLst/>
              <a:gdLst/>
              <a:ahLst/>
              <a:cxnLst/>
              <a:rect l="l" t="t" r="r" b="b"/>
              <a:pathLst>
                <a:path w="8430895" h="530860">
                  <a:moveTo>
                    <a:pt x="8375764" y="0"/>
                  </a:moveTo>
                  <a:lnTo>
                    <a:pt x="54724" y="0"/>
                  </a:lnTo>
                  <a:lnTo>
                    <a:pt x="47665" y="467"/>
                  </a:lnTo>
                  <a:lnTo>
                    <a:pt x="11280" y="21433"/>
                  </a:lnTo>
                  <a:lnTo>
                    <a:pt x="0" y="54724"/>
                  </a:lnTo>
                  <a:lnTo>
                    <a:pt x="0" y="475564"/>
                  </a:lnTo>
                  <a:lnTo>
                    <a:pt x="454" y="482417"/>
                  </a:lnTo>
                  <a:lnTo>
                    <a:pt x="467" y="482622"/>
                  </a:lnTo>
                  <a:lnTo>
                    <a:pt x="21383" y="518973"/>
                  </a:lnTo>
                  <a:lnTo>
                    <a:pt x="48021" y="529920"/>
                  </a:lnTo>
                  <a:lnTo>
                    <a:pt x="49050" y="529920"/>
                  </a:lnTo>
                  <a:lnTo>
                    <a:pt x="54724" y="530288"/>
                  </a:lnTo>
                  <a:lnTo>
                    <a:pt x="8376119" y="529920"/>
                  </a:lnTo>
                  <a:lnTo>
                    <a:pt x="8414780" y="513994"/>
                  </a:lnTo>
                  <a:lnTo>
                    <a:pt x="8428926" y="489646"/>
                  </a:lnTo>
                  <a:lnTo>
                    <a:pt x="8429001" y="489424"/>
                  </a:lnTo>
                  <a:lnTo>
                    <a:pt x="8430337" y="482622"/>
                  </a:lnTo>
                  <a:lnTo>
                    <a:pt x="8430378" y="482417"/>
                  </a:lnTo>
                  <a:lnTo>
                    <a:pt x="8430821" y="475564"/>
                  </a:lnTo>
                  <a:lnTo>
                    <a:pt x="8430844" y="475208"/>
                  </a:lnTo>
                  <a:lnTo>
                    <a:pt x="8430488" y="54724"/>
                  </a:lnTo>
                  <a:lnTo>
                    <a:pt x="8414551" y="16070"/>
                  </a:lnTo>
                  <a:lnTo>
                    <a:pt x="8382972" y="467"/>
                  </a:lnTo>
                  <a:lnTo>
                    <a:pt x="8375764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6755" y="1398957"/>
              <a:ext cx="8430895" cy="530860"/>
            </a:xfrm>
            <a:custGeom>
              <a:avLst/>
              <a:gdLst/>
              <a:ahLst/>
              <a:cxnLst/>
              <a:rect l="l" t="t" r="r" b="b"/>
              <a:pathLst>
                <a:path w="8430895" h="530860">
                  <a:moveTo>
                    <a:pt x="0" y="54724"/>
                  </a:moveTo>
                  <a:lnTo>
                    <a:pt x="467" y="47515"/>
                  </a:lnTo>
                  <a:lnTo>
                    <a:pt x="1847" y="40508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8375764" y="0"/>
                  </a:lnTo>
                  <a:lnTo>
                    <a:pt x="8414551" y="16070"/>
                  </a:lnTo>
                  <a:lnTo>
                    <a:pt x="8430488" y="54724"/>
                  </a:lnTo>
                  <a:lnTo>
                    <a:pt x="8430844" y="475208"/>
                  </a:lnTo>
                  <a:lnTo>
                    <a:pt x="8430378" y="482417"/>
                  </a:lnTo>
                  <a:lnTo>
                    <a:pt x="8429001" y="489424"/>
                  </a:lnTo>
                  <a:lnTo>
                    <a:pt x="8403488" y="522719"/>
                  </a:lnTo>
                  <a:lnTo>
                    <a:pt x="54724" y="530288"/>
                  </a:lnTo>
                  <a:lnTo>
                    <a:pt x="15936" y="514218"/>
                  </a:lnTo>
                  <a:lnTo>
                    <a:pt x="0" y="475564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475" y="148103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0" y="6165"/>
                  </a:lnTo>
                  <a:lnTo>
                    <a:pt x="91440" y="24485"/>
                  </a:lnTo>
                  <a:lnTo>
                    <a:pt x="53643" y="53643"/>
                  </a:lnTo>
                  <a:lnTo>
                    <a:pt x="24485" y="91439"/>
                  </a:lnTo>
                  <a:lnTo>
                    <a:pt x="6165" y="135540"/>
                  </a:lnTo>
                  <a:lnTo>
                    <a:pt x="0" y="182879"/>
                  </a:lnTo>
                  <a:lnTo>
                    <a:pt x="1547" y="206788"/>
                  </a:lnTo>
                  <a:lnTo>
                    <a:pt x="13823" y="252847"/>
                  </a:lnTo>
                  <a:lnTo>
                    <a:pt x="37881" y="294200"/>
                  </a:lnTo>
                  <a:lnTo>
                    <a:pt x="71564" y="327885"/>
                  </a:lnTo>
                  <a:lnTo>
                    <a:pt x="112917" y="351942"/>
                  </a:lnTo>
                  <a:lnTo>
                    <a:pt x="158973" y="364213"/>
                  </a:lnTo>
                  <a:lnTo>
                    <a:pt x="182879" y="365760"/>
                  </a:lnTo>
                  <a:lnTo>
                    <a:pt x="206788" y="364213"/>
                  </a:lnTo>
                  <a:lnTo>
                    <a:pt x="252847" y="351942"/>
                  </a:lnTo>
                  <a:lnTo>
                    <a:pt x="294200" y="327885"/>
                  </a:lnTo>
                  <a:lnTo>
                    <a:pt x="327885" y="294200"/>
                  </a:lnTo>
                  <a:lnTo>
                    <a:pt x="351942" y="252847"/>
                  </a:lnTo>
                  <a:lnTo>
                    <a:pt x="364213" y="206788"/>
                  </a:lnTo>
                  <a:lnTo>
                    <a:pt x="365759" y="182879"/>
                  </a:lnTo>
                  <a:lnTo>
                    <a:pt x="364213" y="158973"/>
                  </a:lnTo>
                  <a:lnTo>
                    <a:pt x="351942" y="112917"/>
                  </a:lnTo>
                  <a:lnTo>
                    <a:pt x="327885" y="71564"/>
                  </a:lnTo>
                  <a:lnTo>
                    <a:pt x="294200" y="37881"/>
                  </a:lnTo>
                  <a:lnTo>
                    <a:pt x="252847" y="13823"/>
                  </a:lnTo>
                  <a:lnTo>
                    <a:pt x="206788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9475" y="148103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79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39"/>
                  </a:lnTo>
                  <a:lnTo>
                    <a:pt x="53643" y="53643"/>
                  </a:lnTo>
                  <a:lnTo>
                    <a:pt x="91440" y="24485"/>
                  </a:lnTo>
                  <a:lnTo>
                    <a:pt x="135540" y="6165"/>
                  </a:lnTo>
                  <a:lnTo>
                    <a:pt x="182879" y="0"/>
                  </a:lnTo>
                  <a:lnTo>
                    <a:pt x="230224" y="6165"/>
                  </a:lnTo>
                  <a:lnTo>
                    <a:pt x="274320" y="24485"/>
                  </a:lnTo>
                  <a:lnTo>
                    <a:pt x="312123" y="53643"/>
                  </a:lnTo>
                  <a:lnTo>
                    <a:pt x="341287" y="91439"/>
                  </a:lnTo>
                  <a:lnTo>
                    <a:pt x="359595" y="135540"/>
                  </a:lnTo>
                  <a:lnTo>
                    <a:pt x="365759" y="182879"/>
                  </a:lnTo>
                  <a:lnTo>
                    <a:pt x="364213" y="206788"/>
                  </a:lnTo>
                  <a:lnTo>
                    <a:pt x="359595" y="230224"/>
                  </a:lnTo>
                  <a:lnTo>
                    <a:pt x="341287" y="274319"/>
                  </a:lnTo>
                  <a:lnTo>
                    <a:pt x="312123" y="312123"/>
                  </a:lnTo>
                  <a:lnTo>
                    <a:pt x="274320" y="341287"/>
                  </a:lnTo>
                  <a:lnTo>
                    <a:pt x="230224" y="359595"/>
                  </a:lnTo>
                  <a:lnTo>
                    <a:pt x="182879" y="365760"/>
                  </a:lnTo>
                  <a:lnTo>
                    <a:pt x="135540" y="359595"/>
                  </a:lnTo>
                  <a:lnTo>
                    <a:pt x="91440" y="341287"/>
                  </a:lnTo>
                  <a:lnTo>
                    <a:pt x="53643" y="312123"/>
                  </a:lnTo>
                  <a:lnTo>
                    <a:pt x="24485" y="274319"/>
                  </a:lnTo>
                  <a:lnTo>
                    <a:pt x="6165" y="230224"/>
                  </a:lnTo>
                  <a:lnTo>
                    <a:pt x="1547" y="206788"/>
                  </a:lnTo>
                  <a:lnTo>
                    <a:pt x="0" y="18287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64375" y="1567347"/>
            <a:ext cx="96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82700" y="1460781"/>
            <a:ext cx="2837180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Logs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Centralizados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(rsyslog)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VMs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envían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logs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siem-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audit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Visibilidad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auditoría completa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57124" y="1911948"/>
            <a:ext cx="8482330" cy="746125"/>
            <a:chOff x="357124" y="1911948"/>
            <a:chExt cx="8482330" cy="74612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7124" y="1911948"/>
              <a:ext cx="8482317" cy="74557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8480" y="1993317"/>
              <a:ext cx="8266430" cy="530860"/>
            </a:xfrm>
            <a:custGeom>
              <a:avLst/>
              <a:gdLst/>
              <a:ahLst/>
              <a:cxnLst/>
              <a:rect l="l" t="t" r="r" b="b"/>
              <a:pathLst>
                <a:path w="8266430" h="530860">
                  <a:moveTo>
                    <a:pt x="8211235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475564"/>
                  </a:lnTo>
                  <a:lnTo>
                    <a:pt x="452" y="482417"/>
                  </a:lnTo>
                  <a:lnTo>
                    <a:pt x="466" y="482622"/>
                  </a:lnTo>
                  <a:lnTo>
                    <a:pt x="1799" y="489424"/>
                  </a:lnTo>
                  <a:lnTo>
                    <a:pt x="1843" y="489646"/>
                  </a:lnTo>
                  <a:lnTo>
                    <a:pt x="3997" y="496163"/>
                  </a:lnTo>
                  <a:lnTo>
                    <a:pt x="4098" y="496468"/>
                  </a:lnTo>
                  <a:lnTo>
                    <a:pt x="33757" y="526184"/>
                  </a:lnTo>
                  <a:lnTo>
                    <a:pt x="48014" y="529920"/>
                  </a:lnTo>
                  <a:lnTo>
                    <a:pt x="49044" y="529920"/>
                  </a:lnTo>
                  <a:lnTo>
                    <a:pt x="54724" y="530288"/>
                  </a:lnTo>
                  <a:lnTo>
                    <a:pt x="8211604" y="529920"/>
                  </a:lnTo>
                  <a:lnTo>
                    <a:pt x="8250256" y="513994"/>
                  </a:lnTo>
                  <a:lnTo>
                    <a:pt x="8264398" y="489646"/>
                  </a:lnTo>
                  <a:lnTo>
                    <a:pt x="8264472" y="489424"/>
                  </a:lnTo>
                  <a:lnTo>
                    <a:pt x="8265809" y="482622"/>
                  </a:lnTo>
                  <a:lnTo>
                    <a:pt x="8265849" y="482417"/>
                  </a:lnTo>
                  <a:lnTo>
                    <a:pt x="8266292" y="475564"/>
                  </a:lnTo>
                  <a:lnTo>
                    <a:pt x="8266315" y="475208"/>
                  </a:lnTo>
                  <a:lnTo>
                    <a:pt x="8265960" y="54724"/>
                  </a:lnTo>
                  <a:lnTo>
                    <a:pt x="8250034" y="16070"/>
                  </a:lnTo>
                  <a:lnTo>
                    <a:pt x="8218451" y="467"/>
                  </a:lnTo>
                  <a:lnTo>
                    <a:pt x="8211235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8480" y="1993317"/>
              <a:ext cx="8266430" cy="530860"/>
            </a:xfrm>
            <a:custGeom>
              <a:avLst/>
              <a:gdLst/>
              <a:ahLst/>
              <a:cxnLst/>
              <a:rect l="l" t="t" r="r" b="b"/>
              <a:pathLst>
                <a:path w="8266430" h="5308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8211235" y="0"/>
                  </a:lnTo>
                  <a:lnTo>
                    <a:pt x="8250034" y="16070"/>
                  </a:lnTo>
                  <a:lnTo>
                    <a:pt x="8265960" y="54724"/>
                  </a:lnTo>
                  <a:lnTo>
                    <a:pt x="8266315" y="475208"/>
                  </a:lnTo>
                  <a:lnTo>
                    <a:pt x="8265849" y="482417"/>
                  </a:lnTo>
                  <a:lnTo>
                    <a:pt x="8264472" y="489424"/>
                  </a:lnTo>
                  <a:lnTo>
                    <a:pt x="8238959" y="522719"/>
                  </a:lnTo>
                  <a:lnTo>
                    <a:pt x="54724" y="530288"/>
                  </a:lnTo>
                  <a:lnTo>
                    <a:pt x="15925" y="514218"/>
                  </a:lnTo>
                  <a:lnTo>
                    <a:pt x="0" y="475564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1556" y="207539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0" y="6165"/>
                  </a:lnTo>
                  <a:lnTo>
                    <a:pt x="91439" y="24485"/>
                  </a:lnTo>
                  <a:lnTo>
                    <a:pt x="53643" y="53643"/>
                  </a:lnTo>
                  <a:lnTo>
                    <a:pt x="24485" y="91440"/>
                  </a:lnTo>
                  <a:lnTo>
                    <a:pt x="6165" y="135540"/>
                  </a:lnTo>
                  <a:lnTo>
                    <a:pt x="0" y="182880"/>
                  </a:lnTo>
                  <a:lnTo>
                    <a:pt x="1547" y="206788"/>
                  </a:lnTo>
                  <a:lnTo>
                    <a:pt x="13823" y="252847"/>
                  </a:lnTo>
                  <a:lnTo>
                    <a:pt x="37881" y="294200"/>
                  </a:lnTo>
                  <a:lnTo>
                    <a:pt x="71564" y="327885"/>
                  </a:lnTo>
                  <a:lnTo>
                    <a:pt x="112917" y="351942"/>
                  </a:lnTo>
                  <a:lnTo>
                    <a:pt x="158973" y="364213"/>
                  </a:lnTo>
                  <a:lnTo>
                    <a:pt x="182879" y="365760"/>
                  </a:lnTo>
                  <a:lnTo>
                    <a:pt x="206788" y="364213"/>
                  </a:lnTo>
                  <a:lnTo>
                    <a:pt x="252847" y="351942"/>
                  </a:lnTo>
                  <a:lnTo>
                    <a:pt x="294200" y="327885"/>
                  </a:lnTo>
                  <a:lnTo>
                    <a:pt x="327885" y="294200"/>
                  </a:lnTo>
                  <a:lnTo>
                    <a:pt x="351942" y="252847"/>
                  </a:lnTo>
                  <a:lnTo>
                    <a:pt x="364213" y="206788"/>
                  </a:lnTo>
                  <a:lnTo>
                    <a:pt x="365759" y="182880"/>
                  </a:lnTo>
                  <a:lnTo>
                    <a:pt x="364213" y="158973"/>
                  </a:lnTo>
                  <a:lnTo>
                    <a:pt x="351942" y="112917"/>
                  </a:lnTo>
                  <a:lnTo>
                    <a:pt x="327885" y="71564"/>
                  </a:lnTo>
                  <a:lnTo>
                    <a:pt x="294200" y="37881"/>
                  </a:lnTo>
                  <a:lnTo>
                    <a:pt x="252847" y="13823"/>
                  </a:lnTo>
                  <a:lnTo>
                    <a:pt x="206788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1556" y="207539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40"/>
                  </a:lnTo>
                  <a:lnTo>
                    <a:pt x="53643" y="53643"/>
                  </a:lnTo>
                  <a:lnTo>
                    <a:pt x="91439" y="24485"/>
                  </a:lnTo>
                  <a:lnTo>
                    <a:pt x="135540" y="6165"/>
                  </a:lnTo>
                  <a:lnTo>
                    <a:pt x="182879" y="0"/>
                  </a:lnTo>
                  <a:lnTo>
                    <a:pt x="230224" y="6165"/>
                  </a:lnTo>
                  <a:lnTo>
                    <a:pt x="274320" y="24485"/>
                  </a:lnTo>
                  <a:lnTo>
                    <a:pt x="312123" y="53643"/>
                  </a:lnTo>
                  <a:lnTo>
                    <a:pt x="341287" y="91440"/>
                  </a:lnTo>
                  <a:lnTo>
                    <a:pt x="359595" y="135540"/>
                  </a:lnTo>
                  <a:lnTo>
                    <a:pt x="365759" y="182880"/>
                  </a:lnTo>
                  <a:lnTo>
                    <a:pt x="364213" y="206788"/>
                  </a:lnTo>
                  <a:lnTo>
                    <a:pt x="359595" y="230224"/>
                  </a:lnTo>
                  <a:lnTo>
                    <a:pt x="341287" y="274319"/>
                  </a:lnTo>
                  <a:lnTo>
                    <a:pt x="312123" y="312123"/>
                  </a:lnTo>
                  <a:lnTo>
                    <a:pt x="274320" y="341287"/>
                  </a:lnTo>
                  <a:lnTo>
                    <a:pt x="230224" y="359595"/>
                  </a:lnTo>
                  <a:lnTo>
                    <a:pt x="182879" y="365760"/>
                  </a:lnTo>
                  <a:lnTo>
                    <a:pt x="135540" y="359595"/>
                  </a:lnTo>
                  <a:lnTo>
                    <a:pt x="91439" y="341287"/>
                  </a:lnTo>
                  <a:lnTo>
                    <a:pt x="53643" y="312123"/>
                  </a:lnTo>
                  <a:lnTo>
                    <a:pt x="24485" y="274319"/>
                  </a:lnTo>
                  <a:lnTo>
                    <a:pt x="6165" y="230224"/>
                  </a:lnTo>
                  <a:lnTo>
                    <a:pt x="1547" y="206788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46455" y="2161707"/>
            <a:ext cx="96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64425" y="2055141"/>
            <a:ext cx="3404235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Fail2ban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Banea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IPs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tras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 3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intentos fallidos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en 5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min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Detección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respuesta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automática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39559" y="2506308"/>
            <a:ext cx="8317865" cy="746125"/>
            <a:chOff x="439559" y="2506308"/>
            <a:chExt cx="8317865" cy="746125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559" y="2506308"/>
              <a:ext cx="8317445" cy="74593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20915" y="2587677"/>
              <a:ext cx="8101965" cy="530860"/>
            </a:xfrm>
            <a:custGeom>
              <a:avLst/>
              <a:gdLst/>
              <a:ahLst/>
              <a:cxnLst/>
              <a:rect l="l" t="t" r="r" b="b"/>
              <a:pathLst>
                <a:path w="8101965" h="530860">
                  <a:moveTo>
                    <a:pt x="8046364" y="0"/>
                  </a:moveTo>
                  <a:lnTo>
                    <a:pt x="54724" y="0"/>
                  </a:lnTo>
                  <a:lnTo>
                    <a:pt x="47665" y="467"/>
                  </a:lnTo>
                  <a:lnTo>
                    <a:pt x="11280" y="21433"/>
                  </a:lnTo>
                  <a:lnTo>
                    <a:pt x="0" y="54724"/>
                  </a:lnTo>
                  <a:lnTo>
                    <a:pt x="0" y="475564"/>
                  </a:lnTo>
                  <a:lnTo>
                    <a:pt x="454" y="482417"/>
                  </a:lnTo>
                  <a:lnTo>
                    <a:pt x="467" y="482622"/>
                  </a:lnTo>
                  <a:lnTo>
                    <a:pt x="1804" y="489424"/>
                  </a:lnTo>
                  <a:lnTo>
                    <a:pt x="1847" y="489646"/>
                  </a:lnTo>
                  <a:lnTo>
                    <a:pt x="4003" y="496163"/>
                  </a:lnTo>
                  <a:lnTo>
                    <a:pt x="33769" y="526184"/>
                  </a:lnTo>
                  <a:lnTo>
                    <a:pt x="48021" y="529920"/>
                  </a:lnTo>
                  <a:lnTo>
                    <a:pt x="49050" y="529920"/>
                  </a:lnTo>
                  <a:lnTo>
                    <a:pt x="54724" y="530288"/>
                  </a:lnTo>
                  <a:lnTo>
                    <a:pt x="8046719" y="529920"/>
                  </a:lnTo>
                  <a:lnTo>
                    <a:pt x="8085380" y="513994"/>
                  </a:lnTo>
                  <a:lnTo>
                    <a:pt x="8099526" y="489646"/>
                  </a:lnTo>
                  <a:lnTo>
                    <a:pt x="8099601" y="489424"/>
                  </a:lnTo>
                  <a:lnTo>
                    <a:pt x="8100937" y="482622"/>
                  </a:lnTo>
                  <a:lnTo>
                    <a:pt x="8100978" y="482417"/>
                  </a:lnTo>
                  <a:lnTo>
                    <a:pt x="8101421" y="475564"/>
                  </a:lnTo>
                  <a:lnTo>
                    <a:pt x="8101088" y="54724"/>
                  </a:lnTo>
                  <a:lnTo>
                    <a:pt x="8085151" y="16070"/>
                  </a:lnTo>
                  <a:lnTo>
                    <a:pt x="8053573" y="467"/>
                  </a:lnTo>
                  <a:lnTo>
                    <a:pt x="8046364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0915" y="2587677"/>
              <a:ext cx="8101965" cy="530860"/>
            </a:xfrm>
            <a:custGeom>
              <a:avLst/>
              <a:gdLst/>
              <a:ahLst/>
              <a:cxnLst/>
              <a:rect l="l" t="t" r="r" b="b"/>
              <a:pathLst>
                <a:path w="8101965" h="530860">
                  <a:moveTo>
                    <a:pt x="0" y="54724"/>
                  </a:moveTo>
                  <a:lnTo>
                    <a:pt x="467" y="47515"/>
                  </a:lnTo>
                  <a:lnTo>
                    <a:pt x="1847" y="40508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8046364" y="0"/>
                  </a:lnTo>
                  <a:lnTo>
                    <a:pt x="8085151" y="16070"/>
                  </a:lnTo>
                  <a:lnTo>
                    <a:pt x="8101088" y="54724"/>
                  </a:lnTo>
                  <a:lnTo>
                    <a:pt x="8101444" y="475208"/>
                  </a:lnTo>
                  <a:lnTo>
                    <a:pt x="8100978" y="482417"/>
                  </a:lnTo>
                  <a:lnTo>
                    <a:pt x="8099601" y="489424"/>
                  </a:lnTo>
                  <a:lnTo>
                    <a:pt x="8074088" y="522719"/>
                  </a:lnTo>
                  <a:lnTo>
                    <a:pt x="54724" y="530288"/>
                  </a:lnTo>
                  <a:lnTo>
                    <a:pt x="15936" y="514218"/>
                  </a:lnTo>
                  <a:lnTo>
                    <a:pt x="0" y="475564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94004" y="266975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35" y="6165"/>
                  </a:lnTo>
                  <a:lnTo>
                    <a:pt x="91440" y="24485"/>
                  </a:lnTo>
                  <a:lnTo>
                    <a:pt x="53636" y="53643"/>
                  </a:lnTo>
                  <a:lnTo>
                    <a:pt x="24472" y="91439"/>
                  </a:lnTo>
                  <a:lnTo>
                    <a:pt x="6164" y="135540"/>
                  </a:lnTo>
                  <a:lnTo>
                    <a:pt x="0" y="182880"/>
                  </a:lnTo>
                  <a:lnTo>
                    <a:pt x="1546" y="206788"/>
                  </a:lnTo>
                  <a:lnTo>
                    <a:pt x="13817" y="252847"/>
                  </a:lnTo>
                  <a:lnTo>
                    <a:pt x="37874" y="294200"/>
                  </a:lnTo>
                  <a:lnTo>
                    <a:pt x="71559" y="327885"/>
                  </a:lnTo>
                  <a:lnTo>
                    <a:pt x="112912" y="351942"/>
                  </a:lnTo>
                  <a:lnTo>
                    <a:pt x="158971" y="364213"/>
                  </a:lnTo>
                  <a:lnTo>
                    <a:pt x="182879" y="365759"/>
                  </a:lnTo>
                  <a:lnTo>
                    <a:pt x="206781" y="364213"/>
                  </a:lnTo>
                  <a:lnTo>
                    <a:pt x="252840" y="351942"/>
                  </a:lnTo>
                  <a:lnTo>
                    <a:pt x="294195" y="327885"/>
                  </a:lnTo>
                  <a:lnTo>
                    <a:pt x="327878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60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78" y="71564"/>
                  </a:lnTo>
                  <a:lnTo>
                    <a:pt x="294195" y="37881"/>
                  </a:lnTo>
                  <a:lnTo>
                    <a:pt x="252840" y="13823"/>
                  </a:lnTo>
                  <a:lnTo>
                    <a:pt x="206781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94004" y="266975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6" y="158973"/>
                  </a:lnTo>
                  <a:lnTo>
                    <a:pt x="6164" y="135540"/>
                  </a:lnTo>
                  <a:lnTo>
                    <a:pt x="24472" y="91439"/>
                  </a:lnTo>
                  <a:lnTo>
                    <a:pt x="53636" y="53643"/>
                  </a:lnTo>
                  <a:lnTo>
                    <a:pt x="91440" y="24485"/>
                  </a:lnTo>
                  <a:lnTo>
                    <a:pt x="135535" y="6165"/>
                  </a:lnTo>
                  <a:lnTo>
                    <a:pt x="182879" y="0"/>
                  </a:lnTo>
                  <a:lnTo>
                    <a:pt x="230214" y="6165"/>
                  </a:lnTo>
                  <a:lnTo>
                    <a:pt x="274320" y="24485"/>
                  </a:lnTo>
                  <a:lnTo>
                    <a:pt x="312116" y="53643"/>
                  </a:lnTo>
                  <a:lnTo>
                    <a:pt x="341274" y="91439"/>
                  </a:lnTo>
                  <a:lnTo>
                    <a:pt x="359594" y="135540"/>
                  </a:lnTo>
                  <a:lnTo>
                    <a:pt x="365760" y="182880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19"/>
                  </a:lnTo>
                  <a:lnTo>
                    <a:pt x="312116" y="312123"/>
                  </a:lnTo>
                  <a:lnTo>
                    <a:pt x="274320" y="341287"/>
                  </a:lnTo>
                  <a:lnTo>
                    <a:pt x="230214" y="359595"/>
                  </a:lnTo>
                  <a:lnTo>
                    <a:pt x="182879" y="365759"/>
                  </a:lnTo>
                  <a:lnTo>
                    <a:pt x="135535" y="359595"/>
                  </a:lnTo>
                  <a:lnTo>
                    <a:pt x="91440" y="341287"/>
                  </a:lnTo>
                  <a:lnTo>
                    <a:pt x="53636" y="312123"/>
                  </a:lnTo>
                  <a:lnTo>
                    <a:pt x="24472" y="274319"/>
                  </a:lnTo>
                  <a:lnTo>
                    <a:pt x="6164" y="230224"/>
                  </a:lnTo>
                  <a:lnTo>
                    <a:pt x="1546" y="206788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28903" y="2756067"/>
            <a:ext cx="96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46860" y="2649501"/>
            <a:ext cx="2368550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TLS</a:t>
            </a:r>
            <a:r>
              <a:rPr sz="10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HTTPS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Certificado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 RSA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2048,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TLS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1.2/1.3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Cifrado</a:t>
            </a:r>
            <a:r>
              <a:rPr sz="8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tránsito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21995" y="3100668"/>
            <a:ext cx="8152765" cy="746125"/>
            <a:chOff x="521995" y="3100668"/>
            <a:chExt cx="8152765" cy="746125"/>
          </a:xfrm>
        </p:grpSpPr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1995" y="3100668"/>
              <a:ext cx="8152561" cy="74593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03364" y="3182037"/>
              <a:ext cx="7937500" cy="530860"/>
            </a:xfrm>
            <a:custGeom>
              <a:avLst/>
              <a:gdLst/>
              <a:ahLst/>
              <a:cxnLst/>
              <a:rect l="l" t="t" r="r" b="b"/>
              <a:pathLst>
                <a:path w="7937500" h="530860">
                  <a:moveTo>
                    <a:pt x="7881835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475564"/>
                  </a:lnTo>
                  <a:lnTo>
                    <a:pt x="3997" y="496163"/>
                  </a:lnTo>
                  <a:lnTo>
                    <a:pt x="4098" y="496468"/>
                  </a:lnTo>
                  <a:lnTo>
                    <a:pt x="33757" y="526184"/>
                  </a:lnTo>
                  <a:lnTo>
                    <a:pt x="48008" y="529920"/>
                  </a:lnTo>
                  <a:lnTo>
                    <a:pt x="49037" y="529920"/>
                  </a:lnTo>
                  <a:lnTo>
                    <a:pt x="54711" y="530288"/>
                  </a:lnTo>
                  <a:lnTo>
                    <a:pt x="7882191" y="529920"/>
                  </a:lnTo>
                  <a:lnTo>
                    <a:pt x="7920851" y="513994"/>
                  </a:lnTo>
                  <a:lnTo>
                    <a:pt x="7934998" y="489646"/>
                  </a:lnTo>
                  <a:lnTo>
                    <a:pt x="7935072" y="489424"/>
                  </a:lnTo>
                  <a:lnTo>
                    <a:pt x="7936409" y="482622"/>
                  </a:lnTo>
                  <a:lnTo>
                    <a:pt x="7936449" y="482417"/>
                  </a:lnTo>
                  <a:lnTo>
                    <a:pt x="7936892" y="475564"/>
                  </a:lnTo>
                  <a:lnTo>
                    <a:pt x="7936915" y="475208"/>
                  </a:lnTo>
                  <a:lnTo>
                    <a:pt x="7936560" y="54724"/>
                  </a:lnTo>
                  <a:lnTo>
                    <a:pt x="7920623" y="16070"/>
                  </a:lnTo>
                  <a:lnTo>
                    <a:pt x="7889044" y="467"/>
                  </a:lnTo>
                  <a:lnTo>
                    <a:pt x="7881835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3364" y="3182037"/>
              <a:ext cx="7937500" cy="530860"/>
            </a:xfrm>
            <a:custGeom>
              <a:avLst/>
              <a:gdLst/>
              <a:ahLst/>
              <a:cxnLst/>
              <a:rect l="l" t="t" r="r" b="b"/>
              <a:pathLst>
                <a:path w="7937500" h="5308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7881835" y="0"/>
                  </a:lnTo>
                  <a:lnTo>
                    <a:pt x="7920623" y="16070"/>
                  </a:lnTo>
                  <a:lnTo>
                    <a:pt x="7936560" y="54724"/>
                  </a:lnTo>
                  <a:lnTo>
                    <a:pt x="7936915" y="475208"/>
                  </a:lnTo>
                  <a:lnTo>
                    <a:pt x="7936449" y="482417"/>
                  </a:lnTo>
                  <a:lnTo>
                    <a:pt x="7935072" y="489424"/>
                  </a:lnTo>
                  <a:lnTo>
                    <a:pt x="7909559" y="522719"/>
                  </a:lnTo>
                  <a:lnTo>
                    <a:pt x="54711" y="530288"/>
                  </a:lnTo>
                  <a:lnTo>
                    <a:pt x="15925" y="514218"/>
                  </a:lnTo>
                  <a:lnTo>
                    <a:pt x="0" y="475564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6440" y="326411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79" y="0"/>
                  </a:moveTo>
                  <a:lnTo>
                    <a:pt x="135540" y="6165"/>
                  </a:lnTo>
                  <a:lnTo>
                    <a:pt x="91440" y="24485"/>
                  </a:lnTo>
                  <a:lnTo>
                    <a:pt x="53638" y="53643"/>
                  </a:lnTo>
                  <a:lnTo>
                    <a:pt x="24485" y="91440"/>
                  </a:lnTo>
                  <a:lnTo>
                    <a:pt x="6165" y="135540"/>
                  </a:lnTo>
                  <a:lnTo>
                    <a:pt x="0" y="182880"/>
                  </a:lnTo>
                  <a:lnTo>
                    <a:pt x="1547" y="206788"/>
                  </a:lnTo>
                  <a:lnTo>
                    <a:pt x="13823" y="252847"/>
                  </a:lnTo>
                  <a:lnTo>
                    <a:pt x="37879" y="294200"/>
                  </a:lnTo>
                  <a:lnTo>
                    <a:pt x="71559" y="327885"/>
                  </a:lnTo>
                  <a:lnTo>
                    <a:pt x="112917" y="351942"/>
                  </a:lnTo>
                  <a:lnTo>
                    <a:pt x="158973" y="364213"/>
                  </a:lnTo>
                  <a:lnTo>
                    <a:pt x="182879" y="365760"/>
                  </a:lnTo>
                  <a:lnTo>
                    <a:pt x="206786" y="364213"/>
                  </a:lnTo>
                  <a:lnTo>
                    <a:pt x="252842" y="351942"/>
                  </a:lnTo>
                  <a:lnTo>
                    <a:pt x="294200" y="327885"/>
                  </a:lnTo>
                  <a:lnTo>
                    <a:pt x="327880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60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80" y="71564"/>
                  </a:lnTo>
                  <a:lnTo>
                    <a:pt x="294200" y="37881"/>
                  </a:lnTo>
                  <a:lnTo>
                    <a:pt x="252842" y="13823"/>
                  </a:lnTo>
                  <a:lnTo>
                    <a:pt x="206786" y="1547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6440" y="326411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40"/>
                  </a:lnTo>
                  <a:lnTo>
                    <a:pt x="53638" y="53643"/>
                  </a:lnTo>
                  <a:lnTo>
                    <a:pt x="91440" y="24485"/>
                  </a:lnTo>
                  <a:lnTo>
                    <a:pt x="135540" y="6165"/>
                  </a:lnTo>
                  <a:lnTo>
                    <a:pt x="182879" y="0"/>
                  </a:lnTo>
                  <a:lnTo>
                    <a:pt x="230219" y="6165"/>
                  </a:lnTo>
                  <a:lnTo>
                    <a:pt x="274320" y="24485"/>
                  </a:lnTo>
                  <a:lnTo>
                    <a:pt x="312121" y="53643"/>
                  </a:lnTo>
                  <a:lnTo>
                    <a:pt x="341274" y="91440"/>
                  </a:lnTo>
                  <a:lnTo>
                    <a:pt x="359594" y="135540"/>
                  </a:lnTo>
                  <a:lnTo>
                    <a:pt x="365760" y="182880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20"/>
                  </a:lnTo>
                  <a:lnTo>
                    <a:pt x="312121" y="312123"/>
                  </a:lnTo>
                  <a:lnTo>
                    <a:pt x="274320" y="341287"/>
                  </a:lnTo>
                  <a:lnTo>
                    <a:pt x="230219" y="359595"/>
                  </a:lnTo>
                  <a:lnTo>
                    <a:pt x="182879" y="365760"/>
                  </a:lnTo>
                  <a:lnTo>
                    <a:pt x="135540" y="359595"/>
                  </a:lnTo>
                  <a:lnTo>
                    <a:pt x="91440" y="341287"/>
                  </a:lnTo>
                  <a:lnTo>
                    <a:pt x="53638" y="312123"/>
                  </a:lnTo>
                  <a:lnTo>
                    <a:pt x="24485" y="274320"/>
                  </a:lnTo>
                  <a:lnTo>
                    <a:pt x="6165" y="230224"/>
                  </a:lnTo>
                  <a:lnTo>
                    <a:pt x="1547" y="206788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11339" y="3350427"/>
            <a:ext cx="96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29296" y="3243861"/>
            <a:ext cx="3034030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Hardening</a:t>
            </a:r>
            <a:r>
              <a:rPr sz="10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SSH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Puerto</a:t>
            </a:r>
            <a:r>
              <a:rPr sz="8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2222,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claves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ed25519,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sin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root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Acceso</a:t>
            </a:r>
            <a:r>
              <a:rPr sz="8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administrativo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seguro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04075" y="3695029"/>
            <a:ext cx="7988300" cy="746125"/>
            <a:chOff x="604075" y="3695029"/>
            <a:chExt cx="7988300" cy="746125"/>
          </a:xfrm>
        </p:grpSpPr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4075" y="3695029"/>
              <a:ext cx="7988046" cy="74593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85444" y="3776398"/>
              <a:ext cx="7772400" cy="530860"/>
            </a:xfrm>
            <a:custGeom>
              <a:avLst/>
              <a:gdLst/>
              <a:ahLst/>
              <a:cxnLst/>
              <a:rect l="l" t="t" r="r" b="b"/>
              <a:pathLst>
                <a:path w="7772400" h="530860">
                  <a:moveTo>
                    <a:pt x="7717320" y="0"/>
                  </a:moveTo>
                  <a:lnTo>
                    <a:pt x="54711" y="0"/>
                  </a:lnTo>
                  <a:lnTo>
                    <a:pt x="47652" y="467"/>
                  </a:lnTo>
                  <a:lnTo>
                    <a:pt x="11273" y="21433"/>
                  </a:lnTo>
                  <a:lnTo>
                    <a:pt x="0" y="54724"/>
                  </a:lnTo>
                  <a:lnTo>
                    <a:pt x="0" y="475564"/>
                  </a:lnTo>
                  <a:lnTo>
                    <a:pt x="3997" y="496163"/>
                  </a:lnTo>
                  <a:lnTo>
                    <a:pt x="4098" y="496468"/>
                  </a:lnTo>
                  <a:lnTo>
                    <a:pt x="33757" y="526184"/>
                  </a:lnTo>
                  <a:lnTo>
                    <a:pt x="48008" y="529920"/>
                  </a:lnTo>
                  <a:lnTo>
                    <a:pt x="49037" y="529920"/>
                  </a:lnTo>
                  <a:lnTo>
                    <a:pt x="54711" y="530288"/>
                  </a:lnTo>
                  <a:lnTo>
                    <a:pt x="7717675" y="529920"/>
                  </a:lnTo>
                  <a:lnTo>
                    <a:pt x="7756329" y="513994"/>
                  </a:lnTo>
                  <a:lnTo>
                    <a:pt x="7771891" y="482622"/>
                  </a:lnTo>
                  <a:lnTo>
                    <a:pt x="7771932" y="482417"/>
                  </a:lnTo>
                  <a:lnTo>
                    <a:pt x="7772376" y="475564"/>
                  </a:lnTo>
                  <a:lnTo>
                    <a:pt x="7772400" y="475208"/>
                  </a:lnTo>
                  <a:lnTo>
                    <a:pt x="7772031" y="54724"/>
                  </a:lnTo>
                  <a:lnTo>
                    <a:pt x="7756105" y="16070"/>
                  </a:lnTo>
                  <a:lnTo>
                    <a:pt x="7724528" y="467"/>
                  </a:lnTo>
                  <a:lnTo>
                    <a:pt x="7717320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85444" y="3776398"/>
              <a:ext cx="7772400" cy="530860"/>
            </a:xfrm>
            <a:custGeom>
              <a:avLst/>
              <a:gdLst/>
              <a:ahLst/>
              <a:cxnLst/>
              <a:rect l="l" t="t" r="r" b="b"/>
              <a:pathLst>
                <a:path w="7772400" h="5308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7717320" y="0"/>
                  </a:lnTo>
                  <a:lnTo>
                    <a:pt x="7756105" y="16070"/>
                  </a:lnTo>
                  <a:lnTo>
                    <a:pt x="7772031" y="54724"/>
                  </a:lnTo>
                  <a:lnTo>
                    <a:pt x="7772400" y="475208"/>
                  </a:lnTo>
                  <a:lnTo>
                    <a:pt x="7771932" y="482417"/>
                  </a:lnTo>
                  <a:lnTo>
                    <a:pt x="7770552" y="489424"/>
                  </a:lnTo>
                  <a:lnTo>
                    <a:pt x="7745031" y="522719"/>
                  </a:lnTo>
                  <a:lnTo>
                    <a:pt x="54711" y="530288"/>
                  </a:lnTo>
                  <a:lnTo>
                    <a:pt x="15925" y="514218"/>
                  </a:lnTo>
                  <a:lnTo>
                    <a:pt x="0" y="475564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58520" y="3858478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80" y="0"/>
                  </a:moveTo>
                  <a:lnTo>
                    <a:pt x="135540" y="6165"/>
                  </a:lnTo>
                  <a:lnTo>
                    <a:pt x="91440" y="24485"/>
                  </a:lnTo>
                  <a:lnTo>
                    <a:pt x="53638" y="53643"/>
                  </a:lnTo>
                  <a:lnTo>
                    <a:pt x="24485" y="91440"/>
                  </a:lnTo>
                  <a:lnTo>
                    <a:pt x="6165" y="135540"/>
                  </a:lnTo>
                  <a:lnTo>
                    <a:pt x="0" y="182880"/>
                  </a:lnTo>
                  <a:lnTo>
                    <a:pt x="1547" y="206788"/>
                  </a:lnTo>
                  <a:lnTo>
                    <a:pt x="13823" y="252847"/>
                  </a:lnTo>
                  <a:lnTo>
                    <a:pt x="37879" y="294200"/>
                  </a:lnTo>
                  <a:lnTo>
                    <a:pt x="71559" y="327885"/>
                  </a:lnTo>
                  <a:lnTo>
                    <a:pt x="112917" y="351942"/>
                  </a:lnTo>
                  <a:lnTo>
                    <a:pt x="158973" y="364213"/>
                  </a:lnTo>
                  <a:lnTo>
                    <a:pt x="182880" y="365759"/>
                  </a:lnTo>
                  <a:lnTo>
                    <a:pt x="206786" y="364213"/>
                  </a:lnTo>
                  <a:lnTo>
                    <a:pt x="252842" y="351942"/>
                  </a:lnTo>
                  <a:lnTo>
                    <a:pt x="294200" y="327885"/>
                  </a:lnTo>
                  <a:lnTo>
                    <a:pt x="327880" y="294200"/>
                  </a:lnTo>
                  <a:lnTo>
                    <a:pt x="351936" y="252847"/>
                  </a:lnTo>
                  <a:lnTo>
                    <a:pt x="364212" y="206788"/>
                  </a:lnTo>
                  <a:lnTo>
                    <a:pt x="365759" y="182880"/>
                  </a:lnTo>
                  <a:lnTo>
                    <a:pt x="364212" y="158973"/>
                  </a:lnTo>
                  <a:lnTo>
                    <a:pt x="351936" y="112917"/>
                  </a:lnTo>
                  <a:lnTo>
                    <a:pt x="327880" y="71564"/>
                  </a:lnTo>
                  <a:lnTo>
                    <a:pt x="294200" y="37881"/>
                  </a:lnTo>
                  <a:lnTo>
                    <a:pt x="252842" y="13823"/>
                  </a:lnTo>
                  <a:lnTo>
                    <a:pt x="206786" y="1547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58520" y="3858478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80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40"/>
                  </a:lnTo>
                  <a:lnTo>
                    <a:pt x="53638" y="53643"/>
                  </a:lnTo>
                  <a:lnTo>
                    <a:pt x="91440" y="24485"/>
                  </a:lnTo>
                  <a:lnTo>
                    <a:pt x="135540" y="6165"/>
                  </a:lnTo>
                  <a:lnTo>
                    <a:pt x="182880" y="0"/>
                  </a:lnTo>
                  <a:lnTo>
                    <a:pt x="230219" y="6165"/>
                  </a:lnTo>
                  <a:lnTo>
                    <a:pt x="274319" y="24485"/>
                  </a:lnTo>
                  <a:lnTo>
                    <a:pt x="312121" y="53643"/>
                  </a:lnTo>
                  <a:lnTo>
                    <a:pt x="341274" y="91440"/>
                  </a:lnTo>
                  <a:lnTo>
                    <a:pt x="359594" y="135540"/>
                  </a:lnTo>
                  <a:lnTo>
                    <a:pt x="365759" y="182880"/>
                  </a:lnTo>
                  <a:lnTo>
                    <a:pt x="364212" y="206788"/>
                  </a:lnTo>
                  <a:lnTo>
                    <a:pt x="359594" y="230224"/>
                  </a:lnTo>
                  <a:lnTo>
                    <a:pt x="341274" y="274320"/>
                  </a:lnTo>
                  <a:lnTo>
                    <a:pt x="312121" y="312123"/>
                  </a:lnTo>
                  <a:lnTo>
                    <a:pt x="274319" y="341287"/>
                  </a:lnTo>
                  <a:lnTo>
                    <a:pt x="230219" y="359595"/>
                  </a:lnTo>
                  <a:lnTo>
                    <a:pt x="182880" y="365759"/>
                  </a:lnTo>
                  <a:lnTo>
                    <a:pt x="135540" y="359595"/>
                  </a:lnTo>
                  <a:lnTo>
                    <a:pt x="91440" y="341287"/>
                  </a:lnTo>
                  <a:lnTo>
                    <a:pt x="53638" y="312123"/>
                  </a:lnTo>
                  <a:lnTo>
                    <a:pt x="24485" y="274320"/>
                  </a:lnTo>
                  <a:lnTo>
                    <a:pt x="6165" y="230224"/>
                  </a:lnTo>
                  <a:lnTo>
                    <a:pt x="1547" y="206788"/>
                  </a:lnTo>
                  <a:lnTo>
                    <a:pt x="0" y="182880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93419" y="3944787"/>
            <a:ext cx="96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11376" y="3838221"/>
            <a:ext cx="3170555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UFW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cada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VM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Puertos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mínimos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por VM,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bloqueo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ICMP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cajero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·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local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8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acceso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86879" y="4289388"/>
            <a:ext cx="7824470" cy="746125"/>
            <a:chOff x="686879" y="4289388"/>
            <a:chExt cx="7824470" cy="746125"/>
          </a:xfrm>
        </p:grpSpPr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6879" y="4289388"/>
              <a:ext cx="7823885" cy="74593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68235" y="4370757"/>
              <a:ext cx="7607934" cy="530860"/>
            </a:xfrm>
            <a:custGeom>
              <a:avLst/>
              <a:gdLst/>
              <a:ahLst/>
              <a:cxnLst/>
              <a:rect l="l" t="t" r="r" b="b"/>
              <a:pathLst>
                <a:path w="7607934" h="530860">
                  <a:moveTo>
                    <a:pt x="7552804" y="0"/>
                  </a:moveTo>
                  <a:lnTo>
                    <a:pt x="54724" y="0"/>
                  </a:lnTo>
                  <a:lnTo>
                    <a:pt x="47665" y="467"/>
                  </a:lnTo>
                  <a:lnTo>
                    <a:pt x="11280" y="21433"/>
                  </a:lnTo>
                  <a:lnTo>
                    <a:pt x="0" y="54724"/>
                  </a:lnTo>
                  <a:lnTo>
                    <a:pt x="0" y="475564"/>
                  </a:lnTo>
                  <a:lnTo>
                    <a:pt x="454" y="482417"/>
                  </a:lnTo>
                  <a:lnTo>
                    <a:pt x="467" y="482622"/>
                  </a:lnTo>
                  <a:lnTo>
                    <a:pt x="1804" y="489424"/>
                  </a:lnTo>
                  <a:lnTo>
                    <a:pt x="1847" y="489646"/>
                  </a:lnTo>
                  <a:lnTo>
                    <a:pt x="4003" y="496163"/>
                  </a:lnTo>
                  <a:lnTo>
                    <a:pt x="4104" y="496468"/>
                  </a:lnTo>
                  <a:lnTo>
                    <a:pt x="33769" y="526184"/>
                  </a:lnTo>
                  <a:lnTo>
                    <a:pt x="48021" y="529920"/>
                  </a:lnTo>
                  <a:lnTo>
                    <a:pt x="49050" y="529920"/>
                  </a:lnTo>
                  <a:lnTo>
                    <a:pt x="54724" y="530288"/>
                  </a:lnTo>
                  <a:lnTo>
                    <a:pt x="7553159" y="529920"/>
                  </a:lnTo>
                  <a:lnTo>
                    <a:pt x="7591820" y="513994"/>
                  </a:lnTo>
                  <a:lnTo>
                    <a:pt x="7605966" y="489646"/>
                  </a:lnTo>
                  <a:lnTo>
                    <a:pt x="7606041" y="489424"/>
                  </a:lnTo>
                  <a:lnTo>
                    <a:pt x="7607377" y="482622"/>
                  </a:lnTo>
                  <a:lnTo>
                    <a:pt x="7607418" y="482417"/>
                  </a:lnTo>
                  <a:lnTo>
                    <a:pt x="7607861" y="475564"/>
                  </a:lnTo>
                  <a:lnTo>
                    <a:pt x="7607528" y="54724"/>
                  </a:lnTo>
                  <a:lnTo>
                    <a:pt x="7591591" y="16070"/>
                  </a:lnTo>
                  <a:lnTo>
                    <a:pt x="7560012" y="467"/>
                  </a:lnTo>
                  <a:lnTo>
                    <a:pt x="7552804" y="0"/>
                  </a:lnTo>
                  <a:close/>
                </a:path>
              </a:pathLst>
            </a:custGeom>
            <a:solidFill>
              <a:srgbClr val="CC4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8235" y="4370757"/>
              <a:ext cx="7607934" cy="530860"/>
            </a:xfrm>
            <a:custGeom>
              <a:avLst/>
              <a:gdLst/>
              <a:ahLst/>
              <a:cxnLst/>
              <a:rect l="l" t="t" r="r" b="b"/>
              <a:pathLst>
                <a:path w="7607934" h="530860">
                  <a:moveTo>
                    <a:pt x="0" y="54724"/>
                  </a:moveTo>
                  <a:lnTo>
                    <a:pt x="467" y="47515"/>
                  </a:lnTo>
                  <a:lnTo>
                    <a:pt x="1847" y="40508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7552804" y="0"/>
                  </a:lnTo>
                  <a:lnTo>
                    <a:pt x="7591591" y="16070"/>
                  </a:lnTo>
                  <a:lnTo>
                    <a:pt x="7607528" y="54724"/>
                  </a:lnTo>
                  <a:lnTo>
                    <a:pt x="7607884" y="475208"/>
                  </a:lnTo>
                  <a:lnTo>
                    <a:pt x="7607418" y="482417"/>
                  </a:lnTo>
                  <a:lnTo>
                    <a:pt x="7606041" y="489424"/>
                  </a:lnTo>
                  <a:lnTo>
                    <a:pt x="7580528" y="522719"/>
                  </a:lnTo>
                  <a:lnTo>
                    <a:pt x="54724" y="530288"/>
                  </a:lnTo>
                  <a:lnTo>
                    <a:pt x="15936" y="514218"/>
                  </a:lnTo>
                  <a:lnTo>
                    <a:pt x="0" y="475564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CC4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40955" y="445283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182880" y="0"/>
                  </a:moveTo>
                  <a:lnTo>
                    <a:pt x="135540" y="6165"/>
                  </a:lnTo>
                  <a:lnTo>
                    <a:pt x="91440" y="24485"/>
                  </a:lnTo>
                  <a:lnTo>
                    <a:pt x="53643" y="53643"/>
                  </a:lnTo>
                  <a:lnTo>
                    <a:pt x="24485" y="91439"/>
                  </a:lnTo>
                  <a:lnTo>
                    <a:pt x="6165" y="135540"/>
                  </a:lnTo>
                  <a:lnTo>
                    <a:pt x="0" y="182879"/>
                  </a:lnTo>
                  <a:lnTo>
                    <a:pt x="1547" y="206788"/>
                  </a:lnTo>
                  <a:lnTo>
                    <a:pt x="13823" y="252847"/>
                  </a:lnTo>
                  <a:lnTo>
                    <a:pt x="37881" y="294200"/>
                  </a:lnTo>
                  <a:lnTo>
                    <a:pt x="71564" y="327885"/>
                  </a:lnTo>
                  <a:lnTo>
                    <a:pt x="112917" y="351942"/>
                  </a:lnTo>
                  <a:lnTo>
                    <a:pt x="158973" y="364213"/>
                  </a:lnTo>
                  <a:lnTo>
                    <a:pt x="182880" y="365759"/>
                  </a:lnTo>
                  <a:lnTo>
                    <a:pt x="206788" y="364213"/>
                  </a:lnTo>
                  <a:lnTo>
                    <a:pt x="252847" y="351942"/>
                  </a:lnTo>
                  <a:lnTo>
                    <a:pt x="294200" y="327885"/>
                  </a:lnTo>
                  <a:lnTo>
                    <a:pt x="327885" y="294200"/>
                  </a:lnTo>
                  <a:lnTo>
                    <a:pt x="351942" y="252847"/>
                  </a:lnTo>
                  <a:lnTo>
                    <a:pt x="364213" y="206788"/>
                  </a:lnTo>
                  <a:lnTo>
                    <a:pt x="365759" y="182879"/>
                  </a:lnTo>
                  <a:lnTo>
                    <a:pt x="364213" y="158973"/>
                  </a:lnTo>
                  <a:lnTo>
                    <a:pt x="351942" y="112917"/>
                  </a:lnTo>
                  <a:lnTo>
                    <a:pt x="327885" y="71564"/>
                  </a:lnTo>
                  <a:lnTo>
                    <a:pt x="294200" y="37881"/>
                  </a:lnTo>
                  <a:lnTo>
                    <a:pt x="252847" y="13823"/>
                  </a:lnTo>
                  <a:lnTo>
                    <a:pt x="206788" y="1547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40955" y="4452837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60">
                  <a:moveTo>
                    <a:pt x="0" y="182879"/>
                  </a:moveTo>
                  <a:lnTo>
                    <a:pt x="1547" y="158973"/>
                  </a:lnTo>
                  <a:lnTo>
                    <a:pt x="6165" y="135540"/>
                  </a:lnTo>
                  <a:lnTo>
                    <a:pt x="24485" y="91439"/>
                  </a:lnTo>
                  <a:lnTo>
                    <a:pt x="53643" y="53643"/>
                  </a:lnTo>
                  <a:lnTo>
                    <a:pt x="91440" y="24485"/>
                  </a:lnTo>
                  <a:lnTo>
                    <a:pt x="135540" y="6165"/>
                  </a:lnTo>
                  <a:lnTo>
                    <a:pt x="182880" y="0"/>
                  </a:lnTo>
                  <a:lnTo>
                    <a:pt x="230224" y="6165"/>
                  </a:lnTo>
                  <a:lnTo>
                    <a:pt x="274319" y="24485"/>
                  </a:lnTo>
                  <a:lnTo>
                    <a:pt x="312123" y="53643"/>
                  </a:lnTo>
                  <a:lnTo>
                    <a:pt x="341287" y="91439"/>
                  </a:lnTo>
                  <a:lnTo>
                    <a:pt x="359595" y="135540"/>
                  </a:lnTo>
                  <a:lnTo>
                    <a:pt x="365759" y="182879"/>
                  </a:lnTo>
                  <a:lnTo>
                    <a:pt x="364213" y="206788"/>
                  </a:lnTo>
                  <a:lnTo>
                    <a:pt x="359595" y="230224"/>
                  </a:lnTo>
                  <a:lnTo>
                    <a:pt x="341287" y="274319"/>
                  </a:lnTo>
                  <a:lnTo>
                    <a:pt x="312123" y="312123"/>
                  </a:lnTo>
                  <a:lnTo>
                    <a:pt x="274319" y="341287"/>
                  </a:lnTo>
                  <a:lnTo>
                    <a:pt x="230224" y="359595"/>
                  </a:lnTo>
                  <a:lnTo>
                    <a:pt x="182880" y="365759"/>
                  </a:lnTo>
                  <a:lnTo>
                    <a:pt x="135540" y="359595"/>
                  </a:lnTo>
                  <a:lnTo>
                    <a:pt x="91440" y="341287"/>
                  </a:lnTo>
                  <a:lnTo>
                    <a:pt x="53643" y="312123"/>
                  </a:lnTo>
                  <a:lnTo>
                    <a:pt x="24485" y="274319"/>
                  </a:lnTo>
                  <a:lnTo>
                    <a:pt x="6165" y="230224"/>
                  </a:lnTo>
                  <a:lnTo>
                    <a:pt x="1547" y="206788"/>
                  </a:lnTo>
                  <a:lnTo>
                    <a:pt x="0" y="182879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975855" y="4539146"/>
            <a:ext cx="965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94180" y="4432581"/>
            <a:ext cx="3221355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iptables</a:t>
            </a:r>
            <a:r>
              <a:rPr sz="10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00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router-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fw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14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reglas,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política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FORWARD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DROP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·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 Segmentación</a:t>
            </a:r>
            <a:r>
              <a:rPr sz="8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FFFF"/>
                </a:solidFill>
                <a:latin typeface="Calibri"/>
                <a:cs typeface="Calibri"/>
              </a:rPr>
              <a:t>entre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zonas</a:t>
            </a:r>
            <a:r>
              <a:rPr sz="8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FFFF"/>
                </a:solidFill>
                <a:latin typeface="Calibri"/>
                <a:cs typeface="Calibri"/>
              </a:rPr>
              <a:t>bancarias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-1180" dirty="0">
                <a:solidFill>
                  <a:srgbClr val="000000"/>
                </a:solidFill>
                <a:latin typeface="MingLiU_HKSCS-ExtB"/>
                <a:cs typeface="MingLiU_HKSCS-ExtB"/>
              </a:rPr>
              <a:t>⚙️</a:t>
            </a:r>
            <a:r>
              <a:rPr sz="2800" b="0" spc="265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75" baseline="1322" dirty="0"/>
              <a:t>ESTRATEGIA</a:t>
            </a:r>
            <a:r>
              <a:rPr sz="3150" spc="337" baseline="1322" dirty="0"/>
              <a:t> </a:t>
            </a:r>
            <a:r>
              <a:rPr sz="3150" baseline="1322" dirty="0"/>
              <a:t>DE</a:t>
            </a:r>
            <a:r>
              <a:rPr sz="3150" spc="337" baseline="1322" dirty="0"/>
              <a:t> </a:t>
            </a:r>
            <a:r>
              <a:rPr sz="3150" spc="82" baseline="1322" dirty="0"/>
              <a:t>IMPLEMENTACIÓN</a:t>
            </a:r>
            <a:endParaRPr sz="3150" baseline="1322">
              <a:latin typeface="MingLiU_HKSCS-ExtB"/>
              <a:cs typeface="MingLiU_HKSCS-ExtB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9519" y="695517"/>
            <a:ext cx="4422775" cy="4448175"/>
            <a:chOff x="119519" y="695517"/>
            <a:chExt cx="4422775" cy="4448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695517"/>
              <a:ext cx="4422241" cy="44478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0875" y="776886"/>
              <a:ext cx="4206240" cy="4297680"/>
            </a:xfrm>
            <a:custGeom>
              <a:avLst/>
              <a:gdLst/>
              <a:ahLst/>
              <a:cxnLst/>
              <a:rect l="l" t="t" r="r" b="b"/>
              <a:pathLst>
                <a:path w="4206240" h="4297680">
                  <a:moveTo>
                    <a:pt x="411444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4206240"/>
                  </a:lnTo>
                  <a:lnTo>
                    <a:pt x="774" y="4217878"/>
                  </a:lnTo>
                  <a:lnTo>
                    <a:pt x="798" y="4218239"/>
                  </a:lnTo>
                  <a:lnTo>
                    <a:pt x="3077" y="4229546"/>
                  </a:lnTo>
                  <a:lnTo>
                    <a:pt x="3149" y="4229904"/>
                  </a:lnTo>
                  <a:lnTo>
                    <a:pt x="6863" y="4240806"/>
                  </a:lnTo>
                  <a:lnTo>
                    <a:pt x="35683" y="4278836"/>
                  </a:lnTo>
                  <a:lnTo>
                    <a:pt x="79440" y="4296879"/>
                  </a:lnTo>
                  <a:lnTo>
                    <a:pt x="91439" y="4297680"/>
                  </a:lnTo>
                  <a:lnTo>
                    <a:pt x="4114800" y="4297311"/>
                  </a:lnTo>
                  <a:lnTo>
                    <a:pt x="4160519" y="4285081"/>
                  </a:lnTo>
                  <a:lnTo>
                    <a:pt x="4194009" y="4251591"/>
                  </a:lnTo>
                  <a:lnTo>
                    <a:pt x="4206215" y="4206240"/>
                  </a:lnTo>
                  <a:lnTo>
                    <a:pt x="4206240" y="4205871"/>
                  </a:lnTo>
                  <a:lnTo>
                    <a:pt x="4205884" y="91439"/>
                  </a:lnTo>
                  <a:lnTo>
                    <a:pt x="4193641" y="45719"/>
                  </a:lnTo>
                  <a:lnTo>
                    <a:pt x="4160164" y="12230"/>
                  </a:lnTo>
                  <a:lnTo>
                    <a:pt x="4126449" y="798"/>
                  </a:lnTo>
                  <a:lnTo>
                    <a:pt x="4114444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875" y="776886"/>
              <a:ext cx="4206240" cy="4297680"/>
            </a:xfrm>
            <a:custGeom>
              <a:avLst/>
              <a:gdLst/>
              <a:ahLst/>
              <a:cxnLst/>
              <a:rect l="l" t="t" r="r" b="b"/>
              <a:pathLst>
                <a:path w="4206240" h="429768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90" y="26679"/>
                  </a:lnTo>
                  <a:lnTo>
                    <a:pt x="67775" y="3148"/>
                  </a:lnTo>
                  <a:lnTo>
                    <a:pt x="91439" y="0"/>
                  </a:lnTo>
                  <a:lnTo>
                    <a:pt x="4114444" y="0"/>
                  </a:lnTo>
                  <a:lnTo>
                    <a:pt x="4160164" y="12230"/>
                  </a:lnTo>
                  <a:lnTo>
                    <a:pt x="4193641" y="45719"/>
                  </a:lnTo>
                  <a:lnTo>
                    <a:pt x="4205884" y="91439"/>
                  </a:lnTo>
                  <a:lnTo>
                    <a:pt x="4206240" y="4205871"/>
                  </a:lnTo>
                  <a:lnTo>
                    <a:pt x="4205441" y="4217878"/>
                  </a:lnTo>
                  <a:lnTo>
                    <a:pt x="4203091" y="4229546"/>
                  </a:lnTo>
                  <a:lnTo>
                    <a:pt x="4179560" y="4270632"/>
                  </a:lnTo>
                  <a:lnTo>
                    <a:pt x="4138474" y="4294163"/>
                  </a:lnTo>
                  <a:lnTo>
                    <a:pt x="91439" y="4297680"/>
                  </a:lnTo>
                  <a:lnTo>
                    <a:pt x="45720" y="4285437"/>
                  </a:lnTo>
                  <a:lnTo>
                    <a:pt x="12242" y="4251960"/>
                  </a:lnTo>
                  <a:lnTo>
                    <a:pt x="0" y="420624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47901" y="912141"/>
            <a:ext cx="151193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499DFF"/>
                </a:solidFill>
                <a:latin typeface="Calibri"/>
                <a:cs typeface="Calibri"/>
              </a:rPr>
              <a:t>FASES</a:t>
            </a:r>
            <a:r>
              <a:rPr sz="1000" b="1" spc="-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499DFF"/>
                </a:solidFill>
                <a:latin typeface="Calibri"/>
                <a:cs typeface="Calibri"/>
              </a:rPr>
              <a:t>DE</a:t>
            </a:r>
            <a:r>
              <a:rPr sz="1000" b="1" spc="-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499DFF"/>
                </a:solidFill>
                <a:latin typeface="Calibri"/>
                <a:cs typeface="Calibri"/>
              </a:rPr>
              <a:t>IMPLEMENTACIÓN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3690" y="1328536"/>
            <a:ext cx="360680" cy="360680"/>
            <a:chOff x="313690" y="1328536"/>
            <a:chExt cx="360680" cy="360680"/>
          </a:xfrm>
        </p:grpSpPr>
        <p:sp>
          <p:nvSpPr>
            <p:cNvPr id="9" name="object 9"/>
            <p:cNvSpPr/>
            <p:nvPr/>
          </p:nvSpPr>
          <p:spPr>
            <a:xfrm>
              <a:off x="320040" y="133488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75" y="0"/>
                  </a:moveTo>
                  <a:lnTo>
                    <a:pt x="128833" y="5846"/>
                  </a:lnTo>
                  <a:lnTo>
                    <a:pt x="86753" y="23037"/>
                  </a:lnTo>
                  <a:lnTo>
                    <a:pt x="50893" y="50576"/>
                  </a:lnTo>
                  <a:lnTo>
                    <a:pt x="23406" y="86753"/>
                  </a:lnTo>
                  <a:lnTo>
                    <a:pt x="5897" y="12851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4" y="279344"/>
                  </a:lnTo>
                  <a:lnTo>
                    <a:pt x="67895" y="311405"/>
                  </a:lnTo>
                  <a:lnTo>
                    <a:pt x="107304" y="334028"/>
                  </a:lnTo>
                  <a:lnTo>
                    <a:pt x="151102" y="345865"/>
                  </a:lnTo>
                  <a:lnTo>
                    <a:pt x="173875" y="347395"/>
                  </a:lnTo>
                  <a:lnTo>
                    <a:pt x="196443" y="345865"/>
                  </a:lnTo>
                  <a:lnTo>
                    <a:pt x="240096" y="334028"/>
                  </a:lnTo>
                  <a:lnTo>
                    <a:pt x="279500" y="311405"/>
                  </a:lnTo>
                  <a:lnTo>
                    <a:pt x="311416" y="279344"/>
                  </a:lnTo>
                  <a:lnTo>
                    <a:pt x="334188" y="239935"/>
                  </a:lnTo>
                  <a:lnTo>
                    <a:pt x="345917" y="196287"/>
                  </a:lnTo>
                  <a:lnTo>
                    <a:pt x="347395" y="173520"/>
                  </a:lnTo>
                  <a:lnTo>
                    <a:pt x="345917" y="150745"/>
                  </a:lnTo>
                  <a:lnTo>
                    <a:pt x="334188" y="107092"/>
                  </a:lnTo>
                  <a:lnTo>
                    <a:pt x="311416" y="67688"/>
                  </a:lnTo>
                  <a:lnTo>
                    <a:pt x="279500" y="35624"/>
                  </a:lnTo>
                  <a:lnTo>
                    <a:pt x="240096" y="13056"/>
                  </a:lnTo>
                  <a:lnTo>
                    <a:pt x="196443" y="1472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0040" y="133488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520"/>
                  </a:moveTo>
                  <a:lnTo>
                    <a:pt x="1480" y="150745"/>
                  </a:lnTo>
                  <a:lnTo>
                    <a:pt x="5897" y="128512"/>
                  </a:lnTo>
                  <a:lnTo>
                    <a:pt x="23406" y="86753"/>
                  </a:lnTo>
                  <a:lnTo>
                    <a:pt x="50893" y="50576"/>
                  </a:lnTo>
                  <a:lnTo>
                    <a:pt x="86753" y="23037"/>
                  </a:lnTo>
                  <a:lnTo>
                    <a:pt x="128833" y="5846"/>
                  </a:lnTo>
                  <a:lnTo>
                    <a:pt x="173875" y="0"/>
                  </a:lnTo>
                  <a:lnTo>
                    <a:pt x="218606" y="5846"/>
                  </a:lnTo>
                  <a:lnTo>
                    <a:pt x="260642" y="23037"/>
                  </a:lnTo>
                  <a:lnTo>
                    <a:pt x="296503" y="50576"/>
                  </a:lnTo>
                  <a:lnTo>
                    <a:pt x="324002" y="86753"/>
                  </a:lnTo>
                  <a:lnTo>
                    <a:pt x="341504" y="128512"/>
                  </a:lnTo>
                  <a:lnTo>
                    <a:pt x="347395" y="173520"/>
                  </a:lnTo>
                  <a:lnTo>
                    <a:pt x="345917" y="196287"/>
                  </a:lnTo>
                  <a:lnTo>
                    <a:pt x="341504" y="218516"/>
                  </a:lnTo>
                  <a:lnTo>
                    <a:pt x="324002" y="260273"/>
                  </a:lnTo>
                  <a:lnTo>
                    <a:pt x="296503" y="296456"/>
                  </a:lnTo>
                  <a:lnTo>
                    <a:pt x="260642" y="323989"/>
                  </a:lnTo>
                  <a:lnTo>
                    <a:pt x="218606" y="341364"/>
                  </a:lnTo>
                  <a:lnTo>
                    <a:pt x="173875" y="347395"/>
                  </a:lnTo>
                  <a:lnTo>
                    <a:pt x="128833" y="341364"/>
                  </a:lnTo>
                  <a:lnTo>
                    <a:pt x="86753" y="323989"/>
                  </a:lnTo>
                  <a:lnTo>
                    <a:pt x="50893" y="296456"/>
                  </a:lnTo>
                  <a:lnTo>
                    <a:pt x="23406" y="260273"/>
                  </a:lnTo>
                  <a:lnTo>
                    <a:pt x="5897" y="218516"/>
                  </a:lnTo>
                  <a:lnTo>
                    <a:pt x="1480" y="196287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0265" y="1423341"/>
            <a:ext cx="869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4176" y="1304545"/>
            <a:ext cx="71437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Red</a:t>
            </a:r>
            <a:r>
              <a:rPr sz="9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Routing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4176" y="1577062"/>
            <a:ext cx="25628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Netplan,</a:t>
            </a:r>
            <a:r>
              <a:rPr sz="8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IP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Forwarding,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iptables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 base,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NAT/MASQUERADE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13690" y="1941247"/>
            <a:ext cx="360680" cy="360680"/>
            <a:chOff x="313690" y="1941247"/>
            <a:chExt cx="360680" cy="360680"/>
          </a:xfrm>
        </p:grpSpPr>
        <p:sp>
          <p:nvSpPr>
            <p:cNvPr id="15" name="object 15"/>
            <p:cNvSpPr/>
            <p:nvPr/>
          </p:nvSpPr>
          <p:spPr>
            <a:xfrm>
              <a:off x="320040" y="1947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3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4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88" y="239948"/>
                  </a:lnTo>
                  <a:lnTo>
                    <a:pt x="345917" y="196294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0040" y="194759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3"/>
                  </a:lnTo>
                  <a:lnTo>
                    <a:pt x="23406" y="86766"/>
                  </a:lnTo>
                  <a:lnTo>
                    <a:pt x="50893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3" y="50584"/>
                  </a:lnTo>
                  <a:lnTo>
                    <a:pt x="324002" y="86766"/>
                  </a:lnTo>
                  <a:lnTo>
                    <a:pt x="341504" y="128524"/>
                  </a:lnTo>
                  <a:lnTo>
                    <a:pt x="347395" y="173520"/>
                  </a:lnTo>
                  <a:lnTo>
                    <a:pt x="345917" y="196294"/>
                  </a:lnTo>
                  <a:lnTo>
                    <a:pt x="341504" y="218527"/>
                  </a:lnTo>
                  <a:lnTo>
                    <a:pt x="324002" y="260286"/>
                  </a:lnTo>
                  <a:lnTo>
                    <a:pt x="296503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3" y="296464"/>
                  </a:lnTo>
                  <a:lnTo>
                    <a:pt x="23406" y="260286"/>
                  </a:lnTo>
                  <a:lnTo>
                    <a:pt x="5897" y="218527"/>
                  </a:lnTo>
                  <a:lnTo>
                    <a:pt x="1480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50265" y="2036066"/>
            <a:ext cx="869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4176" y="1917257"/>
            <a:ext cx="2611755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DNS</a:t>
            </a:r>
            <a:r>
              <a:rPr sz="9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Servicios</a:t>
            </a:r>
            <a:r>
              <a:rPr sz="9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BIND9</a:t>
            </a:r>
            <a:r>
              <a:rPr sz="8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bancoseguro.local,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Nginx+TLS,</a:t>
            </a:r>
            <a:r>
              <a:rPr sz="8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Node.js API,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MariaDB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3690" y="2553972"/>
            <a:ext cx="360680" cy="360045"/>
            <a:chOff x="313690" y="2553972"/>
            <a:chExt cx="360680" cy="360045"/>
          </a:xfrm>
        </p:grpSpPr>
        <p:sp>
          <p:nvSpPr>
            <p:cNvPr id="20" name="object 20"/>
            <p:cNvSpPr/>
            <p:nvPr/>
          </p:nvSpPr>
          <p:spPr>
            <a:xfrm>
              <a:off x="320040" y="2560322"/>
              <a:ext cx="347980" cy="347345"/>
            </a:xfrm>
            <a:custGeom>
              <a:avLst/>
              <a:gdLst/>
              <a:ahLst/>
              <a:cxnLst/>
              <a:rect l="l" t="t" r="r" b="b"/>
              <a:pathLst>
                <a:path w="347980" h="347344">
                  <a:moveTo>
                    <a:pt x="173875" y="0"/>
                  </a:moveTo>
                  <a:lnTo>
                    <a:pt x="128833" y="5851"/>
                  </a:lnTo>
                  <a:lnTo>
                    <a:pt x="86753" y="23037"/>
                  </a:lnTo>
                  <a:lnTo>
                    <a:pt x="50893" y="50580"/>
                  </a:lnTo>
                  <a:lnTo>
                    <a:pt x="23406" y="86753"/>
                  </a:lnTo>
                  <a:lnTo>
                    <a:pt x="5897" y="12852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4" y="279345"/>
                  </a:lnTo>
                  <a:lnTo>
                    <a:pt x="67895" y="311410"/>
                  </a:lnTo>
                  <a:lnTo>
                    <a:pt x="107304" y="333977"/>
                  </a:lnTo>
                  <a:lnTo>
                    <a:pt x="151102" y="345565"/>
                  </a:lnTo>
                  <a:lnTo>
                    <a:pt x="173875" y="347040"/>
                  </a:lnTo>
                  <a:lnTo>
                    <a:pt x="196443" y="345565"/>
                  </a:lnTo>
                  <a:lnTo>
                    <a:pt x="240096" y="333977"/>
                  </a:lnTo>
                  <a:lnTo>
                    <a:pt x="279500" y="311410"/>
                  </a:lnTo>
                  <a:lnTo>
                    <a:pt x="311416" y="279345"/>
                  </a:lnTo>
                  <a:lnTo>
                    <a:pt x="334188" y="239935"/>
                  </a:lnTo>
                  <a:lnTo>
                    <a:pt x="345917" y="196287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099"/>
                  </a:lnTo>
                  <a:lnTo>
                    <a:pt x="311416" y="67689"/>
                  </a:lnTo>
                  <a:lnTo>
                    <a:pt x="279500" y="35629"/>
                  </a:lnTo>
                  <a:lnTo>
                    <a:pt x="240096" y="13062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0040" y="2560322"/>
              <a:ext cx="347980" cy="347345"/>
            </a:xfrm>
            <a:custGeom>
              <a:avLst/>
              <a:gdLst/>
              <a:ahLst/>
              <a:cxnLst/>
              <a:rect l="l" t="t" r="r" b="b"/>
              <a:pathLst>
                <a:path w="347980" h="347344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2"/>
                  </a:lnTo>
                  <a:lnTo>
                    <a:pt x="23406" y="86753"/>
                  </a:lnTo>
                  <a:lnTo>
                    <a:pt x="50893" y="50580"/>
                  </a:lnTo>
                  <a:lnTo>
                    <a:pt x="86753" y="23037"/>
                  </a:lnTo>
                  <a:lnTo>
                    <a:pt x="128833" y="5851"/>
                  </a:lnTo>
                  <a:lnTo>
                    <a:pt x="173875" y="0"/>
                  </a:lnTo>
                  <a:lnTo>
                    <a:pt x="218606" y="5851"/>
                  </a:lnTo>
                  <a:lnTo>
                    <a:pt x="260642" y="23037"/>
                  </a:lnTo>
                  <a:lnTo>
                    <a:pt x="296503" y="50580"/>
                  </a:lnTo>
                  <a:lnTo>
                    <a:pt x="324002" y="86753"/>
                  </a:lnTo>
                  <a:lnTo>
                    <a:pt x="341504" y="128522"/>
                  </a:lnTo>
                  <a:lnTo>
                    <a:pt x="347395" y="173520"/>
                  </a:lnTo>
                  <a:lnTo>
                    <a:pt x="345917" y="196287"/>
                  </a:lnTo>
                  <a:lnTo>
                    <a:pt x="341504" y="218516"/>
                  </a:lnTo>
                  <a:lnTo>
                    <a:pt x="324002" y="260273"/>
                  </a:lnTo>
                  <a:lnTo>
                    <a:pt x="296503" y="296457"/>
                  </a:lnTo>
                  <a:lnTo>
                    <a:pt x="260642" y="324002"/>
                  </a:lnTo>
                  <a:lnTo>
                    <a:pt x="218606" y="341188"/>
                  </a:lnTo>
                  <a:lnTo>
                    <a:pt x="173875" y="347040"/>
                  </a:lnTo>
                  <a:lnTo>
                    <a:pt x="128833" y="341188"/>
                  </a:lnTo>
                  <a:lnTo>
                    <a:pt x="86753" y="324002"/>
                  </a:lnTo>
                  <a:lnTo>
                    <a:pt x="50893" y="296457"/>
                  </a:lnTo>
                  <a:lnTo>
                    <a:pt x="23406" y="260273"/>
                  </a:lnTo>
                  <a:lnTo>
                    <a:pt x="5897" y="218516"/>
                  </a:lnTo>
                  <a:lnTo>
                    <a:pt x="1480" y="196287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50265" y="2648777"/>
            <a:ext cx="869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4176" y="2529981"/>
            <a:ext cx="2375535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Segmentación</a:t>
            </a:r>
            <a:r>
              <a:rPr sz="9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Bancaria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14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reglas</a:t>
            </a:r>
            <a:r>
              <a:rPr sz="8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iptables,</a:t>
            </a:r>
            <a:r>
              <a:rPr sz="8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UFW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por</a:t>
            </a:r>
            <a:r>
              <a:rPr sz="8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VM,</a:t>
            </a:r>
            <a:r>
              <a:rPr sz="8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bloqueo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ICMP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cajero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3690" y="3166696"/>
            <a:ext cx="360680" cy="360680"/>
            <a:chOff x="313690" y="3166696"/>
            <a:chExt cx="360680" cy="360680"/>
          </a:xfrm>
        </p:grpSpPr>
        <p:sp>
          <p:nvSpPr>
            <p:cNvPr id="25" name="object 25"/>
            <p:cNvSpPr/>
            <p:nvPr/>
          </p:nvSpPr>
          <p:spPr>
            <a:xfrm>
              <a:off x="320040" y="317304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875" y="0"/>
                  </a:moveTo>
                  <a:lnTo>
                    <a:pt x="128833" y="5846"/>
                  </a:lnTo>
                  <a:lnTo>
                    <a:pt x="86753" y="23037"/>
                  </a:lnTo>
                  <a:lnTo>
                    <a:pt x="50893" y="50576"/>
                  </a:lnTo>
                  <a:lnTo>
                    <a:pt x="23406" y="86753"/>
                  </a:lnTo>
                  <a:lnTo>
                    <a:pt x="5897" y="12851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4" y="279344"/>
                  </a:lnTo>
                  <a:lnTo>
                    <a:pt x="67895" y="311405"/>
                  </a:lnTo>
                  <a:lnTo>
                    <a:pt x="107304" y="334028"/>
                  </a:lnTo>
                  <a:lnTo>
                    <a:pt x="151102" y="345865"/>
                  </a:lnTo>
                  <a:lnTo>
                    <a:pt x="173875" y="347395"/>
                  </a:lnTo>
                  <a:lnTo>
                    <a:pt x="196443" y="345865"/>
                  </a:lnTo>
                  <a:lnTo>
                    <a:pt x="240096" y="334028"/>
                  </a:lnTo>
                  <a:lnTo>
                    <a:pt x="279500" y="311405"/>
                  </a:lnTo>
                  <a:lnTo>
                    <a:pt x="311416" y="279344"/>
                  </a:lnTo>
                  <a:lnTo>
                    <a:pt x="334188" y="239935"/>
                  </a:lnTo>
                  <a:lnTo>
                    <a:pt x="345917" y="196287"/>
                  </a:lnTo>
                  <a:lnTo>
                    <a:pt x="347395" y="173520"/>
                  </a:lnTo>
                  <a:lnTo>
                    <a:pt x="345917" y="150745"/>
                  </a:lnTo>
                  <a:lnTo>
                    <a:pt x="334188" y="107092"/>
                  </a:lnTo>
                  <a:lnTo>
                    <a:pt x="311416" y="67688"/>
                  </a:lnTo>
                  <a:lnTo>
                    <a:pt x="279500" y="35624"/>
                  </a:lnTo>
                  <a:lnTo>
                    <a:pt x="240096" y="13056"/>
                  </a:lnTo>
                  <a:lnTo>
                    <a:pt x="196443" y="1472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040" y="317304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520"/>
                  </a:moveTo>
                  <a:lnTo>
                    <a:pt x="1480" y="150745"/>
                  </a:lnTo>
                  <a:lnTo>
                    <a:pt x="5897" y="128512"/>
                  </a:lnTo>
                  <a:lnTo>
                    <a:pt x="23406" y="86753"/>
                  </a:lnTo>
                  <a:lnTo>
                    <a:pt x="50893" y="50576"/>
                  </a:lnTo>
                  <a:lnTo>
                    <a:pt x="86753" y="23037"/>
                  </a:lnTo>
                  <a:lnTo>
                    <a:pt x="128833" y="5846"/>
                  </a:lnTo>
                  <a:lnTo>
                    <a:pt x="173875" y="0"/>
                  </a:lnTo>
                  <a:lnTo>
                    <a:pt x="218606" y="5846"/>
                  </a:lnTo>
                  <a:lnTo>
                    <a:pt x="260642" y="23037"/>
                  </a:lnTo>
                  <a:lnTo>
                    <a:pt x="296503" y="50576"/>
                  </a:lnTo>
                  <a:lnTo>
                    <a:pt x="324002" y="86753"/>
                  </a:lnTo>
                  <a:lnTo>
                    <a:pt x="341504" y="128512"/>
                  </a:lnTo>
                  <a:lnTo>
                    <a:pt x="347395" y="173520"/>
                  </a:lnTo>
                  <a:lnTo>
                    <a:pt x="345917" y="196287"/>
                  </a:lnTo>
                  <a:lnTo>
                    <a:pt x="341504" y="218516"/>
                  </a:lnTo>
                  <a:lnTo>
                    <a:pt x="324002" y="260273"/>
                  </a:lnTo>
                  <a:lnTo>
                    <a:pt x="296503" y="296456"/>
                  </a:lnTo>
                  <a:lnTo>
                    <a:pt x="260642" y="323989"/>
                  </a:lnTo>
                  <a:lnTo>
                    <a:pt x="218606" y="341364"/>
                  </a:lnTo>
                  <a:lnTo>
                    <a:pt x="173875" y="347395"/>
                  </a:lnTo>
                  <a:lnTo>
                    <a:pt x="128833" y="341364"/>
                  </a:lnTo>
                  <a:lnTo>
                    <a:pt x="86753" y="323989"/>
                  </a:lnTo>
                  <a:lnTo>
                    <a:pt x="50893" y="296456"/>
                  </a:lnTo>
                  <a:lnTo>
                    <a:pt x="23406" y="260273"/>
                  </a:lnTo>
                  <a:lnTo>
                    <a:pt x="5897" y="218516"/>
                  </a:lnTo>
                  <a:lnTo>
                    <a:pt x="1480" y="196287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50265" y="3261501"/>
            <a:ext cx="869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4176" y="3142705"/>
            <a:ext cx="2583815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Hardening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SSH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Claves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ed25519,</a:t>
            </a:r>
            <a:r>
              <a:rPr sz="850" spc="-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puerto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2222,</a:t>
            </a:r>
            <a:r>
              <a:rPr sz="850" spc="-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solo</a:t>
            </a:r>
            <a:r>
              <a:rPr sz="850" spc="-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acceso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desde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router-</a:t>
            </a:r>
            <a:r>
              <a:rPr sz="850" spc="-25" dirty="0">
                <a:solidFill>
                  <a:srgbClr val="8799A9"/>
                </a:solidFill>
                <a:latin typeface="Calibri"/>
                <a:cs typeface="Calibri"/>
              </a:rPr>
              <a:t>fw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13690" y="3779407"/>
            <a:ext cx="360680" cy="360680"/>
            <a:chOff x="313690" y="3779407"/>
            <a:chExt cx="360680" cy="360680"/>
          </a:xfrm>
        </p:grpSpPr>
        <p:sp>
          <p:nvSpPr>
            <p:cNvPr id="30" name="object 30"/>
            <p:cNvSpPr/>
            <p:nvPr/>
          </p:nvSpPr>
          <p:spPr>
            <a:xfrm>
              <a:off x="320040" y="378575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875" y="0"/>
                  </a:moveTo>
                  <a:lnTo>
                    <a:pt x="128833" y="5853"/>
                  </a:lnTo>
                  <a:lnTo>
                    <a:pt x="86753" y="23050"/>
                  </a:lnTo>
                  <a:lnTo>
                    <a:pt x="50893" y="50584"/>
                  </a:lnTo>
                  <a:lnTo>
                    <a:pt x="23406" y="86766"/>
                  </a:lnTo>
                  <a:lnTo>
                    <a:pt x="5897" y="128524"/>
                  </a:lnTo>
                  <a:lnTo>
                    <a:pt x="0" y="173520"/>
                  </a:lnTo>
                  <a:lnTo>
                    <a:pt x="1480" y="196294"/>
                  </a:lnTo>
                  <a:lnTo>
                    <a:pt x="13217" y="239948"/>
                  </a:lnTo>
                  <a:lnTo>
                    <a:pt x="35984" y="279352"/>
                  </a:lnTo>
                  <a:lnTo>
                    <a:pt x="67895" y="311416"/>
                  </a:lnTo>
                  <a:lnTo>
                    <a:pt x="107304" y="334040"/>
                  </a:lnTo>
                  <a:lnTo>
                    <a:pt x="151102" y="345878"/>
                  </a:lnTo>
                  <a:lnTo>
                    <a:pt x="173875" y="347408"/>
                  </a:lnTo>
                  <a:lnTo>
                    <a:pt x="196443" y="345878"/>
                  </a:lnTo>
                  <a:lnTo>
                    <a:pt x="240096" y="334040"/>
                  </a:lnTo>
                  <a:lnTo>
                    <a:pt x="279500" y="311416"/>
                  </a:lnTo>
                  <a:lnTo>
                    <a:pt x="311416" y="279352"/>
                  </a:lnTo>
                  <a:lnTo>
                    <a:pt x="334188" y="239948"/>
                  </a:lnTo>
                  <a:lnTo>
                    <a:pt x="345917" y="196294"/>
                  </a:lnTo>
                  <a:lnTo>
                    <a:pt x="347395" y="173520"/>
                  </a:lnTo>
                  <a:lnTo>
                    <a:pt x="345917" y="150752"/>
                  </a:lnTo>
                  <a:lnTo>
                    <a:pt x="334188" y="107104"/>
                  </a:lnTo>
                  <a:lnTo>
                    <a:pt x="311416" y="67695"/>
                  </a:lnTo>
                  <a:lnTo>
                    <a:pt x="279500" y="35635"/>
                  </a:lnTo>
                  <a:lnTo>
                    <a:pt x="240096" y="13067"/>
                  </a:lnTo>
                  <a:lnTo>
                    <a:pt x="196443" y="1474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0040" y="378575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520"/>
                  </a:moveTo>
                  <a:lnTo>
                    <a:pt x="1480" y="150752"/>
                  </a:lnTo>
                  <a:lnTo>
                    <a:pt x="5897" y="128524"/>
                  </a:lnTo>
                  <a:lnTo>
                    <a:pt x="23406" y="86766"/>
                  </a:lnTo>
                  <a:lnTo>
                    <a:pt x="50893" y="50584"/>
                  </a:lnTo>
                  <a:lnTo>
                    <a:pt x="86753" y="23050"/>
                  </a:lnTo>
                  <a:lnTo>
                    <a:pt x="128833" y="5853"/>
                  </a:lnTo>
                  <a:lnTo>
                    <a:pt x="173875" y="0"/>
                  </a:lnTo>
                  <a:lnTo>
                    <a:pt x="218606" y="5853"/>
                  </a:lnTo>
                  <a:lnTo>
                    <a:pt x="260642" y="23050"/>
                  </a:lnTo>
                  <a:lnTo>
                    <a:pt x="296503" y="50584"/>
                  </a:lnTo>
                  <a:lnTo>
                    <a:pt x="324002" y="86766"/>
                  </a:lnTo>
                  <a:lnTo>
                    <a:pt x="341504" y="128523"/>
                  </a:lnTo>
                  <a:lnTo>
                    <a:pt x="347395" y="173520"/>
                  </a:lnTo>
                  <a:lnTo>
                    <a:pt x="345917" y="196294"/>
                  </a:lnTo>
                  <a:lnTo>
                    <a:pt x="341504" y="218527"/>
                  </a:lnTo>
                  <a:lnTo>
                    <a:pt x="324002" y="260286"/>
                  </a:lnTo>
                  <a:lnTo>
                    <a:pt x="296503" y="296464"/>
                  </a:lnTo>
                  <a:lnTo>
                    <a:pt x="260642" y="324002"/>
                  </a:lnTo>
                  <a:lnTo>
                    <a:pt x="218606" y="341377"/>
                  </a:lnTo>
                  <a:lnTo>
                    <a:pt x="173875" y="347408"/>
                  </a:lnTo>
                  <a:lnTo>
                    <a:pt x="128833" y="341377"/>
                  </a:lnTo>
                  <a:lnTo>
                    <a:pt x="86753" y="324002"/>
                  </a:lnTo>
                  <a:lnTo>
                    <a:pt x="50893" y="296464"/>
                  </a:lnTo>
                  <a:lnTo>
                    <a:pt x="23406" y="260286"/>
                  </a:lnTo>
                  <a:lnTo>
                    <a:pt x="5897" y="218527"/>
                  </a:lnTo>
                  <a:lnTo>
                    <a:pt x="1480" y="196294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50265" y="3874225"/>
            <a:ext cx="869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4176" y="3755061"/>
            <a:ext cx="8597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SIEM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Auditoría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4176" y="4027946"/>
            <a:ext cx="254190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rsyslog</a:t>
            </a:r>
            <a:r>
              <a:rPr sz="850" spc="-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centralizado,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Fail2ban,</a:t>
            </a:r>
            <a:r>
              <a:rPr sz="850" spc="-3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script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auditoría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automático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13690" y="4391776"/>
            <a:ext cx="360680" cy="360680"/>
            <a:chOff x="313690" y="4391776"/>
            <a:chExt cx="360680" cy="360680"/>
          </a:xfrm>
        </p:grpSpPr>
        <p:sp>
          <p:nvSpPr>
            <p:cNvPr id="36" name="object 36"/>
            <p:cNvSpPr/>
            <p:nvPr/>
          </p:nvSpPr>
          <p:spPr>
            <a:xfrm>
              <a:off x="320040" y="439812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875" y="0"/>
                  </a:moveTo>
                  <a:lnTo>
                    <a:pt x="128833" y="5846"/>
                  </a:lnTo>
                  <a:lnTo>
                    <a:pt x="86753" y="23037"/>
                  </a:lnTo>
                  <a:lnTo>
                    <a:pt x="50893" y="50576"/>
                  </a:lnTo>
                  <a:lnTo>
                    <a:pt x="23406" y="86753"/>
                  </a:lnTo>
                  <a:lnTo>
                    <a:pt x="5897" y="128512"/>
                  </a:lnTo>
                  <a:lnTo>
                    <a:pt x="0" y="173520"/>
                  </a:lnTo>
                  <a:lnTo>
                    <a:pt x="1480" y="196287"/>
                  </a:lnTo>
                  <a:lnTo>
                    <a:pt x="13217" y="239935"/>
                  </a:lnTo>
                  <a:lnTo>
                    <a:pt x="35984" y="279344"/>
                  </a:lnTo>
                  <a:lnTo>
                    <a:pt x="67895" y="311405"/>
                  </a:lnTo>
                  <a:lnTo>
                    <a:pt x="107304" y="334028"/>
                  </a:lnTo>
                  <a:lnTo>
                    <a:pt x="151102" y="345865"/>
                  </a:lnTo>
                  <a:lnTo>
                    <a:pt x="173875" y="347395"/>
                  </a:lnTo>
                  <a:lnTo>
                    <a:pt x="196443" y="345865"/>
                  </a:lnTo>
                  <a:lnTo>
                    <a:pt x="240096" y="334028"/>
                  </a:lnTo>
                  <a:lnTo>
                    <a:pt x="279500" y="311405"/>
                  </a:lnTo>
                  <a:lnTo>
                    <a:pt x="311416" y="279344"/>
                  </a:lnTo>
                  <a:lnTo>
                    <a:pt x="334188" y="239935"/>
                  </a:lnTo>
                  <a:lnTo>
                    <a:pt x="345917" y="196287"/>
                  </a:lnTo>
                  <a:lnTo>
                    <a:pt x="347395" y="173520"/>
                  </a:lnTo>
                  <a:lnTo>
                    <a:pt x="345917" y="150745"/>
                  </a:lnTo>
                  <a:lnTo>
                    <a:pt x="334188" y="107092"/>
                  </a:lnTo>
                  <a:lnTo>
                    <a:pt x="311416" y="67688"/>
                  </a:lnTo>
                  <a:lnTo>
                    <a:pt x="279500" y="35624"/>
                  </a:lnTo>
                  <a:lnTo>
                    <a:pt x="240096" y="13056"/>
                  </a:lnTo>
                  <a:lnTo>
                    <a:pt x="196443" y="1472"/>
                  </a:lnTo>
                  <a:lnTo>
                    <a:pt x="173875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0040" y="439812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520"/>
                  </a:moveTo>
                  <a:lnTo>
                    <a:pt x="1480" y="150745"/>
                  </a:lnTo>
                  <a:lnTo>
                    <a:pt x="5897" y="128512"/>
                  </a:lnTo>
                  <a:lnTo>
                    <a:pt x="23406" y="86753"/>
                  </a:lnTo>
                  <a:lnTo>
                    <a:pt x="50893" y="50576"/>
                  </a:lnTo>
                  <a:lnTo>
                    <a:pt x="86753" y="23037"/>
                  </a:lnTo>
                  <a:lnTo>
                    <a:pt x="128833" y="5846"/>
                  </a:lnTo>
                  <a:lnTo>
                    <a:pt x="173875" y="0"/>
                  </a:lnTo>
                  <a:lnTo>
                    <a:pt x="218606" y="5846"/>
                  </a:lnTo>
                  <a:lnTo>
                    <a:pt x="260642" y="23037"/>
                  </a:lnTo>
                  <a:lnTo>
                    <a:pt x="296503" y="50576"/>
                  </a:lnTo>
                  <a:lnTo>
                    <a:pt x="324002" y="86753"/>
                  </a:lnTo>
                  <a:lnTo>
                    <a:pt x="341504" y="128512"/>
                  </a:lnTo>
                  <a:lnTo>
                    <a:pt x="347395" y="173520"/>
                  </a:lnTo>
                  <a:lnTo>
                    <a:pt x="345917" y="196287"/>
                  </a:lnTo>
                  <a:lnTo>
                    <a:pt x="341504" y="218516"/>
                  </a:lnTo>
                  <a:lnTo>
                    <a:pt x="324002" y="260273"/>
                  </a:lnTo>
                  <a:lnTo>
                    <a:pt x="296503" y="296456"/>
                  </a:lnTo>
                  <a:lnTo>
                    <a:pt x="260642" y="323989"/>
                  </a:lnTo>
                  <a:lnTo>
                    <a:pt x="218606" y="341364"/>
                  </a:lnTo>
                  <a:lnTo>
                    <a:pt x="173875" y="347395"/>
                  </a:lnTo>
                  <a:lnTo>
                    <a:pt x="128833" y="341364"/>
                  </a:lnTo>
                  <a:lnTo>
                    <a:pt x="86753" y="323989"/>
                  </a:lnTo>
                  <a:lnTo>
                    <a:pt x="50893" y="296456"/>
                  </a:lnTo>
                  <a:lnTo>
                    <a:pt x="23406" y="260273"/>
                  </a:lnTo>
                  <a:lnTo>
                    <a:pt x="5897" y="218516"/>
                  </a:lnTo>
                  <a:lnTo>
                    <a:pt x="1480" y="196287"/>
                  </a:lnTo>
                  <a:lnTo>
                    <a:pt x="0" y="17352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50265" y="4486581"/>
            <a:ext cx="869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4176" y="4367786"/>
            <a:ext cx="14338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Simulación</a:t>
            </a:r>
            <a:r>
              <a:rPr sz="95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Ataque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54176" y="4640302"/>
            <a:ext cx="24453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GPG</a:t>
            </a:r>
            <a:r>
              <a:rPr sz="85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cifrado</a:t>
            </a:r>
            <a:r>
              <a:rPr sz="850" spc="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diario,</a:t>
            </a:r>
            <a:r>
              <a:rPr sz="8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Hydra, documento</a:t>
            </a:r>
            <a:r>
              <a:rPr sz="850" spc="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incidente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 5 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fases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535995" y="695873"/>
            <a:ext cx="4514215" cy="2181860"/>
            <a:chOff x="4535995" y="695873"/>
            <a:chExt cx="4514215" cy="2181860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5995" y="695873"/>
              <a:ext cx="4513681" cy="2181606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616996" y="776886"/>
              <a:ext cx="4298315" cy="1966595"/>
            </a:xfrm>
            <a:custGeom>
              <a:avLst/>
              <a:gdLst/>
              <a:ahLst/>
              <a:cxnLst/>
              <a:rect l="l" t="t" r="r" b="b"/>
              <a:pathLst>
                <a:path w="4298315" h="1966595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874875"/>
                  </a:lnTo>
                  <a:lnTo>
                    <a:pt x="798" y="1886880"/>
                  </a:lnTo>
                  <a:lnTo>
                    <a:pt x="18843" y="1930639"/>
                  </a:lnTo>
                  <a:lnTo>
                    <a:pt x="56512" y="1959329"/>
                  </a:lnTo>
                  <a:lnTo>
                    <a:pt x="91439" y="1966315"/>
                  </a:lnTo>
                  <a:lnTo>
                    <a:pt x="4206608" y="1966315"/>
                  </a:lnTo>
                  <a:lnTo>
                    <a:pt x="4252328" y="1954072"/>
                  </a:lnTo>
                  <a:lnTo>
                    <a:pt x="4285805" y="1920595"/>
                  </a:lnTo>
                  <a:lnTo>
                    <a:pt x="4298048" y="1874875"/>
                  </a:lnTo>
                  <a:lnTo>
                    <a:pt x="4298024" y="91439"/>
                  </a:lnTo>
                  <a:lnTo>
                    <a:pt x="4285805" y="46075"/>
                  </a:lnTo>
                  <a:lnTo>
                    <a:pt x="4252328" y="12598"/>
                  </a:lnTo>
                  <a:lnTo>
                    <a:pt x="420660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16996" y="776886"/>
              <a:ext cx="4298315" cy="1966595"/>
            </a:xfrm>
            <a:custGeom>
              <a:avLst/>
              <a:gdLst/>
              <a:ahLst/>
              <a:cxnLst/>
              <a:rect l="l" t="t" r="r" b="b"/>
              <a:pathLst>
                <a:path w="4298315" h="1966595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206608" y="355"/>
                  </a:lnTo>
                  <a:lnTo>
                    <a:pt x="4252328" y="12598"/>
                  </a:lnTo>
                  <a:lnTo>
                    <a:pt x="4285805" y="46075"/>
                  </a:lnTo>
                  <a:lnTo>
                    <a:pt x="4298048" y="91795"/>
                  </a:lnTo>
                  <a:lnTo>
                    <a:pt x="4298048" y="1874875"/>
                  </a:lnTo>
                  <a:lnTo>
                    <a:pt x="4297248" y="1886880"/>
                  </a:lnTo>
                  <a:lnTo>
                    <a:pt x="4294893" y="1898545"/>
                  </a:lnTo>
                  <a:lnTo>
                    <a:pt x="4271357" y="1939634"/>
                  </a:lnTo>
                  <a:lnTo>
                    <a:pt x="4230273" y="1963165"/>
                  </a:lnTo>
                  <a:lnTo>
                    <a:pt x="4206608" y="1966315"/>
                  </a:lnTo>
                  <a:lnTo>
                    <a:pt x="91439" y="1966315"/>
                  </a:lnTo>
                  <a:lnTo>
                    <a:pt x="45719" y="1954072"/>
                  </a:lnTo>
                  <a:lnTo>
                    <a:pt x="12242" y="1920595"/>
                  </a:lnTo>
                  <a:lnTo>
                    <a:pt x="0" y="1874875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5552185" y="894786"/>
            <a:ext cx="242506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499DFF"/>
                </a:solidFill>
                <a:latin typeface="MingLiU_HKSCS-ExtB"/>
                <a:cs typeface="MingLiU_HKSCS-ExtB"/>
              </a:rPr>
              <a:t>💡</a:t>
            </a:r>
            <a:r>
              <a:rPr sz="950" b="1" dirty="0">
                <a:solidFill>
                  <a:srgbClr val="499DFF"/>
                </a:solidFill>
                <a:latin typeface="Calibri"/>
                <a:cs typeface="Calibri"/>
              </a:rPr>
              <a:t>COMANDO</a:t>
            </a:r>
            <a:r>
              <a:rPr sz="950" b="1" spc="4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499DFF"/>
                </a:solidFill>
                <a:latin typeface="Calibri"/>
                <a:cs typeface="Calibri"/>
              </a:rPr>
              <a:t>CLAVE</a:t>
            </a:r>
            <a:r>
              <a:rPr sz="950" b="1" spc="4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499DFF"/>
                </a:solidFill>
                <a:latin typeface="Calibri"/>
                <a:cs typeface="Calibri"/>
              </a:rPr>
              <a:t>—</a:t>
            </a:r>
            <a:r>
              <a:rPr sz="950" b="1" spc="5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499DFF"/>
                </a:solidFill>
                <a:latin typeface="Calibri"/>
                <a:cs typeface="Calibri"/>
              </a:rPr>
              <a:t>Segmentación</a:t>
            </a:r>
            <a:r>
              <a:rPr sz="950" b="1" spc="4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499DFF"/>
                </a:solidFill>
                <a:latin typeface="Calibri"/>
                <a:cs typeface="Calibri"/>
              </a:rPr>
              <a:t>Bancaria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740376" y="1248018"/>
            <a:ext cx="233108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Cajero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→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app-server: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PERMITIDO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iptables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-A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FORWARD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192.168.100.187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192.168.100.185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-j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ACCEPT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40376" y="1705942"/>
            <a:ext cx="233108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Cajero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→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db-core: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BLOQUEADO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iptables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-A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FORWARD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192.168.100.187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 192.168.100.186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-j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DROP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40376" y="2163853"/>
            <a:ext cx="290639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975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app-server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→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db-core: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SOLO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3306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iptables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-A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FORWARD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192.168.100.185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 192.168.100.186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tcp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--dport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3306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-j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ACCEPT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535995" y="2844713"/>
            <a:ext cx="4514215" cy="2298700"/>
            <a:chOff x="4535995" y="2844713"/>
            <a:chExt cx="4514215" cy="2298700"/>
          </a:xfrm>
        </p:grpSpPr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5995" y="2844713"/>
              <a:ext cx="4513681" cy="229861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616996" y="2925726"/>
              <a:ext cx="4298315" cy="2149475"/>
            </a:xfrm>
            <a:custGeom>
              <a:avLst/>
              <a:gdLst/>
              <a:ahLst/>
              <a:cxnLst/>
              <a:rect l="l" t="t" r="r" b="b"/>
              <a:pathLst>
                <a:path w="4298315" h="2149475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2057755"/>
                  </a:lnTo>
                  <a:lnTo>
                    <a:pt x="798" y="2069760"/>
                  </a:lnTo>
                  <a:lnTo>
                    <a:pt x="18843" y="2113519"/>
                  </a:lnTo>
                  <a:lnTo>
                    <a:pt x="56512" y="2142209"/>
                  </a:lnTo>
                  <a:lnTo>
                    <a:pt x="91439" y="2149195"/>
                  </a:lnTo>
                  <a:lnTo>
                    <a:pt x="4206608" y="2149195"/>
                  </a:lnTo>
                  <a:lnTo>
                    <a:pt x="4252328" y="2136952"/>
                  </a:lnTo>
                  <a:lnTo>
                    <a:pt x="4285805" y="2103475"/>
                  </a:lnTo>
                  <a:lnTo>
                    <a:pt x="4298048" y="2057755"/>
                  </a:lnTo>
                  <a:lnTo>
                    <a:pt x="4298024" y="91439"/>
                  </a:lnTo>
                  <a:lnTo>
                    <a:pt x="4285805" y="46075"/>
                  </a:lnTo>
                  <a:lnTo>
                    <a:pt x="4252328" y="12598"/>
                  </a:lnTo>
                  <a:lnTo>
                    <a:pt x="420660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616996" y="2925726"/>
              <a:ext cx="4298315" cy="2149475"/>
            </a:xfrm>
            <a:custGeom>
              <a:avLst/>
              <a:gdLst/>
              <a:ahLst/>
              <a:cxnLst/>
              <a:rect l="l" t="t" r="r" b="b"/>
              <a:pathLst>
                <a:path w="4298315" h="2149475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4206608" y="355"/>
                  </a:lnTo>
                  <a:lnTo>
                    <a:pt x="4252328" y="12598"/>
                  </a:lnTo>
                  <a:lnTo>
                    <a:pt x="4285805" y="46075"/>
                  </a:lnTo>
                  <a:lnTo>
                    <a:pt x="4298048" y="91795"/>
                  </a:lnTo>
                  <a:lnTo>
                    <a:pt x="4298048" y="2057755"/>
                  </a:lnTo>
                  <a:lnTo>
                    <a:pt x="4297248" y="2069760"/>
                  </a:lnTo>
                  <a:lnTo>
                    <a:pt x="4294893" y="2081425"/>
                  </a:lnTo>
                  <a:lnTo>
                    <a:pt x="4271357" y="2122514"/>
                  </a:lnTo>
                  <a:lnTo>
                    <a:pt x="4230273" y="2146046"/>
                  </a:lnTo>
                  <a:lnTo>
                    <a:pt x="4206608" y="2149195"/>
                  </a:lnTo>
                  <a:lnTo>
                    <a:pt x="91439" y="2149195"/>
                  </a:lnTo>
                  <a:lnTo>
                    <a:pt x="45719" y="2136952"/>
                  </a:lnTo>
                  <a:lnTo>
                    <a:pt x="12242" y="2103475"/>
                  </a:lnTo>
                  <a:lnTo>
                    <a:pt x="0" y="2057755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0C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880861" y="3043626"/>
            <a:ext cx="177038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00C1A7"/>
                </a:solidFill>
                <a:latin typeface="MingLiU_HKSCS-ExtB"/>
                <a:cs typeface="MingLiU_HKSCS-ExtB"/>
              </a:rPr>
              <a:t>🌐</a:t>
            </a:r>
            <a:r>
              <a:rPr sz="950" b="1" dirty="0">
                <a:solidFill>
                  <a:srgbClr val="00C1A7"/>
                </a:solidFill>
                <a:latin typeface="Calibri"/>
                <a:cs typeface="Calibri"/>
              </a:rPr>
              <a:t>PORTAL</a:t>
            </a:r>
            <a:r>
              <a:rPr sz="950" b="1" spc="90" dirty="0">
                <a:solidFill>
                  <a:srgbClr val="00C1A7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00C1A7"/>
                </a:solidFill>
                <a:latin typeface="Calibri"/>
                <a:cs typeface="Calibri"/>
              </a:rPr>
              <a:t>BANCARIO</a:t>
            </a:r>
            <a:r>
              <a:rPr sz="950" b="1" spc="90" dirty="0">
                <a:solidFill>
                  <a:srgbClr val="00C1A7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00C1A7"/>
                </a:solidFill>
                <a:latin typeface="Calibri"/>
                <a:cs typeface="Calibri"/>
              </a:rPr>
              <a:t>FUNCIONAL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86096" y="3418393"/>
            <a:ext cx="238188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75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r>
              <a:rPr sz="1050" spc="-254" dirty="0">
                <a:solidFill>
                  <a:srgbClr val="E7EFFF"/>
                </a:solidFill>
                <a:latin typeface="MingLiU_HKSCS-ExtB"/>
                <a:cs typeface="MingLiU_HKSCS-ExtB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Login</a:t>
            </a:r>
            <a:r>
              <a:rPr sz="90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con</a:t>
            </a:r>
            <a:r>
              <a:rPr sz="90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JWT</a:t>
            </a:r>
            <a:r>
              <a:rPr sz="90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·</a:t>
            </a:r>
            <a:r>
              <a:rPr sz="90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bancoseguro.rootcode.com.bo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786096" y="3738433"/>
            <a:ext cx="239839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75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r>
              <a:rPr sz="1050" spc="-254" dirty="0">
                <a:solidFill>
                  <a:srgbClr val="E7EFFF"/>
                </a:solidFill>
                <a:latin typeface="MingLiU_HKSCS-ExtB"/>
                <a:cs typeface="MingLiU_HKSCS-ExtB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Dashboard</a:t>
            </a:r>
            <a:r>
              <a:rPr sz="90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con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saldos</a:t>
            </a:r>
            <a:r>
              <a:rPr sz="90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y</a:t>
            </a:r>
            <a:r>
              <a:rPr sz="90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cuentas</a:t>
            </a:r>
            <a:r>
              <a:rPr sz="90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 tiempo</a:t>
            </a:r>
            <a:r>
              <a:rPr sz="90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7EFFF"/>
                </a:solidFill>
                <a:latin typeface="Calibri"/>
                <a:cs typeface="Calibri"/>
              </a:rPr>
              <a:t>real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786096" y="4058473"/>
            <a:ext cx="193421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75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r>
              <a:rPr sz="1050" spc="-240" dirty="0">
                <a:solidFill>
                  <a:srgbClr val="E7EFFF"/>
                </a:solidFill>
                <a:latin typeface="MingLiU_HKSCS-ExtB"/>
                <a:cs typeface="MingLiU_HKSCS-ExtB"/>
              </a:rPr>
              <a:t> 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Historial</a:t>
            </a:r>
            <a:r>
              <a:rPr sz="90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90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transacciones</a:t>
            </a:r>
            <a:r>
              <a:rPr sz="90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por</a:t>
            </a:r>
            <a:r>
              <a:rPr sz="900" spc="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cuenta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786096" y="4378513"/>
            <a:ext cx="198183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75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r>
              <a:rPr sz="1050" spc="-254" dirty="0">
                <a:solidFill>
                  <a:srgbClr val="E7EFFF"/>
                </a:solidFill>
                <a:latin typeface="MingLiU_HKSCS-ExtB"/>
                <a:cs typeface="MingLiU_HKSCS-ExtB"/>
              </a:rPr>
              <a:t> 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Transferencias</a:t>
            </a:r>
            <a:r>
              <a:rPr sz="90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con</a:t>
            </a:r>
            <a:r>
              <a:rPr sz="90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validación</a:t>
            </a:r>
            <a:r>
              <a:rPr sz="90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spc="-20" dirty="0">
                <a:solidFill>
                  <a:srgbClr val="E7EFFF"/>
                </a:solidFill>
                <a:latin typeface="Calibri"/>
                <a:cs typeface="Calibri"/>
              </a:rPr>
              <a:t>saldo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786096" y="4698553"/>
            <a:ext cx="247840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75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r>
              <a:rPr sz="1050" spc="-254" dirty="0">
                <a:solidFill>
                  <a:srgbClr val="E7EFFF"/>
                </a:solidFill>
                <a:latin typeface="MingLiU_HKSCS-ExtB"/>
                <a:cs typeface="MingLiU_HKSCS-ExtB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Usuarios:</a:t>
            </a:r>
            <a:r>
              <a:rPr sz="90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juan.perez</a:t>
            </a:r>
            <a:r>
              <a:rPr sz="90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/</a:t>
            </a:r>
            <a:r>
              <a:rPr sz="90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maria.garcia</a:t>
            </a:r>
            <a:r>
              <a:rPr sz="90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E7EFFF"/>
                </a:solidFill>
                <a:latin typeface="Calibri"/>
                <a:cs typeface="Calibri"/>
              </a:rPr>
              <a:t>/</a:t>
            </a:r>
            <a:r>
              <a:rPr sz="90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E7EFFF"/>
                </a:solidFill>
                <a:latin typeface="Calibri"/>
                <a:cs typeface="Calibri"/>
              </a:rPr>
              <a:t>carlos.lopez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-1180" dirty="0">
                <a:solidFill>
                  <a:srgbClr val="000000"/>
                </a:solidFill>
                <a:latin typeface="MingLiU_HKSCS-ExtB"/>
                <a:cs typeface="MingLiU_HKSCS-ExtB"/>
              </a:rPr>
              <a:t>✔️</a:t>
            </a:r>
            <a:r>
              <a:rPr sz="2800" b="0" spc="215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82" baseline="1322" dirty="0"/>
              <a:t>VALIDACIÓN</a:t>
            </a:r>
            <a:r>
              <a:rPr sz="3150" spc="300" baseline="1322" dirty="0"/>
              <a:t> </a:t>
            </a:r>
            <a:r>
              <a:rPr sz="3150" baseline="1322" dirty="0"/>
              <a:t>Y</a:t>
            </a:r>
            <a:r>
              <a:rPr sz="3150" spc="307" baseline="1322" dirty="0"/>
              <a:t> </a:t>
            </a:r>
            <a:r>
              <a:rPr sz="3150" spc="89" baseline="1322" dirty="0"/>
              <a:t>CONCLUSIONES</a:t>
            </a:r>
            <a:endParaRPr sz="3150" baseline="1322">
              <a:latin typeface="MingLiU_HKSCS-ExtB"/>
              <a:cs typeface="MingLiU_HKSCS-ExtB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9519" y="695517"/>
            <a:ext cx="4514215" cy="2136140"/>
            <a:chOff x="119519" y="695517"/>
            <a:chExt cx="4514215" cy="21361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695517"/>
              <a:ext cx="4513681" cy="213588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0875" y="776886"/>
              <a:ext cx="4297680" cy="1920239"/>
            </a:xfrm>
            <a:custGeom>
              <a:avLst/>
              <a:gdLst/>
              <a:ahLst/>
              <a:cxnLst/>
              <a:rect l="l" t="t" r="r" b="b"/>
              <a:pathLst>
                <a:path w="4297680" h="1920239">
                  <a:moveTo>
                    <a:pt x="4205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828799"/>
                  </a:lnTo>
                  <a:lnTo>
                    <a:pt x="774" y="1840438"/>
                  </a:lnTo>
                  <a:lnTo>
                    <a:pt x="798" y="1840799"/>
                  </a:lnTo>
                  <a:lnTo>
                    <a:pt x="3077" y="1852106"/>
                  </a:lnTo>
                  <a:lnTo>
                    <a:pt x="3149" y="1852464"/>
                  </a:lnTo>
                  <a:lnTo>
                    <a:pt x="6863" y="1863366"/>
                  </a:lnTo>
                  <a:lnTo>
                    <a:pt x="35683" y="1901396"/>
                  </a:lnTo>
                  <a:lnTo>
                    <a:pt x="79440" y="1919439"/>
                  </a:lnTo>
                  <a:lnTo>
                    <a:pt x="91439" y="1920239"/>
                  </a:lnTo>
                  <a:lnTo>
                    <a:pt x="4206240" y="1919871"/>
                  </a:lnTo>
                  <a:lnTo>
                    <a:pt x="4251960" y="1907641"/>
                  </a:lnTo>
                  <a:lnTo>
                    <a:pt x="4285449" y="1874151"/>
                  </a:lnTo>
                  <a:lnTo>
                    <a:pt x="4294409" y="1852464"/>
                  </a:lnTo>
                  <a:lnTo>
                    <a:pt x="4294531" y="1852106"/>
                  </a:lnTo>
                  <a:lnTo>
                    <a:pt x="4296808" y="1840799"/>
                  </a:lnTo>
                  <a:lnTo>
                    <a:pt x="4296881" y="1840438"/>
                  </a:lnTo>
                  <a:lnTo>
                    <a:pt x="4297655" y="1828799"/>
                  </a:lnTo>
                  <a:lnTo>
                    <a:pt x="4297680" y="1828431"/>
                  </a:lnTo>
                  <a:lnTo>
                    <a:pt x="4297324" y="91439"/>
                  </a:lnTo>
                  <a:lnTo>
                    <a:pt x="4285081" y="45719"/>
                  </a:lnTo>
                  <a:lnTo>
                    <a:pt x="4251604" y="12230"/>
                  </a:lnTo>
                  <a:lnTo>
                    <a:pt x="4217889" y="798"/>
                  </a:lnTo>
                  <a:lnTo>
                    <a:pt x="4205884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875" y="776886"/>
              <a:ext cx="4297680" cy="1920239"/>
            </a:xfrm>
            <a:custGeom>
              <a:avLst/>
              <a:gdLst/>
              <a:ahLst/>
              <a:cxnLst/>
              <a:rect l="l" t="t" r="r" b="b"/>
              <a:pathLst>
                <a:path w="4297680" h="1920239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90" y="26679"/>
                  </a:lnTo>
                  <a:lnTo>
                    <a:pt x="67775" y="3148"/>
                  </a:lnTo>
                  <a:lnTo>
                    <a:pt x="91439" y="0"/>
                  </a:lnTo>
                  <a:lnTo>
                    <a:pt x="4205884" y="0"/>
                  </a:lnTo>
                  <a:lnTo>
                    <a:pt x="4251604" y="12230"/>
                  </a:lnTo>
                  <a:lnTo>
                    <a:pt x="4285081" y="45719"/>
                  </a:lnTo>
                  <a:lnTo>
                    <a:pt x="4297324" y="91439"/>
                  </a:lnTo>
                  <a:lnTo>
                    <a:pt x="4297680" y="1828431"/>
                  </a:lnTo>
                  <a:lnTo>
                    <a:pt x="4296881" y="1840438"/>
                  </a:lnTo>
                  <a:lnTo>
                    <a:pt x="4294531" y="1852106"/>
                  </a:lnTo>
                  <a:lnTo>
                    <a:pt x="4271000" y="1893192"/>
                  </a:lnTo>
                  <a:lnTo>
                    <a:pt x="4229914" y="1916723"/>
                  </a:lnTo>
                  <a:lnTo>
                    <a:pt x="91439" y="1920239"/>
                  </a:lnTo>
                  <a:lnTo>
                    <a:pt x="45720" y="1907997"/>
                  </a:lnTo>
                  <a:lnTo>
                    <a:pt x="12242" y="1874520"/>
                  </a:lnTo>
                  <a:lnTo>
                    <a:pt x="0" y="182879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33C6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45742" y="903791"/>
            <a:ext cx="160591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33C658"/>
                </a:solidFill>
                <a:latin typeface="MingLiU_HKSCS-ExtB"/>
                <a:cs typeface="MingLiU_HKSCS-ExtB"/>
              </a:rPr>
              <a:t>🔒</a:t>
            </a:r>
            <a:r>
              <a:rPr sz="950" b="1" dirty="0">
                <a:solidFill>
                  <a:srgbClr val="33C658"/>
                </a:solidFill>
                <a:latin typeface="Calibri"/>
                <a:cs typeface="Calibri"/>
              </a:rPr>
              <a:t>PRUEBA</a:t>
            </a:r>
            <a:r>
              <a:rPr sz="950" b="1" spc="8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C658"/>
                </a:solidFill>
                <a:latin typeface="Calibri"/>
                <a:cs typeface="Calibri"/>
              </a:rPr>
              <a:t>DE</a:t>
            </a:r>
            <a:r>
              <a:rPr sz="950" b="1" spc="9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C658"/>
                </a:solidFill>
                <a:latin typeface="Calibri"/>
                <a:cs typeface="Calibri"/>
              </a:rPr>
              <a:t>SEGMENTACIÓN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5340" y="1279334"/>
            <a:ext cx="13563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Cajero</a:t>
            </a:r>
            <a:r>
              <a:rPr sz="850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→</a:t>
            </a:r>
            <a:r>
              <a:rPr sz="850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app-server:3000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5340" y="1553654"/>
            <a:ext cx="12223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FF3A2F"/>
                </a:solidFill>
                <a:latin typeface="MingLiU_HKSCS-ExtB"/>
                <a:cs typeface="MingLiU_HKSCS-ExtB"/>
              </a:rPr>
              <a:t>❌</a:t>
            </a:r>
            <a:r>
              <a:rPr sz="1000" spc="-229" dirty="0">
                <a:solidFill>
                  <a:srgbClr val="FF3A2F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FF3A2F"/>
                </a:solidFill>
                <a:latin typeface="Calibri"/>
                <a:cs typeface="Calibri"/>
              </a:rPr>
              <a:t>Cajero</a:t>
            </a:r>
            <a:r>
              <a:rPr sz="850" dirty="0">
                <a:solidFill>
                  <a:srgbClr val="FF3A2F"/>
                </a:solidFill>
                <a:latin typeface="Calibri"/>
                <a:cs typeface="Calibri"/>
              </a:rPr>
              <a:t> →</a:t>
            </a:r>
            <a:r>
              <a:rPr sz="850" spc="-5" dirty="0">
                <a:solidFill>
                  <a:srgbClr val="FF3A2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3A2F"/>
                </a:solidFill>
                <a:latin typeface="Calibri"/>
                <a:cs typeface="Calibri"/>
              </a:rPr>
              <a:t>db-core:3306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340" y="1827974"/>
            <a:ext cx="12566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FF3A2F"/>
                </a:solidFill>
                <a:latin typeface="MingLiU_HKSCS-ExtB"/>
                <a:cs typeface="MingLiU_HKSCS-ExtB"/>
              </a:rPr>
              <a:t>❌</a:t>
            </a:r>
            <a:r>
              <a:rPr sz="1000" spc="-229" dirty="0">
                <a:solidFill>
                  <a:srgbClr val="FF3A2F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FF3A2F"/>
                </a:solidFill>
                <a:latin typeface="Calibri"/>
                <a:cs typeface="Calibri"/>
              </a:rPr>
              <a:t>Cajero</a:t>
            </a:r>
            <a:r>
              <a:rPr sz="850" spc="-5" dirty="0">
                <a:solidFill>
                  <a:srgbClr val="FF3A2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3A2F"/>
                </a:solidFill>
                <a:latin typeface="Calibri"/>
                <a:cs typeface="Calibri"/>
              </a:rPr>
              <a:t>→</a:t>
            </a:r>
            <a:r>
              <a:rPr sz="850" spc="-10" dirty="0">
                <a:solidFill>
                  <a:srgbClr val="FF3A2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FF3A2F"/>
                </a:solidFill>
                <a:latin typeface="Calibri"/>
                <a:cs typeface="Calibri"/>
              </a:rPr>
              <a:t>ping</a:t>
            </a:r>
            <a:r>
              <a:rPr sz="850" spc="-15" dirty="0">
                <a:solidFill>
                  <a:srgbClr val="FF3A2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FF3A2F"/>
                </a:solidFill>
                <a:latin typeface="Calibri"/>
                <a:cs typeface="Calibri"/>
              </a:rPr>
              <a:t>web-</a:t>
            </a:r>
            <a:r>
              <a:rPr sz="850" spc="-25" dirty="0">
                <a:solidFill>
                  <a:srgbClr val="FF3A2F"/>
                </a:solidFill>
                <a:latin typeface="Calibri"/>
                <a:cs typeface="Calibri"/>
              </a:rPr>
              <a:t>dmz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5340" y="2102294"/>
            <a:ext cx="14820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web-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dmz</a:t>
            </a:r>
            <a:r>
              <a:rPr sz="850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→</a:t>
            </a:r>
            <a:r>
              <a:rPr sz="850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app-server:3000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5340" y="2376614"/>
            <a:ext cx="13474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FF3A2F"/>
                </a:solidFill>
                <a:latin typeface="MingLiU_HKSCS-ExtB"/>
                <a:cs typeface="MingLiU_HKSCS-ExtB"/>
              </a:rPr>
              <a:t>❌</a:t>
            </a:r>
            <a:r>
              <a:rPr sz="1000" spc="-229" dirty="0">
                <a:solidFill>
                  <a:srgbClr val="FF3A2F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FF3A2F"/>
                </a:solidFill>
                <a:latin typeface="Calibri"/>
                <a:cs typeface="Calibri"/>
              </a:rPr>
              <a:t>web-</a:t>
            </a:r>
            <a:r>
              <a:rPr sz="850" dirty="0">
                <a:solidFill>
                  <a:srgbClr val="FF3A2F"/>
                </a:solidFill>
                <a:latin typeface="Calibri"/>
                <a:cs typeface="Calibri"/>
              </a:rPr>
              <a:t>dmz → </a:t>
            </a:r>
            <a:r>
              <a:rPr sz="850" spc="-10" dirty="0">
                <a:solidFill>
                  <a:srgbClr val="FF3A2F"/>
                </a:solidFill>
                <a:latin typeface="Calibri"/>
                <a:cs typeface="Calibri"/>
              </a:rPr>
              <a:t>db-core:3306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27435" y="695517"/>
            <a:ext cx="4514215" cy="2136140"/>
            <a:chOff x="4627435" y="695517"/>
            <a:chExt cx="4514215" cy="213614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7435" y="695517"/>
              <a:ext cx="4513681" cy="213588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08804" y="776886"/>
              <a:ext cx="4297680" cy="1920239"/>
            </a:xfrm>
            <a:custGeom>
              <a:avLst/>
              <a:gdLst/>
              <a:ahLst/>
              <a:cxnLst/>
              <a:rect l="l" t="t" r="r" b="b"/>
              <a:pathLst>
                <a:path w="4297680" h="1920239">
                  <a:moveTo>
                    <a:pt x="42058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39"/>
                  </a:lnTo>
                  <a:lnTo>
                    <a:pt x="0" y="1828799"/>
                  </a:lnTo>
                  <a:lnTo>
                    <a:pt x="774" y="1840438"/>
                  </a:lnTo>
                  <a:lnTo>
                    <a:pt x="798" y="1840799"/>
                  </a:lnTo>
                  <a:lnTo>
                    <a:pt x="3075" y="1852106"/>
                  </a:lnTo>
                  <a:lnTo>
                    <a:pt x="3148" y="1852464"/>
                  </a:lnTo>
                  <a:lnTo>
                    <a:pt x="6858" y="1863366"/>
                  </a:lnTo>
                  <a:lnTo>
                    <a:pt x="35675" y="1901396"/>
                  </a:lnTo>
                  <a:lnTo>
                    <a:pt x="79433" y="1919439"/>
                  </a:lnTo>
                  <a:lnTo>
                    <a:pt x="91439" y="1920239"/>
                  </a:lnTo>
                  <a:lnTo>
                    <a:pt x="4206240" y="1919871"/>
                  </a:lnTo>
                  <a:lnTo>
                    <a:pt x="4251960" y="1907641"/>
                  </a:lnTo>
                  <a:lnTo>
                    <a:pt x="4285437" y="1874151"/>
                  </a:lnTo>
                  <a:lnTo>
                    <a:pt x="4296806" y="1840799"/>
                  </a:lnTo>
                  <a:lnTo>
                    <a:pt x="4296879" y="1840438"/>
                  </a:lnTo>
                  <a:lnTo>
                    <a:pt x="4297655" y="1828799"/>
                  </a:lnTo>
                  <a:lnTo>
                    <a:pt x="4297680" y="1828431"/>
                  </a:lnTo>
                  <a:lnTo>
                    <a:pt x="4297311" y="91439"/>
                  </a:lnTo>
                  <a:lnTo>
                    <a:pt x="4285081" y="45719"/>
                  </a:lnTo>
                  <a:lnTo>
                    <a:pt x="4251591" y="12230"/>
                  </a:lnTo>
                  <a:lnTo>
                    <a:pt x="4217878" y="798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08804" y="776886"/>
              <a:ext cx="4297680" cy="1920239"/>
            </a:xfrm>
            <a:custGeom>
              <a:avLst/>
              <a:gdLst/>
              <a:ahLst/>
              <a:cxnLst/>
              <a:rect l="l" t="t" r="r" b="b"/>
              <a:pathLst>
                <a:path w="4297680" h="1920239">
                  <a:moveTo>
                    <a:pt x="0" y="91439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205871" y="0"/>
                  </a:lnTo>
                  <a:lnTo>
                    <a:pt x="4251591" y="12230"/>
                  </a:lnTo>
                  <a:lnTo>
                    <a:pt x="4285081" y="45719"/>
                  </a:lnTo>
                  <a:lnTo>
                    <a:pt x="4297311" y="91439"/>
                  </a:lnTo>
                  <a:lnTo>
                    <a:pt x="4297680" y="1828431"/>
                  </a:lnTo>
                  <a:lnTo>
                    <a:pt x="4296879" y="1840438"/>
                  </a:lnTo>
                  <a:lnTo>
                    <a:pt x="4294525" y="1852106"/>
                  </a:lnTo>
                  <a:lnTo>
                    <a:pt x="4270989" y="1893192"/>
                  </a:lnTo>
                  <a:lnTo>
                    <a:pt x="4229904" y="1916723"/>
                  </a:lnTo>
                  <a:lnTo>
                    <a:pt x="91439" y="1920239"/>
                  </a:lnTo>
                  <a:lnTo>
                    <a:pt x="45720" y="1907997"/>
                  </a:lnTo>
                  <a:lnTo>
                    <a:pt x="12230" y="1874520"/>
                  </a:lnTo>
                  <a:lnTo>
                    <a:pt x="0" y="182879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47257" y="903791"/>
            <a:ext cx="141859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F3A2F"/>
                </a:solidFill>
                <a:latin typeface="MingLiU_HKSCS-ExtB"/>
                <a:cs typeface="MingLiU_HKSCS-ExtB"/>
              </a:rPr>
              <a:t>🚨</a:t>
            </a:r>
            <a:r>
              <a:rPr sz="950" b="1" dirty="0">
                <a:solidFill>
                  <a:srgbClr val="FF3A2F"/>
                </a:solidFill>
                <a:latin typeface="Calibri"/>
                <a:cs typeface="Calibri"/>
              </a:rPr>
              <a:t>PRUEBA</a:t>
            </a:r>
            <a:r>
              <a:rPr sz="950" b="1" spc="90" dirty="0">
                <a:solidFill>
                  <a:srgbClr val="FF3A2F"/>
                </a:solidFill>
                <a:latin typeface="Calibri"/>
                <a:cs typeface="Calibri"/>
              </a:rPr>
              <a:t> </a:t>
            </a:r>
            <a:r>
              <a:rPr sz="950" b="1" spc="-35" dirty="0">
                <a:solidFill>
                  <a:srgbClr val="FF3A2F"/>
                </a:solidFill>
                <a:latin typeface="Calibri"/>
                <a:cs typeface="Calibri"/>
              </a:rPr>
              <a:t>ATAQUE</a:t>
            </a:r>
            <a:r>
              <a:rPr sz="950" b="1" spc="100" dirty="0">
                <a:solidFill>
                  <a:srgbClr val="FF3A2F"/>
                </a:solidFill>
                <a:latin typeface="Calibri"/>
                <a:cs typeface="Calibri"/>
              </a:rPr>
              <a:t> </a:t>
            </a:r>
            <a:r>
              <a:rPr sz="950" b="1" spc="-20" dirty="0">
                <a:solidFill>
                  <a:srgbClr val="FF3A2F"/>
                </a:solidFill>
                <a:latin typeface="Calibri"/>
                <a:cs typeface="Calibri"/>
              </a:rPr>
              <a:t>HYDRA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3256" y="1279334"/>
            <a:ext cx="16046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Nmap:</a:t>
            </a:r>
            <a:r>
              <a:rPr sz="850" spc="-4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puerto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22</a:t>
            </a:r>
            <a:r>
              <a:rPr sz="850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filtered</a:t>
            </a:r>
            <a:r>
              <a:rPr sz="850" spc="-20" dirty="0">
                <a:solidFill>
                  <a:srgbClr val="33C658"/>
                </a:solidFill>
                <a:latin typeface="Calibri"/>
                <a:cs typeface="Calibri"/>
              </a:rPr>
              <a:t> (UFW)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23256" y="1553654"/>
            <a:ext cx="158115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Hydra: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13+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 intentos detectados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23256" y="1827974"/>
            <a:ext cx="16402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Fail2ban</a:t>
            </a:r>
            <a:r>
              <a:rPr sz="850" spc="-4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baneó</a:t>
            </a:r>
            <a:r>
              <a:rPr sz="850" spc="-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192.168.100.189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23256" y="2102294"/>
            <a:ext cx="17570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0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SSH</a:t>
            </a:r>
            <a:r>
              <a:rPr sz="850" spc="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33C658"/>
                </a:solidFill>
                <a:latin typeface="Calibri"/>
                <a:cs typeface="Calibri"/>
              </a:rPr>
              <a:t>attacker</a:t>
            </a:r>
            <a:r>
              <a:rPr sz="850" spc="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→</a:t>
            </a:r>
            <a:r>
              <a:rPr sz="850" spc="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Connection</a:t>
            </a:r>
            <a:r>
              <a:rPr sz="850" spc="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refused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23256" y="2376614"/>
            <a:ext cx="165671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Reporte</a:t>
            </a:r>
            <a:r>
              <a:rPr sz="850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incidente</a:t>
            </a:r>
            <a:r>
              <a:rPr sz="850" spc="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generado </a:t>
            </a:r>
            <a:r>
              <a:rPr sz="850" spc="-20" dirty="0">
                <a:solidFill>
                  <a:srgbClr val="33C658"/>
                </a:solidFill>
                <a:latin typeface="Calibri"/>
                <a:cs typeface="Calibri"/>
              </a:rPr>
              <a:t>auto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19519" y="2752917"/>
            <a:ext cx="4514215" cy="2136140"/>
            <a:chOff x="119519" y="2752917"/>
            <a:chExt cx="4514215" cy="213614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2752917"/>
              <a:ext cx="4513681" cy="213588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00875" y="2834286"/>
              <a:ext cx="4297680" cy="1920239"/>
            </a:xfrm>
            <a:custGeom>
              <a:avLst/>
              <a:gdLst/>
              <a:ahLst/>
              <a:cxnLst/>
              <a:rect l="l" t="t" r="r" b="b"/>
              <a:pathLst>
                <a:path w="4297680" h="1920239">
                  <a:moveTo>
                    <a:pt x="420588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1828800"/>
                  </a:lnTo>
                  <a:lnTo>
                    <a:pt x="774" y="1840438"/>
                  </a:lnTo>
                  <a:lnTo>
                    <a:pt x="798" y="1840799"/>
                  </a:lnTo>
                  <a:lnTo>
                    <a:pt x="3077" y="1852106"/>
                  </a:lnTo>
                  <a:lnTo>
                    <a:pt x="3149" y="1852464"/>
                  </a:lnTo>
                  <a:lnTo>
                    <a:pt x="26690" y="1893549"/>
                  </a:lnTo>
                  <a:lnTo>
                    <a:pt x="67775" y="1917085"/>
                  </a:lnTo>
                  <a:lnTo>
                    <a:pt x="91439" y="1920240"/>
                  </a:lnTo>
                  <a:lnTo>
                    <a:pt x="4206240" y="1919871"/>
                  </a:lnTo>
                  <a:lnTo>
                    <a:pt x="4251960" y="1907641"/>
                  </a:lnTo>
                  <a:lnTo>
                    <a:pt x="4285449" y="1874151"/>
                  </a:lnTo>
                  <a:lnTo>
                    <a:pt x="4297655" y="1828800"/>
                  </a:lnTo>
                  <a:lnTo>
                    <a:pt x="4297680" y="1828431"/>
                  </a:lnTo>
                  <a:lnTo>
                    <a:pt x="4297324" y="91440"/>
                  </a:lnTo>
                  <a:lnTo>
                    <a:pt x="4285081" y="45720"/>
                  </a:lnTo>
                  <a:lnTo>
                    <a:pt x="4251604" y="12230"/>
                  </a:lnTo>
                  <a:lnTo>
                    <a:pt x="4217889" y="798"/>
                  </a:lnTo>
                  <a:lnTo>
                    <a:pt x="4205884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0875" y="2834286"/>
              <a:ext cx="4297680" cy="1920239"/>
            </a:xfrm>
            <a:custGeom>
              <a:avLst/>
              <a:gdLst/>
              <a:ahLst/>
              <a:cxnLst/>
              <a:rect l="l" t="t" r="r" b="b"/>
              <a:pathLst>
                <a:path w="4297680" h="1920239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90" y="26679"/>
                  </a:lnTo>
                  <a:lnTo>
                    <a:pt x="67775" y="3148"/>
                  </a:lnTo>
                  <a:lnTo>
                    <a:pt x="91439" y="0"/>
                  </a:lnTo>
                  <a:lnTo>
                    <a:pt x="4205884" y="0"/>
                  </a:lnTo>
                  <a:lnTo>
                    <a:pt x="4251604" y="12230"/>
                  </a:lnTo>
                  <a:lnTo>
                    <a:pt x="4285081" y="45720"/>
                  </a:lnTo>
                  <a:lnTo>
                    <a:pt x="4297324" y="91440"/>
                  </a:lnTo>
                  <a:lnTo>
                    <a:pt x="4297680" y="1828431"/>
                  </a:lnTo>
                  <a:lnTo>
                    <a:pt x="4296881" y="1840438"/>
                  </a:lnTo>
                  <a:lnTo>
                    <a:pt x="4294531" y="1852106"/>
                  </a:lnTo>
                  <a:lnTo>
                    <a:pt x="4271000" y="1893192"/>
                  </a:lnTo>
                  <a:lnTo>
                    <a:pt x="4229914" y="1916723"/>
                  </a:lnTo>
                  <a:lnTo>
                    <a:pt x="91439" y="1920240"/>
                  </a:lnTo>
                  <a:lnTo>
                    <a:pt x="45720" y="1907997"/>
                  </a:lnTo>
                  <a:lnTo>
                    <a:pt x="12242" y="1874520"/>
                  </a:lnTo>
                  <a:lnTo>
                    <a:pt x="0" y="182880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499D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545742" y="2961191"/>
            <a:ext cx="160718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499DFF"/>
                </a:solidFill>
                <a:latin typeface="MingLiU_HKSCS-ExtB"/>
                <a:cs typeface="MingLiU_HKSCS-ExtB"/>
              </a:rPr>
              <a:t>🌐</a:t>
            </a:r>
            <a:r>
              <a:rPr sz="950" b="1" dirty="0">
                <a:solidFill>
                  <a:srgbClr val="499DFF"/>
                </a:solidFill>
                <a:latin typeface="Calibri"/>
                <a:cs typeface="Calibri"/>
              </a:rPr>
              <a:t>PORTAL</a:t>
            </a:r>
            <a:r>
              <a:rPr sz="950" b="1" spc="4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499DFF"/>
                </a:solidFill>
                <a:latin typeface="Calibri"/>
                <a:cs typeface="Calibri"/>
              </a:rPr>
              <a:t>+</a:t>
            </a:r>
            <a:r>
              <a:rPr sz="950" b="1" spc="3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499DFF"/>
                </a:solidFill>
                <a:latin typeface="Calibri"/>
                <a:cs typeface="Calibri"/>
              </a:rPr>
              <a:t>DNS</a:t>
            </a:r>
            <a:r>
              <a:rPr sz="950" b="1" spc="3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499DFF"/>
                </a:solidFill>
                <a:latin typeface="Calibri"/>
                <a:cs typeface="Calibri"/>
              </a:rPr>
              <a:t>VERIFICADOS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5340" y="3336734"/>
            <a:ext cx="185293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15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bancoseguro.rootcode.com.bo</a:t>
            </a:r>
            <a:r>
              <a:rPr sz="850" spc="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online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5340" y="3611054"/>
            <a:ext cx="16510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Login</a:t>
            </a:r>
            <a:r>
              <a:rPr sz="850" spc="-2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JWT</a:t>
            </a:r>
            <a:r>
              <a:rPr sz="850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+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dashboard funcional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5340" y="3885374"/>
            <a:ext cx="14598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10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20" dirty="0">
                <a:solidFill>
                  <a:srgbClr val="33C658"/>
                </a:solidFill>
                <a:latin typeface="Calibri"/>
                <a:cs typeface="Calibri"/>
              </a:rPr>
              <a:t>Transferencias</a:t>
            </a:r>
            <a:r>
              <a:rPr sz="850" spc="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entre</a:t>
            </a:r>
            <a:r>
              <a:rPr sz="850" spc="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cuentas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15340" y="4159694"/>
            <a:ext cx="163639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DNS:</a:t>
            </a:r>
            <a:r>
              <a:rPr sz="850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bancoseguro.local</a:t>
            </a:r>
            <a:r>
              <a:rPr sz="850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resuelve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5340" y="4434014"/>
            <a:ext cx="16402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Backup</a:t>
            </a:r>
            <a:r>
              <a:rPr sz="850" spc="-3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GPG:</a:t>
            </a:r>
            <a:r>
              <a:rPr sz="850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6 días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 consecutivos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627435" y="2752917"/>
            <a:ext cx="4514215" cy="2136140"/>
            <a:chOff x="4627435" y="2752917"/>
            <a:chExt cx="4514215" cy="2136140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7435" y="2752917"/>
              <a:ext cx="4513681" cy="213588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708804" y="2834286"/>
              <a:ext cx="4297680" cy="1920239"/>
            </a:xfrm>
            <a:custGeom>
              <a:avLst/>
              <a:gdLst/>
              <a:ahLst/>
              <a:cxnLst/>
              <a:rect l="l" t="t" r="r" b="b"/>
              <a:pathLst>
                <a:path w="4297680" h="1920239">
                  <a:moveTo>
                    <a:pt x="420587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30"/>
                  </a:lnTo>
                  <a:lnTo>
                    <a:pt x="6981" y="56505"/>
                  </a:lnTo>
                  <a:lnTo>
                    <a:pt x="0" y="91440"/>
                  </a:lnTo>
                  <a:lnTo>
                    <a:pt x="0" y="1828800"/>
                  </a:lnTo>
                  <a:lnTo>
                    <a:pt x="774" y="1840438"/>
                  </a:lnTo>
                  <a:lnTo>
                    <a:pt x="798" y="1840799"/>
                  </a:lnTo>
                  <a:lnTo>
                    <a:pt x="3075" y="1852106"/>
                  </a:lnTo>
                  <a:lnTo>
                    <a:pt x="3148" y="1852464"/>
                  </a:lnTo>
                  <a:lnTo>
                    <a:pt x="6858" y="1863366"/>
                  </a:lnTo>
                  <a:lnTo>
                    <a:pt x="35675" y="1901396"/>
                  </a:lnTo>
                  <a:lnTo>
                    <a:pt x="79433" y="1919439"/>
                  </a:lnTo>
                  <a:lnTo>
                    <a:pt x="91439" y="1920240"/>
                  </a:lnTo>
                  <a:lnTo>
                    <a:pt x="4206240" y="1919871"/>
                  </a:lnTo>
                  <a:lnTo>
                    <a:pt x="4251960" y="1907641"/>
                  </a:lnTo>
                  <a:lnTo>
                    <a:pt x="4285437" y="1874151"/>
                  </a:lnTo>
                  <a:lnTo>
                    <a:pt x="4296806" y="1840799"/>
                  </a:lnTo>
                  <a:lnTo>
                    <a:pt x="4296879" y="1840438"/>
                  </a:lnTo>
                  <a:lnTo>
                    <a:pt x="4297655" y="1828800"/>
                  </a:lnTo>
                  <a:lnTo>
                    <a:pt x="4297680" y="1828431"/>
                  </a:lnTo>
                  <a:lnTo>
                    <a:pt x="4297311" y="91440"/>
                  </a:lnTo>
                  <a:lnTo>
                    <a:pt x="4285081" y="45720"/>
                  </a:lnTo>
                  <a:lnTo>
                    <a:pt x="4251591" y="12230"/>
                  </a:lnTo>
                  <a:lnTo>
                    <a:pt x="4217878" y="798"/>
                  </a:lnTo>
                  <a:lnTo>
                    <a:pt x="4205871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08804" y="2834286"/>
              <a:ext cx="4297680" cy="1920239"/>
            </a:xfrm>
            <a:custGeom>
              <a:avLst/>
              <a:gdLst/>
              <a:ahLst/>
              <a:cxnLst/>
              <a:rect l="l" t="t" r="r" b="b"/>
              <a:pathLst>
                <a:path w="4297680" h="1920239">
                  <a:moveTo>
                    <a:pt x="0" y="91440"/>
                  </a:moveTo>
                  <a:lnTo>
                    <a:pt x="798" y="79433"/>
                  </a:lnTo>
                  <a:lnTo>
                    <a:pt x="3148" y="67765"/>
                  </a:lnTo>
                  <a:lnTo>
                    <a:pt x="26679" y="26679"/>
                  </a:lnTo>
                  <a:lnTo>
                    <a:pt x="67765" y="3148"/>
                  </a:lnTo>
                  <a:lnTo>
                    <a:pt x="91439" y="0"/>
                  </a:lnTo>
                  <a:lnTo>
                    <a:pt x="4205871" y="0"/>
                  </a:lnTo>
                  <a:lnTo>
                    <a:pt x="4251591" y="12230"/>
                  </a:lnTo>
                  <a:lnTo>
                    <a:pt x="4285081" y="45720"/>
                  </a:lnTo>
                  <a:lnTo>
                    <a:pt x="4297311" y="91440"/>
                  </a:lnTo>
                  <a:lnTo>
                    <a:pt x="4297680" y="1828431"/>
                  </a:lnTo>
                  <a:lnTo>
                    <a:pt x="4296879" y="1840438"/>
                  </a:lnTo>
                  <a:lnTo>
                    <a:pt x="4294525" y="1852106"/>
                  </a:lnTo>
                  <a:lnTo>
                    <a:pt x="4270989" y="1893192"/>
                  </a:lnTo>
                  <a:lnTo>
                    <a:pt x="4229904" y="1916723"/>
                  </a:lnTo>
                  <a:lnTo>
                    <a:pt x="91439" y="1920240"/>
                  </a:lnTo>
                  <a:lnTo>
                    <a:pt x="45720" y="1907997"/>
                  </a:lnTo>
                  <a:lnTo>
                    <a:pt x="12230" y="1874520"/>
                  </a:lnTo>
                  <a:lnTo>
                    <a:pt x="0" y="1828800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00C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185420" y="2961191"/>
            <a:ext cx="134366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10" dirty="0">
                <a:solidFill>
                  <a:srgbClr val="00C1A7"/>
                </a:solidFill>
                <a:latin typeface="MingLiU_HKSCS-ExtB"/>
                <a:cs typeface="MingLiU_HKSCS-ExtB"/>
              </a:rPr>
              <a:t>💡</a:t>
            </a:r>
            <a:r>
              <a:rPr sz="950" b="1" spc="10" dirty="0">
                <a:solidFill>
                  <a:srgbClr val="00C1A7"/>
                </a:solidFill>
                <a:latin typeface="Calibri"/>
                <a:cs typeface="Calibri"/>
              </a:rPr>
              <a:t>APRENDIZAJE</a:t>
            </a:r>
            <a:r>
              <a:rPr sz="950" b="1" spc="110" dirty="0">
                <a:solidFill>
                  <a:srgbClr val="00C1A7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00C1A7"/>
                </a:solidFill>
                <a:latin typeface="Calibri"/>
                <a:cs typeface="Calibri"/>
              </a:rPr>
              <a:t>TÉCNICO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23256" y="3336734"/>
            <a:ext cx="167640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15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20" dirty="0">
                <a:solidFill>
                  <a:srgbClr val="33C658"/>
                </a:solidFill>
                <a:latin typeface="Calibri"/>
                <a:cs typeface="Calibri"/>
              </a:rPr>
              <a:t>Defense-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in-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depth:</a:t>
            </a:r>
            <a:r>
              <a:rPr sz="850" spc="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7</a:t>
            </a:r>
            <a:r>
              <a:rPr sz="850" spc="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capas</a:t>
            </a:r>
            <a:r>
              <a:rPr sz="850" spc="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activas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923256" y="3611054"/>
            <a:ext cx="189547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iptables</a:t>
            </a:r>
            <a:r>
              <a:rPr sz="850" spc="-4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como</a:t>
            </a:r>
            <a:r>
              <a:rPr sz="850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motor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de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 segmentación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23256" y="3885374"/>
            <a:ext cx="156654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JWT</a:t>
            </a:r>
            <a:r>
              <a:rPr sz="850" spc="-3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+</a:t>
            </a:r>
            <a:r>
              <a:rPr sz="850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bcrypt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 para</a:t>
            </a:r>
            <a:r>
              <a:rPr sz="850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API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 bancaria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923256" y="4159694"/>
            <a:ext cx="16071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rsyslog</a:t>
            </a:r>
            <a:r>
              <a:rPr sz="850" spc="-3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centralizado</a:t>
            </a:r>
            <a:r>
              <a:rPr sz="850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=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visibilidad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923256" y="4434014"/>
            <a:ext cx="148526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16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1000" spc="-229" dirty="0">
                <a:solidFill>
                  <a:srgbClr val="33C658"/>
                </a:solidFill>
                <a:latin typeface="MingLiU_HKSCS-ExtB"/>
                <a:cs typeface="MingLiU_HKSCS-ExtB"/>
              </a:rPr>
              <a:t> </a:t>
            </a:r>
            <a:r>
              <a:rPr sz="850" dirty="0">
                <a:solidFill>
                  <a:srgbClr val="33C658"/>
                </a:solidFill>
                <a:latin typeface="Calibri"/>
                <a:cs typeface="Calibri"/>
              </a:rPr>
              <a:t>GPG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 asimétrico para</a:t>
            </a:r>
            <a:r>
              <a:rPr sz="850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33C658"/>
                </a:solidFill>
                <a:latin typeface="Calibri"/>
                <a:cs typeface="Calibri"/>
              </a:rPr>
              <a:t>backups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475" dirty="0">
                <a:solidFill>
                  <a:srgbClr val="000000"/>
                </a:solidFill>
                <a:latin typeface="MingLiU_HKSCS-ExtB"/>
                <a:cs typeface="MingLiU_HKSCS-ExtB"/>
              </a:rPr>
              <a:t>🔍</a:t>
            </a:r>
            <a:r>
              <a:rPr sz="2800" b="0" spc="295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97" baseline="1322" dirty="0"/>
              <a:t>COMANDOS</a:t>
            </a:r>
            <a:r>
              <a:rPr sz="3150" spc="337" baseline="1322" dirty="0"/>
              <a:t> </a:t>
            </a:r>
            <a:r>
              <a:rPr sz="3150" baseline="1322" dirty="0"/>
              <a:t>DE</a:t>
            </a:r>
            <a:r>
              <a:rPr sz="3150" spc="337" baseline="1322" dirty="0"/>
              <a:t> </a:t>
            </a:r>
            <a:r>
              <a:rPr sz="3150" spc="112" baseline="1322" dirty="0"/>
              <a:t>VERIFICACIÓN</a:t>
            </a:r>
            <a:r>
              <a:rPr sz="3150" spc="352" baseline="1322" dirty="0"/>
              <a:t> </a:t>
            </a:r>
            <a:r>
              <a:rPr sz="3150" spc="97" baseline="1322" dirty="0"/>
              <a:t>FINAL</a:t>
            </a:r>
            <a:r>
              <a:rPr sz="3150" spc="352" baseline="1322" dirty="0"/>
              <a:t> </a:t>
            </a:r>
            <a:r>
              <a:rPr sz="3150" baseline="1322" dirty="0"/>
              <a:t>—</a:t>
            </a:r>
            <a:r>
              <a:rPr sz="3150" spc="345" baseline="1322" dirty="0"/>
              <a:t> </a:t>
            </a:r>
            <a:r>
              <a:rPr sz="3150" baseline="1322" dirty="0"/>
              <a:t>PARTE</a:t>
            </a:r>
            <a:r>
              <a:rPr sz="3150" spc="352" baseline="1322" dirty="0"/>
              <a:t> </a:t>
            </a:r>
            <a:r>
              <a:rPr sz="3150" spc="-75" baseline="1322" dirty="0"/>
              <a:t>1</a:t>
            </a:r>
            <a:endParaRPr sz="3150" baseline="1322">
              <a:latin typeface="MingLiU_HKSCS-ExtB"/>
              <a:cs typeface="MingLiU_HKSCS-ExtB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9875" y="695517"/>
            <a:ext cx="2337435" cy="4448175"/>
            <a:chOff x="119875" y="695517"/>
            <a:chExt cx="2337435" cy="4448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695517"/>
              <a:ext cx="2337117" cy="44478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087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206608"/>
                  </a:lnTo>
                  <a:lnTo>
                    <a:pt x="798" y="4218608"/>
                  </a:lnTo>
                  <a:lnTo>
                    <a:pt x="18843" y="4262365"/>
                  </a:lnTo>
                  <a:lnTo>
                    <a:pt x="56512" y="4291056"/>
                  </a:lnTo>
                  <a:lnTo>
                    <a:pt x="91439" y="4298048"/>
                  </a:lnTo>
                  <a:lnTo>
                    <a:pt x="2030399" y="4298048"/>
                  </a:lnTo>
                  <a:lnTo>
                    <a:pt x="2076119" y="4285805"/>
                  </a:lnTo>
                  <a:lnTo>
                    <a:pt x="2109609" y="4252328"/>
                  </a:lnTo>
                  <a:lnTo>
                    <a:pt x="2121839" y="4206608"/>
                  </a:lnTo>
                  <a:lnTo>
                    <a:pt x="2121815" y="91439"/>
                  </a:lnTo>
                  <a:lnTo>
                    <a:pt x="2109609" y="46088"/>
                  </a:lnTo>
                  <a:lnTo>
                    <a:pt x="2076119" y="12598"/>
                  </a:lnTo>
                  <a:lnTo>
                    <a:pt x="203039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87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030399" y="368"/>
                  </a:lnTo>
                  <a:lnTo>
                    <a:pt x="2076119" y="12598"/>
                  </a:lnTo>
                  <a:lnTo>
                    <a:pt x="2109609" y="46088"/>
                  </a:lnTo>
                  <a:lnTo>
                    <a:pt x="2121839" y="91808"/>
                  </a:lnTo>
                  <a:lnTo>
                    <a:pt x="2121839" y="4206608"/>
                  </a:lnTo>
                  <a:lnTo>
                    <a:pt x="2121041" y="4218608"/>
                  </a:lnTo>
                  <a:lnTo>
                    <a:pt x="2118691" y="4230273"/>
                  </a:lnTo>
                  <a:lnTo>
                    <a:pt x="2095160" y="4271357"/>
                  </a:lnTo>
                  <a:lnTo>
                    <a:pt x="2054074" y="4294893"/>
                  </a:lnTo>
                  <a:lnTo>
                    <a:pt x="2030399" y="4298048"/>
                  </a:lnTo>
                  <a:lnTo>
                    <a:pt x="91439" y="4298048"/>
                  </a:lnTo>
                  <a:lnTo>
                    <a:pt x="45720" y="4285805"/>
                  </a:lnTo>
                  <a:lnTo>
                    <a:pt x="12242" y="4252328"/>
                  </a:lnTo>
                  <a:lnTo>
                    <a:pt x="0" y="42066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24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5" h="439419">
                  <a:moveTo>
                    <a:pt x="20480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2048395" y="438480"/>
                  </a:lnTo>
                  <a:lnTo>
                    <a:pt x="2092773" y="423381"/>
                  </a:lnTo>
                  <a:lnTo>
                    <a:pt x="2118981" y="384616"/>
                  </a:lnTo>
                  <a:lnTo>
                    <a:pt x="2120825" y="375238"/>
                  </a:lnTo>
                  <a:lnTo>
                    <a:pt x="2120864" y="375036"/>
                  </a:lnTo>
                  <a:lnTo>
                    <a:pt x="2121449" y="365760"/>
                  </a:lnTo>
                  <a:lnTo>
                    <a:pt x="2121471" y="365404"/>
                  </a:lnTo>
                  <a:lnTo>
                    <a:pt x="2121115" y="73075"/>
                  </a:lnTo>
                  <a:lnTo>
                    <a:pt x="2106017" y="28705"/>
                  </a:lnTo>
                  <a:lnTo>
                    <a:pt x="2067069" y="2428"/>
                  </a:lnTo>
                  <a:lnTo>
                    <a:pt x="2057672" y="607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FF3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124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5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48040" y="0"/>
                  </a:lnTo>
                  <a:lnTo>
                    <a:pt x="2092560" y="15104"/>
                  </a:lnTo>
                  <a:lnTo>
                    <a:pt x="2118687" y="54224"/>
                  </a:lnTo>
                  <a:lnTo>
                    <a:pt x="2121115" y="73075"/>
                  </a:lnTo>
                  <a:lnTo>
                    <a:pt x="2121471" y="365404"/>
                  </a:lnTo>
                  <a:lnTo>
                    <a:pt x="2120864" y="375036"/>
                  </a:lnTo>
                  <a:lnTo>
                    <a:pt x="2119042" y="384433"/>
                  </a:lnTo>
                  <a:lnTo>
                    <a:pt x="2092773" y="423381"/>
                  </a:lnTo>
                  <a:lnTo>
                    <a:pt x="2048395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124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5" h="210184">
                  <a:moveTo>
                    <a:pt x="21211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1060551" y="209880"/>
                  </a:lnTo>
                  <a:lnTo>
                    <a:pt x="2121115" y="209880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FF3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124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5" h="210184">
                  <a:moveTo>
                    <a:pt x="1060551" y="209880"/>
                  </a:moveTo>
                  <a:lnTo>
                    <a:pt x="0" y="209880"/>
                  </a:lnTo>
                  <a:lnTo>
                    <a:pt x="0" y="0"/>
                  </a:lnTo>
                  <a:lnTo>
                    <a:pt x="2121115" y="0"/>
                  </a:lnTo>
                  <a:lnTo>
                    <a:pt x="2121115" y="209880"/>
                  </a:lnTo>
                  <a:lnTo>
                    <a:pt x="1060551" y="209880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72540" y="915024"/>
            <a:ext cx="7791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router-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fw</a:t>
            </a:r>
            <a:r>
              <a:rPr sz="900" b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(.182)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256" y="1312458"/>
            <a:ext cx="1812925" cy="117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cat</a:t>
            </a:r>
            <a:endParaRPr sz="750">
              <a:latin typeface="Courier New"/>
              <a:cs typeface="Courier New"/>
            </a:endParaRPr>
          </a:p>
          <a:p>
            <a:pPr marL="12700" marR="62865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/proc/sys/net/ipv4/ip_forward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iptables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-L FORWARD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v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fail2ban-client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status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sshd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ping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192.168.100.183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k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  <a:hlinkClick r:id="rId3"/>
              </a:rPr>
              <a:t>https://192.168.100.184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50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  <a:hlinkClick r:id="rId4"/>
              </a:rPr>
              <a:t>http://192.168.100.185:3000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k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-X POST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.../api/login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14435" y="695517"/>
            <a:ext cx="2338070" cy="4448175"/>
            <a:chOff x="2314435" y="695517"/>
            <a:chExt cx="2338070" cy="444817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4435" y="695517"/>
              <a:ext cx="2337485" cy="444780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9543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206608"/>
                  </a:lnTo>
                  <a:lnTo>
                    <a:pt x="798" y="4218608"/>
                  </a:lnTo>
                  <a:lnTo>
                    <a:pt x="18843" y="4262365"/>
                  </a:lnTo>
                  <a:lnTo>
                    <a:pt x="56512" y="4291056"/>
                  </a:lnTo>
                  <a:lnTo>
                    <a:pt x="91440" y="4298048"/>
                  </a:lnTo>
                  <a:lnTo>
                    <a:pt x="2030399" y="4298048"/>
                  </a:lnTo>
                  <a:lnTo>
                    <a:pt x="2076119" y="4285805"/>
                  </a:lnTo>
                  <a:lnTo>
                    <a:pt x="2109609" y="4252328"/>
                  </a:lnTo>
                  <a:lnTo>
                    <a:pt x="2121839" y="4206608"/>
                  </a:lnTo>
                  <a:lnTo>
                    <a:pt x="2121815" y="91439"/>
                  </a:lnTo>
                  <a:lnTo>
                    <a:pt x="2109609" y="46088"/>
                  </a:lnTo>
                  <a:lnTo>
                    <a:pt x="2076119" y="12598"/>
                  </a:lnTo>
                  <a:lnTo>
                    <a:pt x="203039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9543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030399" y="368"/>
                  </a:lnTo>
                  <a:lnTo>
                    <a:pt x="2076119" y="12598"/>
                  </a:lnTo>
                  <a:lnTo>
                    <a:pt x="2109609" y="46088"/>
                  </a:lnTo>
                  <a:lnTo>
                    <a:pt x="2121839" y="91808"/>
                  </a:lnTo>
                  <a:lnTo>
                    <a:pt x="2121839" y="4206608"/>
                  </a:lnTo>
                  <a:lnTo>
                    <a:pt x="2121041" y="4218608"/>
                  </a:lnTo>
                  <a:lnTo>
                    <a:pt x="2118691" y="4230273"/>
                  </a:lnTo>
                  <a:lnTo>
                    <a:pt x="2095160" y="4271357"/>
                  </a:lnTo>
                  <a:lnTo>
                    <a:pt x="2054074" y="4294893"/>
                  </a:lnTo>
                  <a:lnTo>
                    <a:pt x="2030399" y="4298048"/>
                  </a:lnTo>
                  <a:lnTo>
                    <a:pt x="91440" y="4298048"/>
                  </a:lnTo>
                  <a:lnTo>
                    <a:pt x="45720" y="4285805"/>
                  </a:lnTo>
                  <a:lnTo>
                    <a:pt x="12242" y="4252328"/>
                  </a:lnTo>
                  <a:lnTo>
                    <a:pt x="0" y="42066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9580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5" h="439419">
                  <a:moveTo>
                    <a:pt x="20480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5464" y="393656"/>
                  </a:lnTo>
                  <a:lnTo>
                    <a:pt x="9715" y="402120"/>
                  </a:lnTo>
                  <a:lnTo>
                    <a:pt x="44979" y="433370"/>
                  </a:lnTo>
                  <a:lnTo>
                    <a:pt x="73075" y="438835"/>
                  </a:lnTo>
                  <a:lnTo>
                    <a:pt x="2048395" y="438480"/>
                  </a:lnTo>
                  <a:lnTo>
                    <a:pt x="2092773" y="423381"/>
                  </a:lnTo>
                  <a:lnTo>
                    <a:pt x="2118981" y="384616"/>
                  </a:lnTo>
                  <a:lnTo>
                    <a:pt x="2119042" y="384433"/>
                  </a:lnTo>
                  <a:lnTo>
                    <a:pt x="2120825" y="375238"/>
                  </a:lnTo>
                  <a:lnTo>
                    <a:pt x="2120864" y="375036"/>
                  </a:lnTo>
                  <a:lnTo>
                    <a:pt x="2121449" y="365760"/>
                  </a:lnTo>
                  <a:lnTo>
                    <a:pt x="2121115" y="73075"/>
                  </a:lnTo>
                  <a:lnTo>
                    <a:pt x="2106017" y="28705"/>
                  </a:lnTo>
                  <a:lnTo>
                    <a:pt x="2067069" y="2428"/>
                  </a:lnTo>
                  <a:lnTo>
                    <a:pt x="2057672" y="607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9580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5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48040" y="0"/>
                  </a:lnTo>
                  <a:lnTo>
                    <a:pt x="2092560" y="15104"/>
                  </a:lnTo>
                  <a:lnTo>
                    <a:pt x="2118687" y="54224"/>
                  </a:lnTo>
                  <a:lnTo>
                    <a:pt x="2121115" y="73075"/>
                  </a:lnTo>
                  <a:lnTo>
                    <a:pt x="2121471" y="365404"/>
                  </a:lnTo>
                  <a:lnTo>
                    <a:pt x="2120864" y="375036"/>
                  </a:lnTo>
                  <a:lnTo>
                    <a:pt x="2119042" y="384433"/>
                  </a:lnTo>
                  <a:lnTo>
                    <a:pt x="2092773" y="423381"/>
                  </a:lnTo>
                  <a:lnTo>
                    <a:pt x="2048395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9580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5" h="210184">
                  <a:moveTo>
                    <a:pt x="21211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1060551" y="209880"/>
                  </a:lnTo>
                  <a:lnTo>
                    <a:pt x="2121115" y="209880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9580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5" h="210184">
                  <a:moveTo>
                    <a:pt x="1060551" y="209880"/>
                  </a:moveTo>
                  <a:lnTo>
                    <a:pt x="0" y="209880"/>
                  </a:lnTo>
                  <a:lnTo>
                    <a:pt x="0" y="0"/>
                  </a:lnTo>
                  <a:lnTo>
                    <a:pt x="2121115" y="0"/>
                  </a:lnTo>
                  <a:lnTo>
                    <a:pt x="2121115" y="209880"/>
                  </a:lnTo>
                  <a:lnTo>
                    <a:pt x="1060551" y="209880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043339" y="915024"/>
            <a:ext cx="8248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dns-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9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(.183)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45816" y="1312458"/>
            <a:ext cx="1812925" cy="82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907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status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named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dig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@192.168.100.183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web-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dmz</a:t>
            </a:r>
            <a:endParaRPr sz="750">
              <a:latin typeface="Courier New"/>
              <a:cs typeface="Courier New"/>
            </a:endParaRPr>
          </a:p>
          <a:p>
            <a:pPr marL="12700" marR="639445" indent="1143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.bancoseguro.local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dig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@192.168.100.183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bancoseguro.local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dig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@192.168.100.183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google.com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ufw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status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verbose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08995" y="695517"/>
            <a:ext cx="2338070" cy="4448175"/>
            <a:chOff x="4508995" y="695517"/>
            <a:chExt cx="2338070" cy="444817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8995" y="695517"/>
              <a:ext cx="2337485" cy="444780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58999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206608"/>
                  </a:lnTo>
                  <a:lnTo>
                    <a:pt x="798" y="4218608"/>
                  </a:lnTo>
                  <a:lnTo>
                    <a:pt x="18843" y="4262365"/>
                  </a:lnTo>
                  <a:lnTo>
                    <a:pt x="56512" y="4291056"/>
                  </a:lnTo>
                  <a:lnTo>
                    <a:pt x="91440" y="4298048"/>
                  </a:lnTo>
                  <a:lnTo>
                    <a:pt x="2030399" y="4298048"/>
                  </a:lnTo>
                  <a:lnTo>
                    <a:pt x="2076119" y="4285805"/>
                  </a:lnTo>
                  <a:lnTo>
                    <a:pt x="2109609" y="4252328"/>
                  </a:lnTo>
                  <a:lnTo>
                    <a:pt x="2121839" y="4206608"/>
                  </a:lnTo>
                  <a:lnTo>
                    <a:pt x="2121815" y="91439"/>
                  </a:lnTo>
                  <a:lnTo>
                    <a:pt x="2109609" y="46088"/>
                  </a:lnTo>
                  <a:lnTo>
                    <a:pt x="2076119" y="12598"/>
                  </a:lnTo>
                  <a:lnTo>
                    <a:pt x="203039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8999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030399" y="368"/>
                  </a:lnTo>
                  <a:lnTo>
                    <a:pt x="2076119" y="12598"/>
                  </a:lnTo>
                  <a:lnTo>
                    <a:pt x="2109609" y="46088"/>
                  </a:lnTo>
                  <a:lnTo>
                    <a:pt x="2121839" y="91808"/>
                  </a:lnTo>
                  <a:lnTo>
                    <a:pt x="2121839" y="4206608"/>
                  </a:lnTo>
                  <a:lnTo>
                    <a:pt x="2121041" y="4218608"/>
                  </a:lnTo>
                  <a:lnTo>
                    <a:pt x="2118691" y="4230273"/>
                  </a:lnTo>
                  <a:lnTo>
                    <a:pt x="2095160" y="4271357"/>
                  </a:lnTo>
                  <a:lnTo>
                    <a:pt x="2054074" y="4294893"/>
                  </a:lnTo>
                  <a:lnTo>
                    <a:pt x="2030399" y="4298048"/>
                  </a:lnTo>
                  <a:lnTo>
                    <a:pt x="91440" y="4298048"/>
                  </a:lnTo>
                  <a:lnTo>
                    <a:pt x="45720" y="4285805"/>
                  </a:lnTo>
                  <a:lnTo>
                    <a:pt x="12242" y="4252328"/>
                  </a:lnTo>
                  <a:lnTo>
                    <a:pt x="0" y="42066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9036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4" h="439419">
                  <a:moveTo>
                    <a:pt x="20480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2048395" y="438480"/>
                  </a:lnTo>
                  <a:lnTo>
                    <a:pt x="2092773" y="423381"/>
                  </a:lnTo>
                  <a:lnTo>
                    <a:pt x="2118981" y="384616"/>
                  </a:lnTo>
                  <a:lnTo>
                    <a:pt x="2119042" y="384433"/>
                  </a:lnTo>
                  <a:lnTo>
                    <a:pt x="2120825" y="375238"/>
                  </a:lnTo>
                  <a:lnTo>
                    <a:pt x="2120864" y="375036"/>
                  </a:lnTo>
                  <a:lnTo>
                    <a:pt x="2121449" y="365760"/>
                  </a:lnTo>
                  <a:lnTo>
                    <a:pt x="2121471" y="365404"/>
                  </a:lnTo>
                  <a:lnTo>
                    <a:pt x="2121115" y="73075"/>
                  </a:lnTo>
                  <a:lnTo>
                    <a:pt x="2106017" y="28705"/>
                  </a:lnTo>
                  <a:lnTo>
                    <a:pt x="2067069" y="2428"/>
                  </a:lnTo>
                  <a:lnTo>
                    <a:pt x="2057672" y="607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9036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4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48040" y="0"/>
                  </a:lnTo>
                  <a:lnTo>
                    <a:pt x="2092560" y="15104"/>
                  </a:lnTo>
                  <a:lnTo>
                    <a:pt x="2118687" y="54224"/>
                  </a:lnTo>
                  <a:lnTo>
                    <a:pt x="2121115" y="73075"/>
                  </a:lnTo>
                  <a:lnTo>
                    <a:pt x="2121471" y="365404"/>
                  </a:lnTo>
                  <a:lnTo>
                    <a:pt x="2120864" y="375036"/>
                  </a:lnTo>
                  <a:lnTo>
                    <a:pt x="2119042" y="384433"/>
                  </a:lnTo>
                  <a:lnTo>
                    <a:pt x="2092773" y="423381"/>
                  </a:lnTo>
                  <a:lnTo>
                    <a:pt x="2048395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9036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4" h="210184">
                  <a:moveTo>
                    <a:pt x="21211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1060551" y="209880"/>
                  </a:lnTo>
                  <a:lnTo>
                    <a:pt x="2121115" y="209880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9036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4" h="210184">
                  <a:moveTo>
                    <a:pt x="1060551" y="209880"/>
                  </a:moveTo>
                  <a:lnTo>
                    <a:pt x="0" y="209880"/>
                  </a:lnTo>
                  <a:lnTo>
                    <a:pt x="0" y="0"/>
                  </a:lnTo>
                  <a:lnTo>
                    <a:pt x="2121115" y="0"/>
                  </a:lnTo>
                  <a:lnTo>
                    <a:pt x="2121115" y="209880"/>
                  </a:lnTo>
                  <a:lnTo>
                    <a:pt x="1060551" y="20988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268505" y="915024"/>
            <a:ext cx="7645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web-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dmz</a:t>
            </a:r>
            <a:r>
              <a:rPr sz="9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(.184)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40376" y="1312458"/>
            <a:ext cx="1812925" cy="82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6854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status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nginx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nginx 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t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k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  <a:hlinkClick r:id="rId3"/>
              </a:rPr>
              <a:t>https://192.168.100.184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grep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"192.168.100.187"</a:t>
            </a:r>
            <a:endParaRPr sz="750">
              <a:latin typeface="Courier New"/>
              <a:cs typeface="Courier New"/>
            </a:endParaRPr>
          </a:p>
          <a:p>
            <a:pPr marL="12700" marR="408940" indent="1143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/etc/ufw/before.rules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ss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-tlnp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| grep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ssh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debe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mostrar: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2222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703555" y="695517"/>
            <a:ext cx="2338070" cy="4448175"/>
            <a:chOff x="6703555" y="695517"/>
            <a:chExt cx="2338070" cy="4448175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3555" y="695517"/>
              <a:ext cx="2337485" cy="444780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78455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206608"/>
                  </a:lnTo>
                  <a:lnTo>
                    <a:pt x="798" y="4218608"/>
                  </a:lnTo>
                  <a:lnTo>
                    <a:pt x="18843" y="4262365"/>
                  </a:lnTo>
                  <a:lnTo>
                    <a:pt x="56512" y="4291056"/>
                  </a:lnTo>
                  <a:lnTo>
                    <a:pt x="91440" y="4298048"/>
                  </a:lnTo>
                  <a:lnTo>
                    <a:pt x="2030399" y="4298048"/>
                  </a:lnTo>
                  <a:lnTo>
                    <a:pt x="2076119" y="4285805"/>
                  </a:lnTo>
                  <a:lnTo>
                    <a:pt x="2109609" y="4252328"/>
                  </a:lnTo>
                  <a:lnTo>
                    <a:pt x="2121839" y="4206608"/>
                  </a:lnTo>
                  <a:lnTo>
                    <a:pt x="2121815" y="91439"/>
                  </a:lnTo>
                  <a:lnTo>
                    <a:pt x="2109609" y="46088"/>
                  </a:lnTo>
                  <a:lnTo>
                    <a:pt x="2076119" y="12598"/>
                  </a:lnTo>
                  <a:lnTo>
                    <a:pt x="203039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78455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030399" y="368"/>
                  </a:lnTo>
                  <a:lnTo>
                    <a:pt x="2076119" y="12598"/>
                  </a:lnTo>
                  <a:lnTo>
                    <a:pt x="2109609" y="46088"/>
                  </a:lnTo>
                  <a:lnTo>
                    <a:pt x="2121839" y="91808"/>
                  </a:lnTo>
                  <a:lnTo>
                    <a:pt x="2121839" y="4206608"/>
                  </a:lnTo>
                  <a:lnTo>
                    <a:pt x="2121041" y="4218608"/>
                  </a:lnTo>
                  <a:lnTo>
                    <a:pt x="2118691" y="4230273"/>
                  </a:lnTo>
                  <a:lnTo>
                    <a:pt x="2095160" y="4271357"/>
                  </a:lnTo>
                  <a:lnTo>
                    <a:pt x="2054074" y="4294893"/>
                  </a:lnTo>
                  <a:lnTo>
                    <a:pt x="2030399" y="4298048"/>
                  </a:lnTo>
                  <a:lnTo>
                    <a:pt x="91440" y="4298048"/>
                  </a:lnTo>
                  <a:lnTo>
                    <a:pt x="45720" y="4285805"/>
                  </a:lnTo>
                  <a:lnTo>
                    <a:pt x="12242" y="4252328"/>
                  </a:lnTo>
                  <a:lnTo>
                    <a:pt x="0" y="42066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78492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4" h="439419">
                  <a:moveTo>
                    <a:pt x="20480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2048395" y="438480"/>
                  </a:lnTo>
                  <a:lnTo>
                    <a:pt x="2092773" y="423381"/>
                  </a:lnTo>
                  <a:lnTo>
                    <a:pt x="2118981" y="384616"/>
                  </a:lnTo>
                  <a:lnTo>
                    <a:pt x="2119042" y="384433"/>
                  </a:lnTo>
                  <a:lnTo>
                    <a:pt x="2120825" y="375238"/>
                  </a:lnTo>
                  <a:lnTo>
                    <a:pt x="2120864" y="375036"/>
                  </a:lnTo>
                  <a:lnTo>
                    <a:pt x="2121449" y="365760"/>
                  </a:lnTo>
                  <a:lnTo>
                    <a:pt x="2121471" y="365404"/>
                  </a:lnTo>
                  <a:lnTo>
                    <a:pt x="2121115" y="73075"/>
                  </a:lnTo>
                  <a:lnTo>
                    <a:pt x="2106017" y="28705"/>
                  </a:lnTo>
                  <a:lnTo>
                    <a:pt x="2067069" y="2428"/>
                  </a:lnTo>
                  <a:lnTo>
                    <a:pt x="2057672" y="607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8492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4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48040" y="0"/>
                  </a:lnTo>
                  <a:lnTo>
                    <a:pt x="2092560" y="15104"/>
                  </a:lnTo>
                  <a:lnTo>
                    <a:pt x="2118687" y="54224"/>
                  </a:lnTo>
                  <a:lnTo>
                    <a:pt x="2121115" y="73075"/>
                  </a:lnTo>
                  <a:lnTo>
                    <a:pt x="2121471" y="365404"/>
                  </a:lnTo>
                  <a:lnTo>
                    <a:pt x="2120864" y="375036"/>
                  </a:lnTo>
                  <a:lnTo>
                    <a:pt x="2119042" y="384433"/>
                  </a:lnTo>
                  <a:lnTo>
                    <a:pt x="2092773" y="423381"/>
                  </a:lnTo>
                  <a:lnTo>
                    <a:pt x="2048395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8492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4" h="210184">
                  <a:moveTo>
                    <a:pt x="21211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1060551" y="209880"/>
                  </a:lnTo>
                  <a:lnTo>
                    <a:pt x="2121115" y="209880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8492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4" h="210184">
                  <a:moveTo>
                    <a:pt x="1060551" y="209880"/>
                  </a:moveTo>
                  <a:lnTo>
                    <a:pt x="0" y="209880"/>
                  </a:lnTo>
                  <a:lnTo>
                    <a:pt x="0" y="0"/>
                  </a:lnTo>
                  <a:lnTo>
                    <a:pt x="2121115" y="0"/>
                  </a:lnTo>
                  <a:lnTo>
                    <a:pt x="2121115" y="209880"/>
                  </a:lnTo>
                  <a:lnTo>
                    <a:pt x="1060551" y="209880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427417" y="915024"/>
            <a:ext cx="83693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app-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9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(.185)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34936" y="1312458"/>
            <a:ext cx="1812925" cy="82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status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banco-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api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50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  <a:hlinkClick r:id="rId4"/>
              </a:rPr>
              <a:t>http://192.168.100.185:3000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X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POST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.../login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 marR="635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'{"username":"juan.perez", "password":"password"}'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ss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-tlnp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| grep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ssh</a:t>
            </a:r>
            <a:endParaRPr sz="7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475" dirty="0">
                <a:solidFill>
                  <a:srgbClr val="000000"/>
                </a:solidFill>
                <a:latin typeface="MingLiU_HKSCS-ExtB"/>
                <a:cs typeface="MingLiU_HKSCS-ExtB"/>
              </a:rPr>
              <a:t>🔍</a:t>
            </a:r>
            <a:r>
              <a:rPr sz="2800" b="0" spc="295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97" baseline="1322" dirty="0"/>
              <a:t>COMANDOS</a:t>
            </a:r>
            <a:r>
              <a:rPr sz="3150" spc="337" baseline="1322" dirty="0"/>
              <a:t> </a:t>
            </a:r>
            <a:r>
              <a:rPr sz="3150" baseline="1322" dirty="0"/>
              <a:t>DE</a:t>
            </a:r>
            <a:r>
              <a:rPr sz="3150" spc="337" baseline="1322" dirty="0"/>
              <a:t> </a:t>
            </a:r>
            <a:r>
              <a:rPr sz="3150" spc="112" baseline="1322" dirty="0"/>
              <a:t>VERIFICACIÓN</a:t>
            </a:r>
            <a:r>
              <a:rPr sz="3150" spc="352" baseline="1322" dirty="0"/>
              <a:t> </a:t>
            </a:r>
            <a:r>
              <a:rPr sz="3150" spc="97" baseline="1322" dirty="0"/>
              <a:t>FINAL</a:t>
            </a:r>
            <a:r>
              <a:rPr sz="3150" spc="352" baseline="1322" dirty="0"/>
              <a:t> </a:t>
            </a:r>
            <a:r>
              <a:rPr sz="3150" baseline="1322" dirty="0"/>
              <a:t>—</a:t>
            </a:r>
            <a:r>
              <a:rPr sz="3150" spc="345" baseline="1322" dirty="0"/>
              <a:t> </a:t>
            </a:r>
            <a:r>
              <a:rPr sz="3150" baseline="1322" dirty="0"/>
              <a:t>PARTE</a:t>
            </a:r>
            <a:r>
              <a:rPr sz="3150" spc="352" baseline="1322" dirty="0"/>
              <a:t> </a:t>
            </a:r>
            <a:r>
              <a:rPr sz="3150" spc="-75" baseline="1322" dirty="0"/>
              <a:t>2</a:t>
            </a:r>
            <a:endParaRPr sz="3150" baseline="1322">
              <a:latin typeface="MingLiU_HKSCS-ExtB"/>
              <a:cs typeface="MingLiU_HKSCS-ExtB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9875" y="695517"/>
            <a:ext cx="2337435" cy="4448175"/>
            <a:chOff x="119875" y="695517"/>
            <a:chExt cx="2337435" cy="4448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695517"/>
              <a:ext cx="2337117" cy="44478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087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206608"/>
                  </a:lnTo>
                  <a:lnTo>
                    <a:pt x="798" y="4218608"/>
                  </a:lnTo>
                  <a:lnTo>
                    <a:pt x="18843" y="4262365"/>
                  </a:lnTo>
                  <a:lnTo>
                    <a:pt x="56512" y="4291056"/>
                  </a:lnTo>
                  <a:lnTo>
                    <a:pt x="91439" y="4298048"/>
                  </a:lnTo>
                  <a:lnTo>
                    <a:pt x="2030399" y="4298048"/>
                  </a:lnTo>
                  <a:lnTo>
                    <a:pt x="2076119" y="4285805"/>
                  </a:lnTo>
                  <a:lnTo>
                    <a:pt x="2109609" y="4252328"/>
                  </a:lnTo>
                  <a:lnTo>
                    <a:pt x="2121839" y="4206608"/>
                  </a:lnTo>
                  <a:lnTo>
                    <a:pt x="2121815" y="91439"/>
                  </a:lnTo>
                  <a:lnTo>
                    <a:pt x="2109609" y="46088"/>
                  </a:lnTo>
                  <a:lnTo>
                    <a:pt x="2076119" y="12598"/>
                  </a:lnTo>
                  <a:lnTo>
                    <a:pt x="203039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87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030399" y="368"/>
                  </a:lnTo>
                  <a:lnTo>
                    <a:pt x="2076119" y="12598"/>
                  </a:lnTo>
                  <a:lnTo>
                    <a:pt x="2109609" y="46088"/>
                  </a:lnTo>
                  <a:lnTo>
                    <a:pt x="2121839" y="91808"/>
                  </a:lnTo>
                  <a:lnTo>
                    <a:pt x="2121839" y="4206608"/>
                  </a:lnTo>
                  <a:lnTo>
                    <a:pt x="2121041" y="4218608"/>
                  </a:lnTo>
                  <a:lnTo>
                    <a:pt x="2118691" y="4230273"/>
                  </a:lnTo>
                  <a:lnTo>
                    <a:pt x="2095160" y="4271357"/>
                  </a:lnTo>
                  <a:lnTo>
                    <a:pt x="2054074" y="4294893"/>
                  </a:lnTo>
                  <a:lnTo>
                    <a:pt x="2030399" y="4298048"/>
                  </a:lnTo>
                  <a:lnTo>
                    <a:pt x="91439" y="4298048"/>
                  </a:lnTo>
                  <a:lnTo>
                    <a:pt x="45720" y="4285805"/>
                  </a:lnTo>
                  <a:lnTo>
                    <a:pt x="12242" y="4252328"/>
                  </a:lnTo>
                  <a:lnTo>
                    <a:pt x="0" y="42066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24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5" h="439419">
                  <a:moveTo>
                    <a:pt x="20480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2048395" y="438480"/>
                  </a:lnTo>
                  <a:lnTo>
                    <a:pt x="2092773" y="423381"/>
                  </a:lnTo>
                  <a:lnTo>
                    <a:pt x="2118981" y="384616"/>
                  </a:lnTo>
                  <a:lnTo>
                    <a:pt x="2120825" y="375238"/>
                  </a:lnTo>
                  <a:lnTo>
                    <a:pt x="2120864" y="375036"/>
                  </a:lnTo>
                  <a:lnTo>
                    <a:pt x="2121449" y="365760"/>
                  </a:lnTo>
                  <a:lnTo>
                    <a:pt x="2121471" y="365404"/>
                  </a:lnTo>
                  <a:lnTo>
                    <a:pt x="2121115" y="73075"/>
                  </a:lnTo>
                  <a:lnTo>
                    <a:pt x="2106017" y="28705"/>
                  </a:lnTo>
                  <a:lnTo>
                    <a:pt x="2067069" y="2428"/>
                  </a:lnTo>
                  <a:lnTo>
                    <a:pt x="2057672" y="607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124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5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48040" y="0"/>
                  </a:lnTo>
                  <a:lnTo>
                    <a:pt x="2092560" y="15104"/>
                  </a:lnTo>
                  <a:lnTo>
                    <a:pt x="2118687" y="54224"/>
                  </a:lnTo>
                  <a:lnTo>
                    <a:pt x="2121115" y="73075"/>
                  </a:lnTo>
                  <a:lnTo>
                    <a:pt x="2121471" y="365404"/>
                  </a:lnTo>
                  <a:lnTo>
                    <a:pt x="2120864" y="375036"/>
                  </a:lnTo>
                  <a:lnTo>
                    <a:pt x="2119042" y="384433"/>
                  </a:lnTo>
                  <a:lnTo>
                    <a:pt x="2092773" y="423381"/>
                  </a:lnTo>
                  <a:lnTo>
                    <a:pt x="2048395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0124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5" h="210184">
                  <a:moveTo>
                    <a:pt x="21211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1060551" y="209880"/>
                  </a:lnTo>
                  <a:lnTo>
                    <a:pt x="2121115" y="209880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124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5" h="210184">
                  <a:moveTo>
                    <a:pt x="1060551" y="209880"/>
                  </a:moveTo>
                  <a:lnTo>
                    <a:pt x="0" y="209880"/>
                  </a:lnTo>
                  <a:lnTo>
                    <a:pt x="0" y="0"/>
                  </a:lnTo>
                  <a:lnTo>
                    <a:pt x="2121115" y="0"/>
                  </a:lnTo>
                  <a:lnTo>
                    <a:pt x="2121115" y="209880"/>
                  </a:lnTo>
                  <a:lnTo>
                    <a:pt x="1060551" y="209880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16825" y="915024"/>
            <a:ext cx="6896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db-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sz="9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(.186)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256" y="1312458"/>
            <a:ext cx="1696720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status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mariadb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mysql -u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root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-p -e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"USE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banco_db;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SELECT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COUNT(*)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FROM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clientes;"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ls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-lh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/var/backups/banco/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grep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"192.168.100.187"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" marR="293370" indent="1143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/etc/ufw/before.rules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ss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-tlnp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| grep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ssh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14435" y="695517"/>
            <a:ext cx="2338070" cy="4448175"/>
            <a:chOff x="2314435" y="695517"/>
            <a:chExt cx="2338070" cy="444817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4435" y="695517"/>
              <a:ext cx="2337485" cy="444780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9543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206608"/>
                  </a:lnTo>
                  <a:lnTo>
                    <a:pt x="798" y="4218608"/>
                  </a:lnTo>
                  <a:lnTo>
                    <a:pt x="18843" y="4262365"/>
                  </a:lnTo>
                  <a:lnTo>
                    <a:pt x="56512" y="4291056"/>
                  </a:lnTo>
                  <a:lnTo>
                    <a:pt x="91440" y="4298048"/>
                  </a:lnTo>
                  <a:lnTo>
                    <a:pt x="2030399" y="4298048"/>
                  </a:lnTo>
                  <a:lnTo>
                    <a:pt x="2076119" y="4285805"/>
                  </a:lnTo>
                  <a:lnTo>
                    <a:pt x="2109609" y="4252328"/>
                  </a:lnTo>
                  <a:lnTo>
                    <a:pt x="2121839" y="4206608"/>
                  </a:lnTo>
                  <a:lnTo>
                    <a:pt x="2121815" y="91439"/>
                  </a:lnTo>
                  <a:lnTo>
                    <a:pt x="2109609" y="46088"/>
                  </a:lnTo>
                  <a:lnTo>
                    <a:pt x="2076119" y="12598"/>
                  </a:lnTo>
                  <a:lnTo>
                    <a:pt x="203039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9543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030399" y="368"/>
                  </a:lnTo>
                  <a:lnTo>
                    <a:pt x="2076119" y="12598"/>
                  </a:lnTo>
                  <a:lnTo>
                    <a:pt x="2109609" y="46088"/>
                  </a:lnTo>
                  <a:lnTo>
                    <a:pt x="2121839" y="91808"/>
                  </a:lnTo>
                  <a:lnTo>
                    <a:pt x="2121839" y="4206608"/>
                  </a:lnTo>
                  <a:lnTo>
                    <a:pt x="2121041" y="4218608"/>
                  </a:lnTo>
                  <a:lnTo>
                    <a:pt x="2118691" y="4230273"/>
                  </a:lnTo>
                  <a:lnTo>
                    <a:pt x="2095160" y="4271357"/>
                  </a:lnTo>
                  <a:lnTo>
                    <a:pt x="2054074" y="4294893"/>
                  </a:lnTo>
                  <a:lnTo>
                    <a:pt x="2030399" y="4298048"/>
                  </a:lnTo>
                  <a:lnTo>
                    <a:pt x="91440" y="4298048"/>
                  </a:lnTo>
                  <a:lnTo>
                    <a:pt x="45720" y="4285805"/>
                  </a:lnTo>
                  <a:lnTo>
                    <a:pt x="12242" y="4252328"/>
                  </a:lnTo>
                  <a:lnTo>
                    <a:pt x="0" y="42066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923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9580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5" h="439419">
                  <a:moveTo>
                    <a:pt x="20480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5464" y="393656"/>
                  </a:lnTo>
                  <a:lnTo>
                    <a:pt x="9715" y="402120"/>
                  </a:lnTo>
                  <a:lnTo>
                    <a:pt x="44979" y="433370"/>
                  </a:lnTo>
                  <a:lnTo>
                    <a:pt x="73075" y="438835"/>
                  </a:lnTo>
                  <a:lnTo>
                    <a:pt x="2048395" y="438480"/>
                  </a:lnTo>
                  <a:lnTo>
                    <a:pt x="2092773" y="423381"/>
                  </a:lnTo>
                  <a:lnTo>
                    <a:pt x="2118981" y="384616"/>
                  </a:lnTo>
                  <a:lnTo>
                    <a:pt x="2119042" y="384433"/>
                  </a:lnTo>
                  <a:lnTo>
                    <a:pt x="2120825" y="375238"/>
                  </a:lnTo>
                  <a:lnTo>
                    <a:pt x="2120864" y="375036"/>
                  </a:lnTo>
                  <a:lnTo>
                    <a:pt x="2121449" y="365760"/>
                  </a:lnTo>
                  <a:lnTo>
                    <a:pt x="2121115" y="73075"/>
                  </a:lnTo>
                  <a:lnTo>
                    <a:pt x="2106017" y="28705"/>
                  </a:lnTo>
                  <a:lnTo>
                    <a:pt x="2067069" y="2428"/>
                  </a:lnTo>
                  <a:lnTo>
                    <a:pt x="2057672" y="607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923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9580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5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48040" y="0"/>
                  </a:lnTo>
                  <a:lnTo>
                    <a:pt x="2092560" y="15104"/>
                  </a:lnTo>
                  <a:lnTo>
                    <a:pt x="2118687" y="54224"/>
                  </a:lnTo>
                  <a:lnTo>
                    <a:pt x="2121115" y="73075"/>
                  </a:lnTo>
                  <a:lnTo>
                    <a:pt x="2121471" y="365404"/>
                  </a:lnTo>
                  <a:lnTo>
                    <a:pt x="2120864" y="375036"/>
                  </a:lnTo>
                  <a:lnTo>
                    <a:pt x="2119042" y="384433"/>
                  </a:lnTo>
                  <a:lnTo>
                    <a:pt x="2092773" y="423381"/>
                  </a:lnTo>
                  <a:lnTo>
                    <a:pt x="2048395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923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9580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5" h="210184">
                  <a:moveTo>
                    <a:pt x="21211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1060551" y="209880"/>
                  </a:lnTo>
                  <a:lnTo>
                    <a:pt x="2121115" y="209880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923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9580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5" h="210184">
                  <a:moveTo>
                    <a:pt x="1060551" y="209880"/>
                  </a:moveTo>
                  <a:lnTo>
                    <a:pt x="0" y="209880"/>
                  </a:lnTo>
                  <a:lnTo>
                    <a:pt x="0" y="0"/>
                  </a:lnTo>
                  <a:lnTo>
                    <a:pt x="2121115" y="0"/>
                  </a:lnTo>
                  <a:lnTo>
                    <a:pt x="2121115" y="209880"/>
                  </a:lnTo>
                  <a:lnTo>
                    <a:pt x="1060551" y="209880"/>
                  </a:lnTo>
                  <a:close/>
                </a:path>
              </a:pathLst>
            </a:custGeom>
            <a:ln w="12599">
              <a:solidFill>
                <a:srgbClr val="923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928505" y="915024"/>
            <a:ext cx="105537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cajero-terminal</a:t>
            </a:r>
            <a:r>
              <a:rPr sz="9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(.187)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45816" y="1312458"/>
            <a:ext cx="1464945" cy="37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  <a:hlinkClick r:id="rId3"/>
              </a:rPr>
              <a:t>http://app-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  <a:hlinkClick r:id="rId3"/>
              </a:rPr>
              <a:t>server</a:t>
            </a:r>
            <a:endParaRPr sz="750">
              <a:latin typeface="Courier New"/>
              <a:cs typeface="Courier New"/>
            </a:endParaRPr>
          </a:p>
          <a:p>
            <a:pPr marL="12700" marR="5080" indent="114300">
              <a:lnSpc>
                <a:spcPts val="900"/>
              </a:lnSpc>
              <a:spcBef>
                <a:spcPts val="30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.bancoseguro.local:3000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850" spc="175" dirty="0">
                <a:solidFill>
                  <a:srgbClr val="00C1A7"/>
                </a:solidFill>
                <a:latin typeface="MingLiU_HKSCS-ExtB"/>
                <a:cs typeface="MingLiU_HKSCS-ExtB"/>
              </a:rPr>
              <a:t>✅</a:t>
            </a:r>
            <a:r>
              <a:rPr sz="850" spc="-65" dirty="0">
                <a:solidFill>
                  <a:srgbClr val="00C1A7"/>
                </a:solidFill>
                <a:latin typeface="MingLiU_HKSCS-ExtB"/>
                <a:cs typeface="MingLiU_HKSCS-ExtB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debe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funcionar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5816" y="1770382"/>
            <a:ext cx="1466215" cy="25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85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ping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3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192.168.100.186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ts val="969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850" spc="175" dirty="0">
                <a:solidFill>
                  <a:srgbClr val="00C1A7"/>
                </a:solidFill>
                <a:latin typeface="MingLiU_HKSCS-ExtB"/>
                <a:cs typeface="MingLiU_HKSCS-ExtB"/>
              </a:rPr>
              <a:t>❌</a:t>
            </a:r>
            <a:r>
              <a:rPr sz="850" spc="-65" dirty="0">
                <a:solidFill>
                  <a:srgbClr val="00C1A7"/>
                </a:solidFill>
                <a:latin typeface="MingLiU_HKSCS-ExtB"/>
                <a:cs typeface="MingLiU_HKSCS-ExtB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debe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fallar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45816" y="2113815"/>
            <a:ext cx="1292860" cy="487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mysql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-h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db-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core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.bancoseguro.local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" marR="293370" indent="114300">
              <a:lnSpc>
                <a:spcPts val="900"/>
              </a:lnSpc>
              <a:spcBef>
                <a:spcPts val="3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u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banco2026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p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850" spc="175" dirty="0">
                <a:solidFill>
                  <a:srgbClr val="00C1A7"/>
                </a:solidFill>
                <a:latin typeface="MingLiU_HKSCS-ExtB"/>
                <a:cs typeface="MingLiU_HKSCS-ExtB"/>
              </a:rPr>
              <a:t>❌</a:t>
            </a:r>
            <a:r>
              <a:rPr sz="850" spc="-65" dirty="0">
                <a:solidFill>
                  <a:srgbClr val="00C1A7"/>
                </a:solidFill>
                <a:latin typeface="MingLiU_HKSCS-ExtB"/>
                <a:cs typeface="MingLiU_HKSCS-ExtB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debe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fallar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08995" y="695517"/>
            <a:ext cx="2338070" cy="4448175"/>
            <a:chOff x="4508995" y="695517"/>
            <a:chExt cx="2338070" cy="444817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8995" y="695517"/>
              <a:ext cx="2337485" cy="444780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58999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206608"/>
                  </a:lnTo>
                  <a:lnTo>
                    <a:pt x="798" y="4218608"/>
                  </a:lnTo>
                  <a:lnTo>
                    <a:pt x="18843" y="4262365"/>
                  </a:lnTo>
                  <a:lnTo>
                    <a:pt x="56512" y="4291056"/>
                  </a:lnTo>
                  <a:lnTo>
                    <a:pt x="91440" y="4298048"/>
                  </a:lnTo>
                  <a:lnTo>
                    <a:pt x="2030399" y="4298048"/>
                  </a:lnTo>
                  <a:lnTo>
                    <a:pt x="2076119" y="4285805"/>
                  </a:lnTo>
                  <a:lnTo>
                    <a:pt x="2109609" y="4252328"/>
                  </a:lnTo>
                  <a:lnTo>
                    <a:pt x="2121839" y="4206608"/>
                  </a:lnTo>
                  <a:lnTo>
                    <a:pt x="2121815" y="91439"/>
                  </a:lnTo>
                  <a:lnTo>
                    <a:pt x="2109609" y="46088"/>
                  </a:lnTo>
                  <a:lnTo>
                    <a:pt x="2076119" y="12598"/>
                  </a:lnTo>
                  <a:lnTo>
                    <a:pt x="203039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8999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030399" y="368"/>
                  </a:lnTo>
                  <a:lnTo>
                    <a:pt x="2076119" y="12598"/>
                  </a:lnTo>
                  <a:lnTo>
                    <a:pt x="2109609" y="46088"/>
                  </a:lnTo>
                  <a:lnTo>
                    <a:pt x="2121839" y="91808"/>
                  </a:lnTo>
                  <a:lnTo>
                    <a:pt x="2121839" y="4206608"/>
                  </a:lnTo>
                  <a:lnTo>
                    <a:pt x="2121041" y="4218608"/>
                  </a:lnTo>
                  <a:lnTo>
                    <a:pt x="2118691" y="4230273"/>
                  </a:lnTo>
                  <a:lnTo>
                    <a:pt x="2095160" y="4271357"/>
                  </a:lnTo>
                  <a:lnTo>
                    <a:pt x="2054074" y="4294893"/>
                  </a:lnTo>
                  <a:lnTo>
                    <a:pt x="2030399" y="4298048"/>
                  </a:lnTo>
                  <a:lnTo>
                    <a:pt x="91440" y="4298048"/>
                  </a:lnTo>
                  <a:lnTo>
                    <a:pt x="45720" y="4285805"/>
                  </a:lnTo>
                  <a:lnTo>
                    <a:pt x="12242" y="4252328"/>
                  </a:lnTo>
                  <a:lnTo>
                    <a:pt x="0" y="42066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9036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4" h="439419">
                  <a:moveTo>
                    <a:pt x="20480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2048395" y="438480"/>
                  </a:lnTo>
                  <a:lnTo>
                    <a:pt x="2092773" y="423381"/>
                  </a:lnTo>
                  <a:lnTo>
                    <a:pt x="2118981" y="384616"/>
                  </a:lnTo>
                  <a:lnTo>
                    <a:pt x="2119042" y="384433"/>
                  </a:lnTo>
                  <a:lnTo>
                    <a:pt x="2120825" y="375238"/>
                  </a:lnTo>
                  <a:lnTo>
                    <a:pt x="2120864" y="375036"/>
                  </a:lnTo>
                  <a:lnTo>
                    <a:pt x="2121449" y="365760"/>
                  </a:lnTo>
                  <a:lnTo>
                    <a:pt x="2121471" y="365404"/>
                  </a:lnTo>
                  <a:lnTo>
                    <a:pt x="2121115" y="73075"/>
                  </a:lnTo>
                  <a:lnTo>
                    <a:pt x="2106017" y="28705"/>
                  </a:lnTo>
                  <a:lnTo>
                    <a:pt x="2067069" y="2428"/>
                  </a:lnTo>
                  <a:lnTo>
                    <a:pt x="2057672" y="607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9036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4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48040" y="0"/>
                  </a:lnTo>
                  <a:lnTo>
                    <a:pt x="2092560" y="15104"/>
                  </a:lnTo>
                  <a:lnTo>
                    <a:pt x="2118687" y="54224"/>
                  </a:lnTo>
                  <a:lnTo>
                    <a:pt x="2121115" y="73075"/>
                  </a:lnTo>
                  <a:lnTo>
                    <a:pt x="2121471" y="365404"/>
                  </a:lnTo>
                  <a:lnTo>
                    <a:pt x="2120864" y="375036"/>
                  </a:lnTo>
                  <a:lnTo>
                    <a:pt x="2119042" y="384433"/>
                  </a:lnTo>
                  <a:lnTo>
                    <a:pt x="2092773" y="423381"/>
                  </a:lnTo>
                  <a:lnTo>
                    <a:pt x="2048395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9036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4" h="210184">
                  <a:moveTo>
                    <a:pt x="21211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1060551" y="209880"/>
                  </a:lnTo>
                  <a:lnTo>
                    <a:pt x="2121115" y="209880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9036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4" h="210184">
                  <a:moveTo>
                    <a:pt x="1060551" y="209880"/>
                  </a:moveTo>
                  <a:lnTo>
                    <a:pt x="0" y="209880"/>
                  </a:lnTo>
                  <a:lnTo>
                    <a:pt x="0" y="0"/>
                  </a:lnTo>
                  <a:lnTo>
                    <a:pt x="2121115" y="0"/>
                  </a:lnTo>
                  <a:lnTo>
                    <a:pt x="2121115" y="209880"/>
                  </a:lnTo>
                  <a:lnTo>
                    <a:pt x="1060551" y="209880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235016" y="915024"/>
            <a:ext cx="83248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siem-audit</a:t>
            </a:r>
            <a:r>
              <a:rPr sz="9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(.188)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40376" y="1312458"/>
            <a:ext cx="1638935" cy="139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ls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-lh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/var/log/banco/</a:t>
            </a:r>
            <a:endParaRPr sz="750">
              <a:latin typeface="Courier New"/>
              <a:cs typeface="Courier New"/>
            </a:endParaRPr>
          </a:p>
          <a:p>
            <a:pPr marL="12700" marR="62865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fail2ban-client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status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sshd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bash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" marR="62865" indent="1143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/usr/local/bin/auditoria-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banco.sh</a:t>
            </a:r>
            <a:endParaRPr sz="750">
              <a:latin typeface="Courier New"/>
              <a:cs typeface="Courier New"/>
            </a:endParaRPr>
          </a:p>
          <a:p>
            <a:pPr marL="127000" marR="178435" indent="-114935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cat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/var/log/banco/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auditoria-$(date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'+%Y%m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%d').txt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ls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/var/log/banco/incidente-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*.txt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crontab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l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03555" y="695517"/>
            <a:ext cx="2338070" cy="4448175"/>
            <a:chOff x="6703555" y="695517"/>
            <a:chExt cx="2338070" cy="4448175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3555" y="695517"/>
              <a:ext cx="2337485" cy="444780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78455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4206608"/>
                  </a:lnTo>
                  <a:lnTo>
                    <a:pt x="798" y="4218608"/>
                  </a:lnTo>
                  <a:lnTo>
                    <a:pt x="18843" y="4262365"/>
                  </a:lnTo>
                  <a:lnTo>
                    <a:pt x="56512" y="4291056"/>
                  </a:lnTo>
                  <a:lnTo>
                    <a:pt x="91440" y="4298048"/>
                  </a:lnTo>
                  <a:lnTo>
                    <a:pt x="2030399" y="4298048"/>
                  </a:lnTo>
                  <a:lnTo>
                    <a:pt x="2076119" y="4285805"/>
                  </a:lnTo>
                  <a:lnTo>
                    <a:pt x="2109609" y="4252328"/>
                  </a:lnTo>
                  <a:lnTo>
                    <a:pt x="2121839" y="4206608"/>
                  </a:lnTo>
                  <a:lnTo>
                    <a:pt x="2121815" y="91439"/>
                  </a:lnTo>
                  <a:lnTo>
                    <a:pt x="2109609" y="46088"/>
                  </a:lnTo>
                  <a:lnTo>
                    <a:pt x="2076119" y="12598"/>
                  </a:lnTo>
                  <a:lnTo>
                    <a:pt x="203039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84555" y="776518"/>
              <a:ext cx="2122170" cy="4298315"/>
            </a:xfrm>
            <a:custGeom>
              <a:avLst/>
              <a:gdLst/>
              <a:ahLst/>
              <a:cxnLst/>
              <a:rect l="l" t="t" r="r" b="b"/>
              <a:pathLst>
                <a:path w="2122170" h="4298315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2030399" y="368"/>
                  </a:lnTo>
                  <a:lnTo>
                    <a:pt x="2076119" y="12598"/>
                  </a:lnTo>
                  <a:lnTo>
                    <a:pt x="2109609" y="46088"/>
                  </a:lnTo>
                  <a:lnTo>
                    <a:pt x="2121839" y="91808"/>
                  </a:lnTo>
                  <a:lnTo>
                    <a:pt x="2121839" y="4206608"/>
                  </a:lnTo>
                  <a:lnTo>
                    <a:pt x="2121041" y="4218608"/>
                  </a:lnTo>
                  <a:lnTo>
                    <a:pt x="2118691" y="4230273"/>
                  </a:lnTo>
                  <a:lnTo>
                    <a:pt x="2095160" y="4271357"/>
                  </a:lnTo>
                  <a:lnTo>
                    <a:pt x="2054074" y="4294893"/>
                  </a:lnTo>
                  <a:lnTo>
                    <a:pt x="2030399" y="4298048"/>
                  </a:lnTo>
                  <a:lnTo>
                    <a:pt x="91440" y="4298048"/>
                  </a:lnTo>
                  <a:lnTo>
                    <a:pt x="45720" y="4285805"/>
                  </a:lnTo>
                  <a:lnTo>
                    <a:pt x="12242" y="4252328"/>
                  </a:lnTo>
                  <a:lnTo>
                    <a:pt x="0" y="4206608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8492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4" h="439419">
                  <a:moveTo>
                    <a:pt x="2048040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67"/>
                  </a:lnTo>
                  <a:lnTo>
                    <a:pt x="607" y="63443"/>
                  </a:lnTo>
                  <a:lnTo>
                    <a:pt x="0" y="73075"/>
                  </a:lnTo>
                  <a:lnTo>
                    <a:pt x="0" y="365760"/>
                  </a:lnTo>
                  <a:lnTo>
                    <a:pt x="594" y="375036"/>
                  </a:lnTo>
                  <a:lnTo>
                    <a:pt x="607" y="375238"/>
                  </a:lnTo>
                  <a:lnTo>
                    <a:pt x="2393" y="384433"/>
                  </a:lnTo>
                  <a:lnTo>
                    <a:pt x="2428" y="384616"/>
                  </a:lnTo>
                  <a:lnTo>
                    <a:pt x="5410" y="393495"/>
                  </a:lnTo>
                  <a:lnTo>
                    <a:pt x="36360" y="429120"/>
                  </a:lnTo>
                  <a:lnTo>
                    <a:pt x="73075" y="438835"/>
                  </a:lnTo>
                  <a:lnTo>
                    <a:pt x="2048395" y="438480"/>
                  </a:lnTo>
                  <a:lnTo>
                    <a:pt x="2092773" y="423381"/>
                  </a:lnTo>
                  <a:lnTo>
                    <a:pt x="2118981" y="384616"/>
                  </a:lnTo>
                  <a:lnTo>
                    <a:pt x="2119042" y="384433"/>
                  </a:lnTo>
                  <a:lnTo>
                    <a:pt x="2120825" y="375238"/>
                  </a:lnTo>
                  <a:lnTo>
                    <a:pt x="2120864" y="375036"/>
                  </a:lnTo>
                  <a:lnTo>
                    <a:pt x="2121449" y="365760"/>
                  </a:lnTo>
                  <a:lnTo>
                    <a:pt x="2121471" y="365404"/>
                  </a:lnTo>
                  <a:lnTo>
                    <a:pt x="2121115" y="73075"/>
                  </a:lnTo>
                  <a:lnTo>
                    <a:pt x="2106017" y="28705"/>
                  </a:lnTo>
                  <a:lnTo>
                    <a:pt x="2067069" y="2428"/>
                  </a:lnTo>
                  <a:lnTo>
                    <a:pt x="2057672" y="607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84924" y="777242"/>
              <a:ext cx="2121535" cy="439420"/>
            </a:xfrm>
            <a:custGeom>
              <a:avLst/>
              <a:gdLst/>
              <a:ahLst/>
              <a:cxnLst/>
              <a:rect l="l" t="t" r="r" b="b"/>
              <a:pathLst>
                <a:path w="2121534" h="439419">
                  <a:moveTo>
                    <a:pt x="0" y="73075"/>
                  </a:moveTo>
                  <a:lnTo>
                    <a:pt x="607" y="63443"/>
                  </a:lnTo>
                  <a:lnTo>
                    <a:pt x="2428" y="54046"/>
                  </a:lnTo>
                  <a:lnTo>
                    <a:pt x="28698" y="15098"/>
                  </a:lnTo>
                  <a:lnTo>
                    <a:pt x="73075" y="0"/>
                  </a:lnTo>
                  <a:lnTo>
                    <a:pt x="2048040" y="0"/>
                  </a:lnTo>
                  <a:lnTo>
                    <a:pt x="2092560" y="15104"/>
                  </a:lnTo>
                  <a:lnTo>
                    <a:pt x="2118687" y="54224"/>
                  </a:lnTo>
                  <a:lnTo>
                    <a:pt x="2121115" y="73075"/>
                  </a:lnTo>
                  <a:lnTo>
                    <a:pt x="2121471" y="365404"/>
                  </a:lnTo>
                  <a:lnTo>
                    <a:pt x="2120864" y="375036"/>
                  </a:lnTo>
                  <a:lnTo>
                    <a:pt x="2119042" y="384433"/>
                  </a:lnTo>
                  <a:lnTo>
                    <a:pt x="2092773" y="423381"/>
                  </a:lnTo>
                  <a:lnTo>
                    <a:pt x="2048395" y="438480"/>
                  </a:lnTo>
                  <a:lnTo>
                    <a:pt x="73075" y="438835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75"/>
                  </a:lnTo>
                  <a:close/>
                </a:path>
              </a:pathLst>
            </a:custGeom>
            <a:ln w="1259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78492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4" h="210184">
                  <a:moveTo>
                    <a:pt x="2121115" y="0"/>
                  </a:moveTo>
                  <a:lnTo>
                    <a:pt x="0" y="0"/>
                  </a:lnTo>
                  <a:lnTo>
                    <a:pt x="0" y="209880"/>
                  </a:lnTo>
                  <a:lnTo>
                    <a:pt x="1060551" y="209880"/>
                  </a:lnTo>
                  <a:lnTo>
                    <a:pt x="2121115" y="209880"/>
                  </a:lnTo>
                  <a:lnTo>
                    <a:pt x="2121115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784924" y="1005486"/>
              <a:ext cx="2121535" cy="210185"/>
            </a:xfrm>
            <a:custGeom>
              <a:avLst/>
              <a:gdLst/>
              <a:ahLst/>
              <a:cxnLst/>
              <a:rect l="l" t="t" r="r" b="b"/>
              <a:pathLst>
                <a:path w="2121534" h="210184">
                  <a:moveTo>
                    <a:pt x="1060551" y="209880"/>
                  </a:moveTo>
                  <a:lnTo>
                    <a:pt x="0" y="209880"/>
                  </a:lnTo>
                  <a:lnTo>
                    <a:pt x="0" y="0"/>
                  </a:lnTo>
                  <a:lnTo>
                    <a:pt x="2121115" y="0"/>
                  </a:lnTo>
                  <a:lnTo>
                    <a:pt x="2121115" y="209880"/>
                  </a:lnTo>
                  <a:lnTo>
                    <a:pt x="1060551" y="209880"/>
                  </a:lnTo>
                  <a:close/>
                </a:path>
              </a:pathLst>
            </a:custGeom>
            <a:ln w="1259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490421" y="915024"/>
            <a:ext cx="7092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20" dirty="0">
                <a:solidFill>
                  <a:srgbClr val="FFFFFF"/>
                </a:solidFill>
                <a:latin typeface="Calibri"/>
                <a:cs typeface="Calibri"/>
              </a:rPr>
              <a:t>attacker</a:t>
            </a:r>
            <a:r>
              <a:rPr sz="9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FFFFFF"/>
                </a:solidFill>
                <a:latin typeface="Calibri"/>
                <a:cs typeface="Calibri"/>
              </a:rPr>
              <a:t>(.189)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34936" y="1312458"/>
            <a:ext cx="16389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marR="5080" indent="-11493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nmap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sV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22,2222,80,443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192.168.100.184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34936" y="1655904"/>
            <a:ext cx="146494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hydra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adming11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 marR="508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~/passwords.txt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ssh://192.168.100.182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4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V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934936" y="2228306"/>
            <a:ext cx="1524635" cy="37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mysql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-h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192.168.100.186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" marR="525145" indent="114300">
              <a:lnSpc>
                <a:spcPts val="900"/>
              </a:lnSpc>
              <a:spcBef>
                <a:spcPts val="30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u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banco2026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p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ERROR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2002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850" spc="125" dirty="0">
                <a:solidFill>
                  <a:srgbClr val="00C1A7"/>
                </a:solidFill>
                <a:latin typeface="MingLiU_HKSCS-ExtB"/>
                <a:cs typeface="MingLiU_HKSCS-ExtB"/>
              </a:rPr>
              <a:t>✅</a:t>
            </a:r>
            <a:endParaRPr sz="850">
              <a:latin typeface="MingLiU_HKSCS-ExtB"/>
              <a:cs typeface="MingLiU_HKSCS-Ext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-1180" dirty="0">
                <a:solidFill>
                  <a:srgbClr val="000000"/>
                </a:solidFill>
                <a:latin typeface="MingLiU_HKSCS-ExtB"/>
                <a:cs typeface="MingLiU_HKSCS-ExtB"/>
              </a:rPr>
              <a:t>⚔️</a:t>
            </a:r>
            <a:r>
              <a:rPr sz="2800" b="0" spc="240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104" baseline="1322" dirty="0"/>
              <a:t>SECUENCIA</a:t>
            </a:r>
            <a:r>
              <a:rPr sz="3150" spc="300" baseline="1322" dirty="0"/>
              <a:t> </a:t>
            </a:r>
            <a:r>
              <a:rPr sz="3150" spc="82" baseline="1322" dirty="0"/>
              <a:t>DEL</a:t>
            </a:r>
            <a:r>
              <a:rPr sz="3150" spc="315" baseline="1322" dirty="0"/>
              <a:t> </a:t>
            </a:r>
            <a:r>
              <a:rPr sz="3150" baseline="1322" dirty="0"/>
              <a:t>ATAQUE</a:t>
            </a:r>
            <a:r>
              <a:rPr sz="3150" spc="307" baseline="1322" dirty="0"/>
              <a:t> </a:t>
            </a:r>
            <a:r>
              <a:rPr sz="3150" spc="89" baseline="1322" dirty="0"/>
              <a:t>SIMULADO</a:t>
            </a:r>
            <a:endParaRPr sz="3150" baseline="1322">
              <a:latin typeface="MingLiU_HKSCS-ExtB"/>
              <a:cs typeface="MingLiU_HKSCS-ExtB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9875" y="723228"/>
            <a:ext cx="4532630" cy="1203325"/>
            <a:chOff x="119875" y="723228"/>
            <a:chExt cx="4532630" cy="12033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723228"/>
              <a:ext cx="4532045" cy="12031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0875" y="804242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896404"/>
                  </a:lnTo>
                  <a:lnTo>
                    <a:pt x="798" y="908403"/>
                  </a:lnTo>
                  <a:lnTo>
                    <a:pt x="18843" y="952160"/>
                  </a:lnTo>
                  <a:lnTo>
                    <a:pt x="56512" y="980857"/>
                  </a:lnTo>
                  <a:lnTo>
                    <a:pt x="91439" y="987844"/>
                  </a:lnTo>
                  <a:lnTo>
                    <a:pt x="4224959" y="987844"/>
                  </a:lnTo>
                  <a:lnTo>
                    <a:pt x="4270679" y="975601"/>
                  </a:lnTo>
                  <a:lnTo>
                    <a:pt x="4304169" y="942124"/>
                  </a:lnTo>
                  <a:lnTo>
                    <a:pt x="4316399" y="896404"/>
                  </a:lnTo>
                  <a:lnTo>
                    <a:pt x="4316376" y="91439"/>
                  </a:lnTo>
                  <a:lnTo>
                    <a:pt x="4304169" y="46075"/>
                  </a:lnTo>
                  <a:lnTo>
                    <a:pt x="4270679" y="12598"/>
                  </a:lnTo>
                  <a:lnTo>
                    <a:pt x="4224959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875" y="804242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224959" y="355"/>
                  </a:lnTo>
                  <a:lnTo>
                    <a:pt x="4270679" y="12598"/>
                  </a:lnTo>
                  <a:lnTo>
                    <a:pt x="4304169" y="46075"/>
                  </a:lnTo>
                  <a:lnTo>
                    <a:pt x="4316399" y="91795"/>
                  </a:lnTo>
                  <a:lnTo>
                    <a:pt x="4316399" y="896404"/>
                  </a:lnTo>
                  <a:lnTo>
                    <a:pt x="4315601" y="908403"/>
                  </a:lnTo>
                  <a:lnTo>
                    <a:pt x="4313251" y="920068"/>
                  </a:lnTo>
                  <a:lnTo>
                    <a:pt x="4289720" y="961153"/>
                  </a:lnTo>
                  <a:lnTo>
                    <a:pt x="4248634" y="984694"/>
                  </a:lnTo>
                  <a:lnTo>
                    <a:pt x="4224959" y="987844"/>
                  </a:lnTo>
                  <a:lnTo>
                    <a:pt x="91439" y="987844"/>
                  </a:lnTo>
                  <a:lnTo>
                    <a:pt x="45720" y="975601"/>
                  </a:lnTo>
                  <a:lnTo>
                    <a:pt x="12242" y="942124"/>
                  </a:lnTo>
                  <a:lnTo>
                    <a:pt x="0" y="89640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2684" y="106056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219595" y="0"/>
                  </a:moveTo>
                  <a:lnTo>
                    <a:pt x="162669" y="7421"/>
                  </a:lnTo>
                  <a:lnTo>
                    <a:pt x="109791" y="29159"/>
                  </a:lnTo>
                  <a:lnTo>
                    <a:pt x="64252" y="64163"/>
                  </a:lnTo>
                  <a:lnTo>
                    <a:pt x="29514" y="109435"/>
                  </a:lnTo>
                  <a:lnTo>
                    <a:pt x="7466" y="162447"/>
                  </a:lnTo>
                  <a:lnTo>
                    <a:pt x="0" y="219240"/>
                  </a:lnTo>
                  <a:lnTo>
                    <a:pt x="1877" y="247937"/>
                  </a:lnTo>
                  <a:lnTo>
                    <a:pt x="16700" y="303170"/>
                  </a:lnTo>
                  <a:lnTo>
                    <a:pt x="45397" y="352815"/>
                  </a:lnTo>
                  <a:lnTo>
                    <a:pt x="85807" y="393230"/>
                  </a:lnTo>
                  <a:lnTo>
                    <a:pt x="135504" y="421980"/>
                  </a:lnTo>
                  <a:lnTo>
                    <a:pt x="190846" y="436906"/>
                  </a:lnTo>
                  <a:lnTo>
                    <a:pt x="219595" y="438835"/>
                  </a:lnTo>
                  <a:lnTo>
                    <a:pt x="248137" y="436906"/>
                  </a:lnTo>
                  <a:lnTo>
                    <a:pt x="303325" y="421980"/>
                  </a:lnTo>
                  <a:lnTo>
                    <a:pt x="353021" y="393230"/>
                  </a:lnTo>
                  <a:lnTo>
                    <a:pt x="393432" y="352815"/>
                  </a:lnTo>
                  <a:lnTo>
                    <a:pt x="422130" y="303170"/>
                  </a:lnTo>
                  <a:lnTo>
                    <a:pt x="436956" y="247937"/>
                  </a:lnTo>
                  <a:lnTo>
                    <a:pt x="438835" y="219240"/>
                  </a:lnTo>
                  <a:lnTo>
                    <a:pt x="436956" y="190540"/>
                  </a:lnTo>
                  <a:lnTo>
                    <a:pt x="422130" y="135299"/>
                  </a:lnTo>
                  <a:lnTo>
                    <a:pt x="393432" y="85651"/>
                  </a:lnTo>
                  <a:lnTo>
                    <a:pt x="353021" y="45242"/>
                  </a:lnTo>
                  <a:lnTo>
                    <a:pt x="303325" y="16550"/>
                  </a:lnTo>
                  <a:lnTo>
                    <a:pt x="248137" y="187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2684" y="106056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0" y="219240"/>
                  </a:moveTo>
                  <a:lnTo>
                    <a:pt x="1877" y="190540"/>
                  </a:lnTo>
                  <a:lnTo>
                    <a:pt x="7466" y="162447"/>
                  </a:lnTo>
                  <a:lnTo>
                    <a:pt x="29514" y="109435"/>
                  </a:lnTo>
                  <a:lnTo>
                    <a:pt x="64252" y="64163"/>
                  </a:lnTo>
                  <a:lnTo>
                    <a:pt x="109791" y="29159"/>
                  </a:lnTo>
                  <a:lnTo>
                    <a:pt x="162669" y="7421"/>
                  </a:lnTo>
                  <a:lnTo>
                    <a:pt x="219595" y="0"/>
                  </a:lnTo>
                  <a:lnTo>
                    <a:pt x="276204" y="7421"/>
                  </a:lnTo>
                  <a:lnTo>
                    <a:pt x="329031" y="29159"/>
                  </a:lnTo>
                  <a:lnTo>
                    <a:pt x="374576" y="64163"/>
                  </a:lnTo>
                  <a:lnTo>
                    <a:pt x="409321" y="109435"/>
                  </a:lnTo>
                  <a:lnTo>
                    <a:pt x="431365" y="162447"/>
                  </a:lnTo>
                  <a:lnTo>
                    <a:pt x="438835" y="219240"/>
                  </a:lnTo>
                  <a:lnTo>
                    <a:pt x="436956" y="247937"/>
                  </a:lnTo>
                  <a:lnTo>
                    <a:pt x="431365" y="276026"/>
                  </a:lnTo>
                  <a:lnTo>
                    <a:pt x="409321" y="329031"/>
                  </a:lnTo>
                  <a:lnTo>
                    <a:pt x="374576" y="374305"/>
                  </a:lnTo>
                  <a:lnTo>
                    <a:pt x="329031" y="409321"/>
                  </a:lnTo>
                  <a:lnTo>
                    <a:pt x="276204" y="431231"/>
                  </a:lnTo>
                  <a:lnTo>
                    <a:pt x="219595" y="438835"/>
                  </a:lnTo>
                  <a:lnTo>
                    <a:pt x="162669" y="431231"/>
                  </a:lnTo>
                  <a:lnTo>
                    <a:pt x="109791" y="409321"/>
                  </a:lnTo>
                  <a:lnTo>
                    <a:pt x="64252" y="374305"/>
                  </a:lnTo>
                  <a:lnTo>
                    <a:pt x="29514" y="329031"/>
                  </a:lnTo>
                  <a:lnTo>
                    <a:pt x="7466" y="276026"/>
                  </a:lnTo>
                  <a:lnTo>
                    <a:pt x="1877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61060" y="117565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9896" y="929426"/>
            <a:ext cx="6832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Desbanear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IP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9896" y="1374383"/>
            <a:ext cx="30803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fail2ban-client set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sshd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unbanip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192.168.100.189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00435" y="723228"/>
            <a:ext cx="4532630" cy="1203325"/>
            <a:chOff x="4600435" y="723228"/>
            <a:chExt cx="4532630" cy="12033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0435" y="723228"/>
              <a:ext cx="4532045" cy="120313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81436" y="804242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896404"/>
                  </a:lnTo>
                  <a:lnTo>
                    <a:pt x="798" y="908403"/>
                  </a:lnTo>
                  <a:lnTo>
                    <a:pt x="18843" y="952160"/>
                  </a:lnTo>
                  <a:lnTo>
                    <a:pt x="56512" y="980857"/>
                  </a:lnTo>
                  <a:lnTo>
                    <a:pt x="91439" y="987844"/>
                  </a:lnTo>
                  <a:lnTo>
                    <a:pt x="4224959" y="987844"/>
                  </a:lnTo>
                  <a:lnTo>
                    <a:pt x="4270679" y="975601"/>
                  </a:lnTo>
                  <a:lnTo>
                    <a:pt x="4304169" y="942124"/>
                  </a:lnTo>
                  <a:lnTo>
                    <a:pt x="4316399" y="896404"/>
                  </a:lnTo>
                  <a:lnTo>
                    <a:pt x="4316376" y="91439"/>
                  </a:lnTo>
                  <a:lnTo>
                    <a:pt x="4304169" y="46075"/>
                  </a:lnTo>
                  <a:lnTo>
                    <a:pt x="4270679" y="12598"/>
                  </a:lnTo>
                  <a:lnTo>
                    <a:pt x="4224959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81436" y="804242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224959" y="355"/>
                  </a:lnTo>
                  <a:lnTo>
                    <a:pt x="4270679" y="12598"/>
                  </a:lnTo>
                  <a:lnTo>
                    <a:pt x="4304169" y="46075"/>
                  </a:lnTo>
                  <a:lnTo>
                    <a:pt x="4316399" y="91795"/>
                  </a:lnTo>
                  <a:lnTo>
                    <a:pt x="4316399" y="896404"/>
                  </a:lnTo>
                  <a:lnTo>
                    <a:pt x="4315601" y="908403"/>
                  </a:lnTo>
                  <a:lnTo>
                    <a:pt x="4313251" y="920068"/>
                  </a:lnTo>
                  <a:lnTo>
                    <a:pt x="4289720" y="961153"/>
                  </a:lnTo>
                  <a:lnTo>
                    <a:pt x="4248634" y="984694"/>
                  </a:lnTo>
                  <a:lnTo>
                    <a:pt x="4224959" y="987844"/>
                  </a:lnTo>
                  <a:lnTo>
                    <a:pt x="91439" y="987844"/>
                  </a:lnTo>
                  <a:lnTo>
                    <a:pt x="45719" y="975601"/>
                  </a:lnTo>
                  <a:lnTo>
                    <a:pt x="12242" y="942124"/>
                  </a:lnTo>
                  <a:lnTo>
                    <a:pt x="0" y="89640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73244" y="106056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219595" y="0"/>
                  </a:moveTo>
                  <a:lnTo>
                    <a:pt x="162669" y="7421"/>
                  </a:lnTo>
                  <a:lnTo>
                    <a:pt x="109791" y="29159"/>
                  </a:lnTo>
                  <a:lnTo>
                    <a:pt x="64252" y="64163"/>
                  </a:lnTo>
                  <a:lnTo>
                    <a:pt x="29514" y="109435"/>
                  </a:lnTo>
                  <a:lnTo>
                    <a:pt x="7466" y="162447"/>
                  </a:lnTo>
                  <a:lnTo>
                    <a:pt x="0" y="219240"/>
                  </a:lnTo>
                  <a:lnTo>
                    <a:pt x="1877" y="247937"/>
                  </a:lnTo>
                  <a:lnTo>
                    <a:pt x="16700" y="303170"/>
                  </a:lnTo>
                  <a:lnTo>
                    <a:pt x="45397" y="352815"/>
                  </a:lnTo>
                  <a:lnTo>
                    <a:pt x="85807" y="393230"/>
                  </a:lnTo>
                  <a:lnTo>
                    <a:pt x="135504" y="421980"/>
                  </a:lnTo>
                  <a:lnTo>
                    <a:pt x="190846" y="436906"/>
                  </a:lnTo>
                  <a:lnTo>
                    <a:pt x="219595" y="438835"/>
                  </a:lnTo>
                  <a:lnTo>
                    <a:pt x="248137" y="436906"/>
                  </a:lnTo>
                  <a:lnTo>
                    <a:pt x="303325" y="421980"/>
                  </a:lnTo>
                  <a:lnTo>
                    <a:pt x="353021" y="393230"/>
                  </a:lnTo>
                  <a:lnTo>
                    <a:pt x="393432" y="352815"/>
                  </a:lnTo>
                  <a:lnTo>
                    <a:pt x="422130" y="303170"/>
                  </a:lnTo>
                  <a:lnTo>
                    <a:pt x="436956" y="247937"/>
                  </a:lnTo>
                  <a:lnTo>
                    <a:pt x="438835" y="219240"/>
                  </a:lnTo>
                  <a:lnTo>
                    <a:pt x="436956" y="190540"/>
                  </a:lnTo>
                  <a:lnTo>
                    <a:pt x="422130" y="135299"/>
                  </a:lnTo>
                  <a:lnTo>
                    <a:pt x="393432" y="85651"/>
                  </a:lnTo>
                  <a:lnTo>
                    <a:pt x="353021" y="45242"/>
                  </a:lnTo>
                  <a:lnTo>
                    <a:pt x="303325" y="16550"/>
                  </a:lnTo>
                  <a:lnTo>
                    <a:pt x="248137" y="187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73244" y="106056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0" y="219240"/>
                  </a:moveTo>
                  <a:lnTo>
                    <a:pt x="1877" y="190540"/>
                  </a:lnTo>
                  <a:lnTo>
                    <a:pt x="7466" y="162447"/>
                  </a:lnTo>
                  <a:lnTo>
                    <a:pt x="29514" y="109435"/>
                  </a:lnTo>
                  <a:lnTo>
                    <a:pt x="64252" y="64163"/>
                  </a:lnTo>
                  <a:lnTo>
                    <a:pt x="109791" y="29159"/>
                  </a:lnTo>
                  <a:lnTo>
                    <a:pt x="162669" y="7421"/>
                  </a:lnTo>
                  <a:lnTo>
                    <a:pt x="219595" y="0"/>
                  </a:lnTo>
                  <a:lnTo>
                    <a:pt x="276204" y="7421"/>
                  </a:lnTo>
                  <a:lnTo>
                    <a:pt x="329031" y="29159"/>
                  </a:lnTo>
                  <a:lnTo>
                    <a:pt x="374576" y="64163"/>
                  </a:lnTo>
                  <a:lnTo>
                    <a:pt x="409321" y="109435"/>
                  </a:lnTo>
                  <a:lnTo>
                    <a:pt x="431365" y="162447"/>
                  </a:lnTo>
                  <a:lnTo>
                    <a:pt x="438835" y="219240"/>
                  </a:lnTo>
                  <a:lnTo>
                    <a:pt x="436956" y="247937"/>
                  </a:lnTo>
                  <a:lnTo>
                    <a:pt x="431365" y="276026"/>
                  </a:lnTo>
                  <a:lnTo>
                    <a:pt x="409321" y="329031"/>
                  </a:lnTo>
                  <a:lnTo>
                    <a:pt x="374576" y="374305"/>
                  </a:lnTo>
                  <a:lnTo>
                    <a:pt x="329031" y="409321"/>
                  </a:lnTo>
                  <a:lnTo>
                    <a:pt x="276204" y="431231"/>
                  </a:lnTo>
                  <a:lnTo>
                    <a:pt x="219595" y="438835"/>
                  </a:lnTo>
                  <a:lnTo>
                    <a:pt x="162669" y="431231"/>
                  </a:lnTo>
                  <a:lnTo>
                    <a:pt x="109791" y="409321"/>
                  </a:lnTo>
                  <a:lnTo>
                    <a:pt x="64252" y="374305"/>
                  </a:lnTo>
                  <a:lnTo>
                    <a:pt x="29514" y="329031"/>
                  </a:lnTo>
                  <a:lnTo>
                    <a:pt x="7466" y="276026"/>
                  </a:lnTo>
                  <a:lnTo>
                    <a:pt x="1877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41620" y="117565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80456" y="929426"/>
            <a:ext cx="7581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Escaneo</a:t>
            </a:r>
            <a:r>
              <a:rPr sz="95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Nmap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80456" y="1374383"/>
            <a:ext cx="244729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nmap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sV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22,2222,80,443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192.168.100.184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9875" y="1802144"/>
            <a:ext cx="4532630" cy="1203325"/>
            <a:chOff x="119875" y="1802144"/>
            <a:chExt cx="4532630" cy="120332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1802144"/>
              <a:ext cx="4532045" cy="120313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00875" y="1883157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896404"/>
                  </a:lnTo>
                  <a:lnTo>
                    <a:pt x="798" y="908409"/>
                  </a:lnTo>
                  <a:lnTo>
                    <a:pt x="18843" y="952168"/>
                  </a:lnTo>
                  <a:lnTo>
                    <a:pt x="56512" y="980857"/>
                  </a:lnTo>
                  <a:lnTo>
                    <a:pt x="91439" y="987844"/>
                  </a:lnTo>
                  <a:lnTo>
                    <a:pt x="4224959" y="987844"/>
                  </a:lnTo>
                  <a:lnTo>
                    <a:pt x="4270679" y="975601"/>
                  </a:lnTo>
                  <a:lnTo>
                    <a:pt x="4304169" y="942124"/>
                  </a:lnTo>
                  <a:lnTo>
                    <a:pt x="4316399" y="896404"/>
                  </a:lnTo>
                  <a:lnTo>
                    <a:pt x="4316375" y="91439"/>
                  </a:lnTo>
                  <a:lnTo>
                    <a:pt x="4304169" y="46088"/>
                  </a:lnTo>
                  <a:lnTo>
                    <a:pt x="4270679" y="12598"/>
                  </a:lnTo>
                  <a:lnTo>
                    <a:pt x="422495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0875" y="1883157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224959" y="368"/>
                  </a:lnTo>
                  <a:lnTo>
                    <a:pt x="4270679" y="12598"/>
                  </a:lnTo>
                  <a:lnTo>
                    <a:pt x="4304169" y="46088"/>
                  </a:lnTo>
                  <a:lnTo>
                    <a:pt x="4316399" y="91808"/>
                  </a:lnTo>
                  <a:lnTo>
                    <a:pt x="4316399" y="896404"/>
                  </a:lnTo>
                  <a:lnTo>
                    <a:pt x="4315601" y="908409"/>
                  </a:lnTo>
                  <a:lnTo>
                    <a:pt x="4313251" y="920073"/>
                  </a:lnTo>
                  <a:lnTo>
                    <a:pt x="4289720" y="961162"/>
                  </a:lnTo>
                  <a:lnTo>
                    <a:pt x="4248634" y="984694"/>
                  </a:lnTo>
                  <a:lnTo>
                    <a:pt x="4224959" y="987844"/>
                  </a:lnTo>
                  <a:lnTo>
                    <a:pt x="91439" y="987844"/>
                  </a:lnTo>
                  <a:lnTo>
                    <a:pt x="45720" y="975601"/>
                  </a:lnTo>
                  <a:lnTo>
                    <a:pt x="12242" y="942124"/>
                  </a:lnTo>
                  <a:lnTo>
                    <a:pt x="0" y="89640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2684" y="2139482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219595" y="0"/>
                  </a:moveTo>
                  <a:lnTo>
                    <a:pt x="162669" y="7604"/>
                  </a:lnTo>
                  <a:lnTo>
                    <a:pt x="109791" y="29514"/>
                  </a:lnTo>
                  <a:lnTo>
                    <a:pt x="64252" y="64530"/>
                  </a:lnTo>
                  <a:lnTo>
                    <a:pt x="29514" y="109804"/>
                  </a:lnTo>
                  <a:lnTo>
                    <a:pt x="7466" y="162809"/>
                  </a:lnTo>
                  <a:lnTo>
                    <a:pt x="0" y="219595"/>
                  </a:lnTo>
                  <a:lnTo>
                    <a:pt x="1877" y="248295"/>
                  </a:lnTo>
                  <a:lnTo>
                    <a:pt x="16700" y="303536"/>
                  </a:lnTo>
                  <a:lnTo>
                    <a:pt x="45397" y="353183"/>
                  </a:lnTo>
                  <a:lnTo>
                    <a:pt x="85807" y="393593"/>
                  </a:lnTo>
                  <a:lnTo>
                    <a:pt x="135504" y="422343"/>
                  </a:lnTo>
                  <a:lnTo>
                    <a:pt x="190846" y="437274"/>
                  </a:lnTo>
                  <a:lnTo>
                    <a:pt x="219595" y="439204"/>
                  </a:lnTo>
                  <a:lnTo>
                    <a:pt x="248137" y="437274"/>
                  </a:lnTo>
                  <a:lnTo>
                    <a:pt x="303325" y="422343"/>
                  </a:lnTo>
                  <a:lnTo>
                    <a:pt x="353021" y="393593"/>
                  </a:lnTo>
                  <a:lnTo>
                    <a:pt x="393432" y="353183"/>
                  </a:lnTo>
                  <a:lnTo>
                    <a:pt x="422130" y="303536"/>
                  </a:lnTo>
                  <a:lnTo>
                    <a:pt x="436956" y="248295"/>
                  </a:lnTo>
                  <a:lnTo>
                    <a:pt x="438835" y="219595"/>
                  </a:lnTo>
                  <a:lnTo>
                    <a:pt x="436956" y="190898"/>
                  </a:lnTo>
                  <a:lnTo>
                    <a:pt x="422130" y="135665"/>
                  </a:lnTo>
                  <a:lnTo>
                    <a:pt x="393432" y="86020"/>
                  </a:lnTo>
                  <a:lnTo>
                    <a:pt x="353021" y="45605"/>
                  </a:lnTo>
                  <a:lnTo>
                    <a:pt x="303325" y="16855"/>
                  </a:lnTo>
                  <a:lnTo>
                    <a:pt x="248137" y="1929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2684" y="2139482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0" y="219595"/>
                  </a:moveTo>
                  <a:lnTo>
                    <a:pt x="1877" y="190898"/>
                  </a:lnTo>
                  <a:lnTo>
                    <a:pt x="7466" y="162809"/>
                  </a:lnTo>
                  <a:lnTo>
                    <a:pt x="29514" y="109804"/>
                  </a:lnTo>
                  <a:lnTo>
                    <a:pt x="64252" y="64530"/>
                  </a:lnTo>
                  <a:lnTo>
                    <a:pt x="109791" y="29514"/>
                  </a:lnTo>
                  <a:lnTo>
                    <a:pt x="162669" y="7604"/>
                  </a:lnTo>
                  <a:lnTo>
                    <a:pt x="219595" y="0"/>
                  </a:lnTo>
                  <a:lnTo>
                    <a:pt x="276204" y="7604"/>
                  </a:lnTo>
                  <a:lnTo>
                    <a:pt x="329031" y="29514"/>
                  </a:lnTo>
                  <a:lnTo>
                    <a:pt x="374576" y="64530"/>
                  </a:lnTo>
                  <a:lnTo>
                    <a:pt x="409321" y="109804"/>
                  </a:lnTo>
                  <a:lnTo>
                    <a:pt x="431365" y="162809"/>
                  </a:lnTo>
                  <a:lnTo>
                    <a:pt x="438835" y="219595"/>
                  </a:lnTo>
                  <a:lnTo>
                    <a:pt x="436956" y="248295"/>
                  </a:lnTo>
                  <a:lnTo>
                    <a:pt x="431365" y="276388"/>
                  </a:lnTo>
                  <a:lnTo>
                    <a:pt x="409321" y="329399"/>
                  </a:lnTo>
                  <a:lnTo>
                    <a:pt x="374576" y="374672"/>
                  </a:lnTo>
                  <a:lnTo>
                    <a:pt x="329031" y="409676"/>
                  </a:lnTo>
                  <a:lnTo>
                    <a:pt x="276204" y="431598"/>
                  </a:lnTo>
                  <a:lnTo>
                    <a:pt x="219595" y="439204"/>
                  </a:lnTo>
                  <a:lnTo>
                    <a:pt x="162669" y="431598"/>
                  </a:lnTo>
                  <a:lnTo>
                    <a:pt x="109791" y="409676"/>
                  </a:lnTo>
                  <a:lnTo>
                    <a:pt x="64252" y="374672"/>
                  </a:lnTo>
                  <a:lnTo>
                    <a:pt x="29514" y="329399"/>
                  </a:lnTo>
                  <a:lnTo>
                    <a:pt x="7466" y="276388"/>
                  </a:lnTo>
                  <a:lnTo>
                    <a:pt x="1877" y="248295"/>
                  </a:lnTo>
                  <a:lnTo>
                    <a:pt x="0" y="219595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1060" y="225493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9896" y="2008697"/>
            <a:ext cx="10890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Reconocimiento 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9896" y="2338821"/>
            <a:ext cx="319595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for i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$(seq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20); do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sk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-o /dev/null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-w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"%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{http_code}"</a:t>
            </a:r>
            <a:r>
              <a:rPr sz="750" spc="2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  <a:hlinkClick r:id="rId3"/>
              </a:rPr>
              <a:t>https://192.168.100.184/admin$i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;</a:t>
            </a:r>
            <a:r>
              <a:rPr sz="750" spc="2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echo</a:t>
            </a:r>
            <a:r>
              <a:rPr sz="750" spc="2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"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&gt;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/admin$i";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done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00435" y="1802144"/>
            <a:ext cx="4532630" cy="1203325"/>
            <a:chOff x="4600435" y="1802144"/>
            <a:chExt cx="4532630" cy="120332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0435" y="1802144"/>
              <a:ext cx="4532045" cy="120313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681436" y="1883157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896404"/>
                  </a:lnTo>
                  <a:lnTo>
                    <a:pt x="798" y="908409"/>
                  </a:lnTo>
                  <a:lnTo>
                    <a:pt x="18843" y="952168"/>
                  </a:lnTo>
                  <a:lnTo>
                    <a:pt x="56512" y="980857"/>
                  </a:lnTo>
                  <a:lnTo>
                    <a:pt x="91439" y="987844"/>
                  </a:lnTo>
                  <a:lnTo>
                    <a:pt x="4224959" y="987844"/>
                  </a:lnTo>
                  <a:lnTo>
                    <a:pt x="4270679" y="975601"/>
                  </a:lnTo>
                  <a:lnTo>
                    <a:pt x="4304169" y="942124"/>
                  </a:lnTo>
                  <a:lnTo>
                    <a:pt x="4316399" y="896404"/>
                  </a:lnTo>
                  <a:lnTo>
                    <a:pt x="4316375" y="91439"/>
                  </a:lnTo>
                  <a:lnTo>
                    <a:pt x="4304169" y="46088"/>
                  </a:lnTo>
                  <a:lnTo>
                    <a:pt x="4270679" y="12598"/>
                  </a:lnTo>
                  <a:lnTo>
                    <a:pt x="422495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81436" y="1883157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368" y="91439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224959" y="368"/>
                  </a:lnTo>
                  <a:lnTo>
                    <a:pt x="4270679" y="12598"/>
                  </a:lnTo>
                  <a:lnTo>
                    <a:pt x="4304169" y="46088"/>
                  </a:lnTo>
                  <a:lnTo>
                    <a:pt x="4316399" y="91808"/>
                  </a:lnTo>
                  <a:lnTo>
                    <a:pt x="4316399" y="896404"/>
                  </a:lnTo>
                  <a:lnTo>
                    <a:pt x="4315601" y="908409"/>
                  </a:lnTo>
                  <a:lnTo>
                    <a:pt x="4313251" y="920073"/>
                  </a:lnTo>
                  <a:lnTo>
                    <a:pt x="4289720" y="961162"/>
                  </a:lnTo>
                  <a:lnTo>
                    <a:pt x="4248634" y="984694"/>
                  </a:lnTo>
                  <a:lnTo>
                    <a:pt x="4224959" y="987844"/>
                  </a:lnTo>
                  <a:lnTo>
                    <a:pt x="91439" y="987844"/>
                  </a:lnTo>
                  <a:lnTo>
                    <a:pt x="45719" y="975601"/>
                  </a:lnTo>
                  <a:lnTo>
                    <a:pt x="12242" y="942124"/>
                  </a:lnTo>
                  <a:lnTo>
                    <a:pt x="0" y="89640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73244" y="2139482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219595" y="0"/>
                  </a:moveTo>
                  <a:lnTo>
                    <a:pt x="162669" y="7604"/>
                  </a:lnTo>
                  <a:lnTo>
                    <a:pt x="109791" y="29514"/>
                  </a:lnTo>
                  <a:lnTo>
                    <a:pt x="64252" y="64530"/>
                  </a:lnTo>
                  <a:lnTo>
                    <a:pt x="29514" y="109804"/>
                  </a:lnTo>
                  <a:lnTo>
                    <a:pt x="7466" y="162809"/>
                  </a:lnTo>
                  <a:lnTo>
                    <a:pt x="0" y="219595"/>
                  </a:lnTo>
                  <a:lnTo>
                    <a:pt x="1877" y="248295"/>
                  </a:lnTo>
                  <a:lnTo>
                    <a:pt x="16700" y="303536"/>
                  </a:lnTo>
                  <a:lnTo>
                    <a:pt x="45397" y="353183"/>
                  </a:lnTo>
                  <a:lnTo>
                    <a:pt x="85807" y="393593"/>
                  </a:lnTo>
                  <a:lnTo>
                    <a:pt x="135504" y="422343"/>
                  </a:lnTo>
                  <a:lnTo>
                    <a:pt x="190846" y="437274"/>
                  </a:lnTo>
                  <a:lnTo>
                    <a:pt x="219595" y="439204"/>
                  </a:lnTo>
                  <a:lnTo>
                    <a:pt x="248137" y="437274"/>
                  </a:lnTo>
                  <a:lnTo>
                    <a:pt x="303325" y="422343"/>
                  </a:lnTo>
                  <a:lnTo>
                    <a:pt x="353021" y="393593"/>
                  </a:lnTo>
                  <a:lnTo>
                    <a:pt x="393432" y="353183"/>
                  </a:lnTo>
                  <a:lnTo>
                    <a:pt x="422130" y="303536"/>
                  </a:lnTo>
                  <a:lnTo>
                    <a:pt x="436956" y="248295"/>
                  </a:lnTo>
                  <a:lnTo>
                    <a:pt x="438835" y="219595"/>
                  </a:lnTo>
                  <a:lnTo>
                    <a:pt x="436956" y="190898"/>
                  </a:lnTo>
                  <a:lnTo>
                    <a:pt x="422130" y="135665"/>
                  </a:lnTo>
                  <a:lnTo>
                    <a:pt x="393432" y="86020"/>
                  </a:lnTo>
                  <a:lnTo>
                    <a:pt x="353021" y="45605"/>
                  </a:lnTo>
                  <a:lnTo>
                    <a:pt x="303325" y="16855"/>
                  </a:lnTo>
                  <a:lnTo>
                    <a:pt x="248137" y="1929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FF3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73244" y="2139482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0" y="219595"/>
                  </a:moveTo>
                  <a:lnTo>
                    <a:pt x="1877" y="190898"/>
                  </a:lnTo>
                  <a:lnTo>
                    <a:pt x="7466" y="162809"/>
                  </a:lnTo>
                  <a:lnTo>
                    <a:pt x="29514" y="109804"/>
                  </a:lnTo>
                  <a:lnTo>
                    <a:pt x="64252" y="64530"/>
                  </a:lnTo>
                  <a:lnTo>
                    <a:pt x="109791" y="29514"/>
                  </a:lnTo>
                  <a:lnTo>
                    <a:pt x="162669" y="7604"/>
                  </a:lnTo>
                  <a:lnTo>
                    <a:pt x="219595" y="0"/>
                  </a:lnTo>
                  <a:lnTo>
                    <a:pt x="276204" y="7604"/>
                  </a:lnTo>
                  <a:lnTo>
                    <a:pt x="329031" y="29514"/>
                  </a:lnTo>
                  <a:lnTo>
                    <a:pt x="374576" y="64530"/>
                  </a:lnTo>
                  <a:lnTo>
                    <a:pt x="409321" y="109804"/>
                  </a:lnTo>
                  <a:lnTo>
                    <a:pt x="431365" y="162809"/>
                  </a:lnTo>
                  <a:lnTo>
                    <a:pt x="438835" y="219595"/>
                  </a:lnTo>
                  <a:lnTo>
                    <a:pt x="436956" y="248295"/>
                  </a:lnTo>
                  <a:lnTo>
                    <a:pt x="431365" y="276388"/>
                  </a:lnTo>
                  <a:lnTo>
                    <a:pt x="409321" y="329399"/>
                  </a:lnTo>
                  <a:lnTo>
                    <a:pt x="374576" y="374672"/>
                  </a:lnTo>
                  <a:lnTo>
                    <a:pt x="329031" y="409676"/>
                  </a:lnTo>
                  <a:lnTo>
                    <a:pt x="276204" y="431598"/>
                  </a:lnTo>
                  <a:lnTo>
                    <a:pt x="219595" y="439204"/>
                  </a:lnTo>
                  <a:lnTo>
                    <a:pt x="162669" y="431598"/>
                  </a:lnTo>
                  <a:lnTo>
                    <a:pt x="109791" y="409676"/>
                  </a:lnTo>
                  <a:lnTo>
                    <a:pt x="64252" y="374672"/>
                  </a:lnTo>
                  <a:lnTo>
                    <a:pt x="29514" y="329399"/>
                  </a:lnTo>
                  <a:lnTo>
                    <a:pt x="7466" y="276388"/>
                  </a:lnTo>
                  <a:lnTo>
                    <a:pt x="1877" y="248295"/>
                  </a:lnTo>
                  <a:lnTo>
                    <a:pt x="0" y="219595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941620" y="225493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80456" y="2008697"/>
            <a:ext cx="9232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Ataque</a:t>
            </a:r>
            <a:r>
              <a:rPr sz="95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Hydra</a:t>
            </a:r>
            <a:r>
              <a:rPr sz="950" b="1" spc="-25" dirty="0">
                <a:solidFill>
                  <a:srgbClr val="FFFFFF"/>
                </a:solidFill>
                <a:latin typeface="Calibri"/>
                <a:cs typeface="Calibri"/>
              </a:rPr>
              <a:t> SSH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80456" y="2396060"/>
            <a:ext cx="33686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hydra -l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adming11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~/passwords.txt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ssh://192.168.100.182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4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V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19875" y="2881428"/>
            <a:ext cx="4532630" cy="1203325"/>
            <a:chOff x="119875" y="2881428"/>
            <a:chExt cx="4532630" cy="1203325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2881428"/>
              <a:ext cx="4532045" cy="120313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200875" y="2962442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40"/>
                  </a:lnTo>
                  <a:lnTo>
                    <a:pt x="0" y="896404"/>
                  </a:lnTo>
                  <a:lnTo>
                    <a:pt x="798" y="908403"/>
                  </a:lnTo>
                  <a:lnTo>
                    <a:pt x="18843" y="952160"/>
                  </a:lnTo>
                  <a:lnTo>
                    <a:pt x="56512" y="980857"/>
                  </a:lnTo>
                  <a:lnTo>
                    <a:pt x="91439" y="987844"/>
                  </a:lnTo>
                  <a:lnTo>
                    <a:pt x="4224959" y="987844"/>
                  </a:lnTo>
                  <a:lnTo>
                    <a:pt x="4270679" y="975601"/>
                  </a:lnTo>
                  <a:lnTo>
                    <a:pt x="4304169" y="942124"/>
                  </a:lnTo>
                  <a:lnTo>
                    <a:pt x="4316399" y="896404"/>
                  </a:lnTo>
                  <a:lnTo>
                    <a:pt x="4316376" y="91440"/>
                  </a:lnTo>
                  <a:lnTo>
                    <a:pt x="4304169" y="46075"/>
                  </a:lnTo>
                  <a:lnTo>
                    <a:pt x="4270679" y="12598"/>
                  </a:lnTo>
                  <a:lnTo>
                    <a:pt x="4224959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0875" y="2962442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368" y="91440"/>
                  </a:moveTo>
                  <a:lnTo>
                    <a:pt x="1166" y="79434"/>
                  </a:lnTo>
                  <a:lnTo>
                    <a:pt x="3516" y="67770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224959" y="355"/>
                  </a:lnTo>
                  <a:lnTo>
                    <a:pt x="4270679" y="12598"/>
                  </a:lnTo>
                  <a:lnTo>
                    <a:pt x="4304169" y="46075"/>
                  </a:lnTo>
                  <a:lnTo>
                    <a:pt x="4316399" y="91795"/>
                  </a:lnTo>
                  <a:lnTo>
                    <a:pt x="4316399" y="896404"/>
                  </a:lnTo>
                  <a:lnTo>
                    <a:pt x="4315601" y="908403"/>
                  </a:lnTo>
                  <a:lnTo>
                    <a:pt x="4313251" y="920068"/>
                  </a:lnTo>
                  <a:lnTo>
                    <a:pt x="4289720" y="961153"/>
                  </a:lnTo>
                  <a:lnTo>
                    <a:pt x="4248634" y="984694"/>
                  </a:lnTo>
                  <a:lnTo>
                    <a:pt x="4224959" y="987844"/>
                  </a:lnTo>
                  <a:lnTo>
                    <a:pt x="91439" y="987844"/>
                  </a:lnTo>
                  <a:lnTo>
                    <a:pt x="45720" y="975601"/>
                  </a:lnTo>
                  <a:lnTo>
                    <a:pt x="12242" y="942124"/>
                  </a:lnTo>
                  <a:lnTo>
                    <a:pt x="0" y="896404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92684" y="321876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62669" y="7421"/>
                  </a:lnTo>
                  <a:lnTo>
                    <a:pt x="109791" y="29159"/>
                  </a:lnTo>
                  <a:lnTo>
                    <a:pt x="64252" y="64163"/>
                  </a:lnTo>
                  <a:lnTo>
                    <a:pt x="29514" y="109435"/>
                  </a:lnTo>
                  <a:lnTo>
                    <a:pt x="7466" y="162447"/>
                  </a:lnTo>
                  <a:lnTo>
                    <a:pt x="0" y="219240"/>
                  </a:lnTo>
                  <a:lnTo>
                    <a:pt x="1877" y="247937"/>
                  </a:lnTo>
                  <a:lnTo>
                    <a:pt x="16700" y="303170"/>
                  </a:lnTo>
                  <a:lnTo>
                    <a:pt x="45397" y="352815"/>
                  </a:lnTo>
                  <a:lnTo>
                    <a:pt x="85807" y="393230"/>
                  </a:lnTo>
                  <a:lnTo>
                    <a:pt x="135504" y="421980"/>
                  </a:lnTo>
                  <a:lnTo>
                    <a:pt x="190846" y="436906"/>
                  </a:lnTo>
                  <a:lnTo>
                    <a:pt x="219595" y="438835"/>
                  </a:lnTo>
                  <a:lnTo>
                    <a:pt x="248137" y="436906"/>
                  </a:lnTo>
                  <a:lnTo>
                    <a:pt x="303325" y="421980"/>
                  </a:lnTo>
                  <a:lnTo>
                    <a:pt x="353021" y="393230"/>
                  </a:lnTo>
                  <a:lnTo>
                    <a:pt x="393432" y="352815"/>
                  </a:lnTo>
                  <a:lnTo>
                    <a:pt x="422130" y="303170"/>
                  </a:lnTo>
                  <a:lnTo>
                    <a:pt x="436956" y="247937"/>
                  </a:lnTo>
                  <a:lnTo>
                    <a:pt x="438835" y="219240"/>
                  </a:lnTo>
                  <a:lnTo>
                    <a:pt x="436956" y="190540"/>
                  </a:lnTo>
                  <a:lnTo>
                    <a:pt x="422130" y="135299"/>
                  </a:lnTo>
                  <a:lnTo>
                    <a:pt x="393432" y="85651"/>
                  </a:lnTo>
                  <a:lnTo>
                    <a:pt x="353021" y="45242"/>
                  </a:lnTo>
                  <a:lnTo>
                    <a:pt x="303325" y="16550"/>
                  </a:lnTo>
                  <a:lnTo>
                    <a:pt x="248137" y="187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2684" y="321876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0" y="219240"/>
                  </a:moveTo>
                  <a:lnTo>
                    <a:pt x="1877" y="190540"/>
                  </a:lnTo>
                  <a:lnTo>
                    <a:pt x="7466" y="162447"/>
                  </a:lnTo>
                  <a:lnTo>
                    <a:pt x="29514" y="109435"/>
                  </a:lnTo>
                  <a:lnTo>
                    <a:pt x="64252" y="64163"/>
                  </a:lnTo>
                  <a:lnTo>
                    <a:pt x="109791" y="29159"/>
                  </a:lnTo>
                  <a:lnTo>
                    <a:pt x="162669" y="7421"/>
                  </a:lnTo>
                  <a:lnTo>
                    <a:pt x="219595" y="0"/>
                  </a:lnTo>
                  <a:lnTo>
                    <a:pt x="276204" y="7421"/>
                  </a:lnTo>
                  <a:lnTo>
                    <a:pt x="329031" y="29159"/>
                  </a:lnTo>
                  <a:lnTo>
                    <a:pt x="374576" y="64163"/>
                  </a:lnTo>
                  <a:lnTo>
                    <a:pt x="409321" y="109435"/>
                  </a:lnTo>
                  <a:lnTo>
                    <a:pt x="431365" y="162447"/>
                  </a:lnTo>
                  <a:lnTo>
                    <a:pt x="438835" y="219240"/>
                  </a:lnTo>
                  <a:lnTo>
                    <a:pt x="436956" y="247937"/>
                  </a:lnTo>
                  <a:lnTo>
                    <a:pt x="431365" y="276026"/>
                  </a:lnTo>
                  <a:lnTo>
                    <a:pt x="409321" y="329031"/>
                  </a:lnTo>
                  <a:lnTo>
                    <a:pt x="374576" y="374305"/>
                  </a:lnTo>
                  <a:lnTo>
                    <a:pt x="329031" y="409321"/>
                  </a:lnTo>
                  <a:lnTo>
                    <a:pt x="276204" y="431231"/>
                  </a:lnTo>
                  <a:lnTo>
                    <a:pt x="219595" y="438835"/>
                  </a:lnTo>
                  <a:lnTo>
                    <a:pt x="162669" y="431231"/>
                  </a:lnTo>
                  <a:lnTo>
                    <a:pt x="109791" y="409321"/>
                  </a:lnTo>
                  <a:lnTo>
                    <a:pt x="64252" y="374305"/>
                  </a:lnTo>
                  <a:lnTo>
                    <a:pt x="29514" y="329031"/>
                  </a:lnTo>
                  <a:lnTo>
                    <a:pt x="7466" y="276026"/>
                  </a:lnTo>
                  <a:lnTo>
                    <a:pt x="1877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61060" y="333385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99896" y="3087626"/>
            <a:ext cx="7842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Verificar</a:t>
            </a:r>
            <a:r>
              <a:rPr sz="95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Baneo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99896" y="3475344"/>
            <a:ext cx="2735580" cy="2578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ts val="900"/>
              </a:lnSpc>
              <a:spcBef>
                <a:spcPts val="13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fail2ban-client status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sshd</a:t>
            </a:r>
            <a:r>
              <a:rPr sz="750" spc="47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→</a:t>
            </a:r>
            <a:r>
              <a:rPr sz="750" spc="46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Banned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IP: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192.168.100.189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850" spc="125" dirty="0">
                <a:solidFill>
                  <a:srgbClr val="00C1A7"/>
                </a:solidFill>
                <a:latin typeface="MingLiU_HKSCS-ExtB"/>
                <a:cs typeface="MingLiU_HKSCS-ExtB"/>
              </a:rPr>
              <a:t>✅</a:t>
            </a:r>
            <a:endParaRPr sz="850">
              <a:latin typeface="MingLiU_HKSCS-ExtB"/>
              <a:cs typeface="MingLiU_HKSCS-ExtB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600435" y="2881428"/>
            <a:ext cx="4532630" cy="1203325"/>
            <a:chOff x="4600435" y="2881428"/>
            <a:chExt cx="4532630" cy="1203325"/>
          </a:xfrm>
        </p:grpSpPr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0435" y="2881428"/>
              <a:ext cx="4532045" cy="120313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681436" y="2962442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40"/>
                  </a:lnTo>
                  <a:lnTo>
                    <a:pt x="0" y="896404"/>
                  </a:lnTo>
                  <a:lnTo>
                    <a:pt x="798" y="908403"/>
                  </a:lnTo>
                  <a:lnTo>
                    <a:pt x="18843" y="952160"/>
                  </a:lnTo>
                  <a:lnTo>
                    <a:pt x="56512" y="980857"/>
                  </a:lnTo>
                  <a:lnTo>
                    <a:pt x="91439" y="987844"/>
                  </a:lnTo>
                  <a:lnTo>
                    <a:pt x="4224959" y="987844"/>
                  </a:lnTo>
                  <a:lnTo>
                    <a:pt x="4270679" y="975601"/>
                  </a:lnTo>
                  <a:lnTo>
                    <a:pt x="4304169" y="942124"/>
                  </a:lnTo>
                  <a:lnTo>
                    <a:pt x="4316399" y="896404"/>
                  </a:lnTo>
                  <a:lnTo>
                    <a:pt x="4316376" y="91440"/>
                  </a:lnTo>
                  <a:lnTo>
                    <a:pt x="4304169" y="46075"/>
                  </a:lnTo>
                  <a:lnTo>
                    <a:pt x="4270679" y="12598"/>
                  </a:lnTo>
                  <a:lnTo>
                    <a:pt x="4224959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81436" y="2962442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368" y="91440"/>
                  </a:moveTo>
                  <a:lnTo>
                    <a:pt x="1166" y="79434"/>
                  </a:lnTo>
                  <a:lnTo>
                    <a:pt x="3516" y="67770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224959" y="355"/>
                  </a:lnTo>
                  <a:lnTo>
                    <a:pt x="4270679" y="12598"/>
                  </a:lnTo>
                  <a:lnTo>
                    <a:pt x="4304169" y="46075"/>
                  </a:lnTo>
                  <a:lnTo>
                    <a:pt x="4316399" y="91795"/>
                  </a:lnTo>
                  <a:lnTo>
                    <a:pt x="4316399" y="896404"/>
                  </a:lnTo>
                  <a:lnTo>
                    <a:pt x="4315601" y="908403"/>
                  </a:lnTo>
                  <a:lnTo>
                    <a:pt x="4313251" y="920068"/>
                  </a:lnTo>
                  <a:lnTo>
                    <a:pt x="4289720" y="961153"/>
                  </a:lnTo>
                  <a:lnTo>
                    <a:pt x="4248634" y="984694"/>
                  </a:lnTo>
                  <a:lnTo>
                    <a:pt x="4224959" y="987844"/>
                  </a:lnTo>
                  <a:lnTo>
                    <a:pt x="91439" y="987844"/>
                  </a:lnTo>
                  <a:lnTo>
                    <a:pt x="45719" y="975601"/>
                  </a:lnTo>
                  <a:lnTo>
                    <a:pt x="12242" y="942124"/>
                  </a:lnTo>
                  <a:lnTo>
                    <a:pt x="0" y="896404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773244" y="321876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62669" y="7421"/>
                  </a:lnTo>
                  <a:lnTo>
                    <a:pt x="109791" y="29159"/>
                  </a:lnTo>
                  <a:lnTo>
                    <a:pt x="64252" y="64163"/>
                  </a:lnTo>
                  <a:lnTo>
                    <a:pt x="29514" y="109435"/>
                  </a:lnTo>
                  <a:lnTo>
                    <a:pt x="7466" y="162447"/>
                  </a:lnTo>
                  <a:lnTo>
                    <a:pt x="0" y="219240"/>
                  </a:lnTo>
                  <a:lnTo>
                    <a:pt x="1877" y="247937"/>
                  </a:lnTo>
                  <a:lnTo>
                    <a:pt x="16700" y="303170"/>
                  </a:lnTo>
                  <a:lnTo>
                    <a:pt x="45397" y="352815"/>
                  </a:lnTo>
                  <a:lnTo>
                    <a:pt x="85807" y="393230"/>
                  </a:lnTo>
                  <a:lnTo>
                    <a:pt x="135504" y="421980"/>
                  </a:lnTo>
                  <a:lnTo>
                    <a:pt x="190846" y="436906"/>
                  </a:lnTo>
                  <a:lnTo>
                    <a:pt x="219595" y="438835"/>
                  </a:lnTo>
                  <a:lnTo>
                    <a:pt x="248137" y="436906"/>
                  </a:lnTo>
                  <a:lnTo>
                    <a:pt x="303325" y="421980"/>
                  </a:lnTo>
                  <a:lnTo>
                    <a:pt x="353021" y="393230"/>
                  </a:lnTo>
                  <a:lnTo>
                    <a:pt x="393432" y="352815"/>
                  </a:lnTo>
                  <a:lnTo>
                    <a:pt x="422130" y="303170"/>
                  </a:lnTo>
                  <a:lnTo>
                    <a:pt x="436956" y="247937"/>
                  </a:lnTo>
                  <a:lnTo>
                    <a:pt x="438835" y="219240"/>
                  </a:lnTo>
                  <a:lnTo>
                    <a:pt x="436956" y="190540"/>
                  </a:lnTo>
                  <a:lnTo>
                    <a:pt x="422130" y="135299"/>
                  </a:lnTo>
                  <a:lnTo>
                    <a:pt x="393432" y="85651"/>
                  </a:lnTo>
                  <a:lnTo>
                    <a:pt x="353021" y="45242"/>
                  </a:lnTo>
                  <a:lnTo>
                    <a:pt x="303325" y="16550"/>
                  </a:lnTo>
                  <a:lnTo>
                    <a:pt x="248137" y="187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773244" y="3218766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0" y="219240"/>
                  </a:moveTo>
                  <a:lnTo>
                    <a:pt x="1877" y="190540"/>
                  </a:lnTo>
                  <a:lnTo>
                    <a:pt x="7466" y="162447"/>
                  </a:lnTo>
                  <a:lnTo>
                    <a:pt x="29514" y="109435"/>
                  </a:lnTo>
                  <a:lnTo>
                    <a:pt x="64252" y="64163"/>
                  </a:lnTo>
                  <a:lnTo>
                    <a:pt x="109791" y="29159"/>
                  </a:lnTo>
                  <a:lnTo>
                    <a:pt x="162669" y="7421"/>
                  </a:lnTo>
                  <a:lnTo>
                    <a:pt x="219595" y="0"/>
                  </a:lnTo>
                  <a:lnTo>
                    <a:pt x="276204" y="7421"/>
                  </a:lnTo>
                  <a:lnTo>
                    <a:pt x="329031" y="29159"/>
                  </a:lnTo>
                  <a:lnTo>
                    <a:pt x="374576" y="64163"/>
                  </a:lnTo>
                  <a:lnTo>
                    <a:pt x="409321" y="109435"/>
                  </a:lnTo>
                  <a:lnTo>
                    <a:pt x="431365" y="162447"/>
                  </a:lnTo>
                  <a:lnTo>
                    <a:pt x="438835" y="219240"/>
                  </a:lnTo>
                  <a:lnTo>
                    <a:pt x="436956" y="247937"/>
                  </a:lnTo>
                  <a:lnTo>
                    <a:pt x="431365" y="276026"/>
                  </a:lnTo>
                  <a:lnTo>
                    <a:pt x="409321" y="329031"/>
                  </a:lnTo>
                  <a:lnTo>
                    <a:pt x="374576" y="374305"/>
                  </a:lnTo>
                  <a:lnTo>
                    <a:pt x="329031" y="409321"/>
                  </a:lnTo>
                  <a:lnTo>
                    <a:pt x="276204" y="431231"/>
                  </a:lnTo>
                  <a:lnTo>
                    <a:pt x="219595" y="438835"/>
                  </a:lnTo>
                  <a:lnTo>
                    <a:pt x="162669" y="431231"/>
                  </a:lnTo>
                  <a:lnTo>
                    <a:pt x="109791" y="409321"/>
                  </a:lnTo>
                  <a:lnTo>
                    <a:pt x="64252" y="374305"/>
                  </a:lnTo>
                  <a:lnTo>
                    <a:pt x="29514" y="329031"/>
                  </a:lnTo>
                  <a:lnTo>
                    <a:pt x="7466" y="276026"/>
                  </a:lnTo>
                  <a:lnTo>
                    <a:pt x="1877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941620" y="333385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380456" y="3087626"/>
            <a:ext cx="10414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Logs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Tiempo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80456" y="3532583"/>
            <a:ext cx="244729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tail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/var/log/banco/server-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182.log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19875" y="3960344"/>
            <a:ext cx="4532630" cy="1183005"/>
            <a:chOff x="119875" y="3960344"/>
            <a:chExt cx="4532630" cy="1183005"/>
          </a:xfrm>
        </p:grpSpPr>
        <p:pic>
          <p:nvPicPr>
            <p:cNvPr id="58" name="object 5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875" y="3960344"/>
              <a:ext cx="4532045" cy="118297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200875" y="4041358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896404"/>
                  </a:lnTo>
                  <a:lnTo>
                    <a:pt x="798" y="908409"/>
                  </a:lnTo>
                  <a:lnTo>
                    <a:pt x="18843" y="952168"/>
                  </a:lnTo>
                  <a:lnTo>
                    <a:pt x="56512" y="980857"/>
                  </a:lnTo>
                  <a:lnTo>
                    <a:pt x="91439" y="987844"/>
                  </a:lnTo>
                  <a:lnTo>
                    <a:pt x="4224959" y="987844"/>
                  </a:lnTo>
                  <a:lnTo>
                    <a:pt x="4270679" y="975601"/>
                  </a:lnTo>
                  <a:lnTo>
                    <a:pt x="4304169" y="942124"/>
                  </a:lnTo>
                  <a:lnTo>
                    <a:pt x="4316399" y="896404"/>
                  </a:lnTo>
                  <a:lnTo>
                    <a:pt x="4316375" y="91440"/>
                  </a:lnTo>
                  <a:lnTo>
                    <a:pt x="4304169" y="46088"/>
                  </a:lnTo>
                  <a:lnTo>
                    <a:pt x="4270679" y="12598"/>
                  </a:lnTo>
                  <a:lnTo>
                    <a:pt x="422495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00875" y="4041358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368" y="91440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224959" y="368"/>
                  </a:lnTo>
                  <a:lnTo>
                    <a:pt x="4270679" y="12598"/>
                  </a:lnTo>
                  <a:lnTo>
                    <a:pt x="4304169" y="46088"/>
                  </a:lnTo>
                  <a:lnTo>
                    <a:pt x="4316399" y="91808"/>
                  </a:lnTo>
                  <a:lnTo>
                    <a:pt x="4316399" y="896404"/>
                  </a:lnTo>
                  <a:lnTo>
                    <a:pt x="4315601" y="908409"/>
                  </a:lnTo>
                  <a:lnTo>
                    <a:pt x="4313251" y="920073"/>
                  </a:lnTo>
                  <a:lnTo>
                    <a:pt x="4289720" y="961162"/>
                  </a:lnTo>
                  <a:lnTo>
                    <a:pt x="4248634" y="984694"/>
                  </a:lnTo>
                  <a:lnTo>
                    <a:pt x="4224959" y="987844"/>
                  </a:lnTo>
                  <a:lnTo>
                    <a:pt x="91439" y="987844"/>
                  </a:lnTo>
                  <a:lnTo>
                    <a:pt x="45720" y="975601"/>
                  </a:lnTo>
                  <a:lnTo>
                    <a:pt x="12242" y="942124"/>
                  </a:lnTo>
                  <a:lnTo>
                    <a:pt x="0" y="896404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92684" y="4297682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62669" y="7426"/>
                  </a:lnTo>
                  <a:lnTo>
                    <a:pt x="109791" y="29159"/>
                  </a:lnTo>
                  <a:lnTo>
                    <a:pt x="64252" y="64168"/>
                  </a:lnTo>
                  <a:lnTo>
                    <a:pt x="29514" y="109435"/>
                  </a:lnTo>
                  <a:lnTo>
                    <a:pt x="7466" y="162452"/>
                  </a:lnTo>
                  <a:lnTo>
                    <a:pt x="0" y="219240"/>
                  </a:lnTo>
                  <a:lnTo>
                    <a:pt x="1877" y="247937"/>
                  </a:lnTo>
                  <a:lnTo>
                    <a:pt x="16700" y="303175"/>
                  </a:lnTo>
                  <a:lnTo>
                    <a:pt x="45397" y="352826"/>
                  </a:lnTo>
                  <a:lnTo>
                    <a:pt x="85807" y="393232"/>
                  </a:lnTo>
                  <a:lnTo>
                    <a:pt x="135504" y="421980"/>
                  </a:lnTo>
                  <a:lnTo>
                    <a:pt x="190846" y="436906"/>
                  </a:lnTo>
                  <a:lnTo>
                    <a:pt x="219595" y="438835"/>
                  </a:lnTo>
                  <a:lnTo>
                    <a:pt x="248137" y="436906"/>
                  </a:lnTo>
                  <a:lnTo>
                    <a:pt x="303325" y="421980"/>
                  </a:lnTo>
                  <a:lnTo>
                    <a:pt x="353021" y="393232"/>
                  </a:lnTo>
                  <a:lnTo>
                    <a:pt x="393432" y="352826"/>
                  </a:lnTo>
                  <a:lnTo>
                    <a:pt x="422130" y="303175"/>
                  </a:lnTo>
                  <a:lnTo>
                    <a:pt x="436956" y="247937"/>
                  </a:lnTo>
                  <a:lnTo>
                    <a:pt x="438835" y="219240"/>
                  </a:lnTo>
                  <a:lnTo>
                    <a:pt x="436956" y="190542"/>
                  </a:lnTo>
                  <a:lnTo>
                    <a:pt x="422130" y="135304"/>
                  </a:lnTo>
                  <a:lnTo>
                    <a:pt x="393432" y="85653"/>
                  </a:lnTo>
                  <a:lnTo>
                    <a:pt x="353021" y="45247"/>
                  </a:lnTo>
                  <a:lnTo>
                    <a:pt x="303325" y="16555"/>
                  </a:lnTo>
                  <a:lnTo>
                    <a:pt x="248137" y="1873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92684" y="4297682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0" y="219240"/>
                  </a:moveTo>
                  <a:lnTo>
                    <a:pt x="1877" y="190542"/>
                  </a:lnTo>
                  <a:lnTo>
                    <a:pt x="7466" y="162452"/>
                  </a:lnTo>
                  <a:lnTo>
                    <a:pt x="29514" y="109435"/>
                  </a:lnTo>
                  <a:lnTo>
                    <a:pt x="64252" y="64168"/>
                  </a:lnTo>
                  <a:lnTo>
                    <a:pt x="109791" y="29159"/>
                  </a:lnTo>
                  <a:lnTo>
                    <a:pt x="162669" y="7426"/>
                  </a:lnTo>
                  <a:lnTo>
                    <a:pt x="219595" y="0"/>
                  </a:lnTo>
                  <a:lnTo>
                    <a:pt x="276204" y="7426"/>
                  </a:lnTo>
                  <a:lnTo>
                    <a:pt x="329031" y="29159"/>
                  </a:lnTo>
                  <a:lnTo>
                    <a:pt x="374576" y="64168"/>
                  </a:lnTo>
                  <a:lnTo>
                    <a:pt x="409321" y="109435"/>
                  </a:lnTo>
                  <a:lnTo>
                    <a:pt x="431365" y="162452"/>
                  </a:lnTo>
                  <a:lnTo>
                    <a:pt x="438835" y="219240"/>
                  </a:lnTo>
                  <a:lnTo>
                    <a:pt x="436956" y="247937"/>
                  </a:lnTo>
                  <a:lnTo>
                    <a:pt x="431365" y="276028"/>
                  </a:lnTo>
                  <a:lnTo>
                    <a:pt x="409321" y="329044"/>
                  </a:lnTo>
                  <a:lnTo>
                    <a:pt x="374576" y="374311"/>
                  </a:lnTo>
                  <a:lnTo>
                    <a:pt x="329031" y="409321"/>
                  </a:lnTo>
                  <a:lnTo>
                    <a:pt x="276204" y="431231"/>
                  </a:lnTo>
                  <a:lnTo>
                    <a:pt x="219595" y="438835"/>
                  </a:lnTo>
                  <a:lnTo>
                    <a:pt x="162669" y="431231"/>
                  </a:lnTo>
                  <a:lnTo>
                    <a:pt x="109791" y="409321"/>
                  </a:lnTo>
                  <a:lnTo>
                    <a:pt x="64252" y="374311"/>
                  </a:lnTo>
                  <a:lnTo>
                    <a:pt x="29514" y="329044"/>
                  </a:lnTo>
                  <a:lnTo>
                    <a:pt x="7466" y="276028"/>
                  </a:lnTo>
                  <a:lnTo>
                    <a:pt x="1877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61060" y="441278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99896" y="4166541"/>
            <a:ext cx="88391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Verificar</a:t>
            </a:r>
            <a:r>
              <a:rPr sz="950" b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Bloqueo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99896" y="4594635"/>
            <a:ext cx="3151505" cy="160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ssh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  <a:hlinkClick r:id="rId5"/>
              </a:rPr>
              <a:t>adming11@192.168.100.182</a:t>
            </a:r>
            <a:r>
              <a:rPr sz="750" spc="48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→</a:t>
            </a:r>
            <a:r>
              <a:rPr sz="750" spc="47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Connection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refused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850" spc="125" dirty="0">
                <a:solidFill>
                  <a:srgbClr val="00C1A7"/>
                </a:solidFill>
                <a:latin typeface="MingLiU_HKSCS-ExtB"/>
                <a:cs typeface="MingLiU_HKSCS-ExtB"/>
              </a:rPr>
              <a:t>✅</a:t>
            </a:r>
            <a:endParaRPr sz="850">
              <a:latin typeface="MingLiU_HKSCS-ExtB"/>
              <a:cs typeface="MingLiU_HKSCS-ExtB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4600435" y="3960344"/>
            <a:ext cx="4532630" cy="1183005"/>
            <a:chOff x="4600435" y="3960344"/>
            <a:chExt cx="4532630" cy="1183005"/>
          </a:xfrm>
        </p:grpSpPr>
        <p:pic>
          <p:nvPicPr>
            <p:cNvPr id="67" name="object 6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00435" y="3960344"/>
              <a:ext cx="4532045" cy="118297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681436" y="4041358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91808" y="0"/>
                  </a:moveTo>
                  <a:lnTo>
                    <a:pt x="46088" y="12242"/>
                  </a:lnTo>
                  <a:lnTo>
                    <a:pt x="12598" y="45720"/>
                  </a:lnTo>
                  <a:lnTo>
                    <a:pt x="368" y="91440"/>
                  </a:lnTo>
                  <a:lnTo>
                    <a:pt x="0" y="896404"/>
                  </a:lnTo>
                  <a:lnTo>
                    <a:pt x="798" y="908409"/>
                  </a:lnTo>
                  <a:lnTo>
                    <a:pt x="18843" y="952168"/>
                  </a:lnTo>
                  <a:lnTo>
                    <a:pt x="56512" y="980857"/>
                  </a:lnTo>
                  <a:lnTo>
                    <a:pt x="91439" y="987844"/>
                  </a:lnTo>
                  <a:lnTo>
                    <a:pt x="4224959" y="987844"/>
                  </a:lnTo>
                  <a:lnTo>
                    <a:pt x="4270679" y="975601"/>
                  </a:lnTo>
                  <a:lnTo>
                    <a:pt x="4304169" y="942124"/>
                  </a:lnTo>
                  <a:lnTo>
                    <a:pt x="4316399" y="896404"/>
                  </a:lnTo>
                  <a:lnTo>
                    <a:pt x="4316375" y="91440"/>
                  </a:lnTo>
                  <a:lnTo>
                    <a:pt x="4304169" y="46088"/>
                  </a:lnTo>
                  <a:lnTo>
                    <a:pt x="4270679" y="12598"/>
                  </a:lnTo>
                  <a:lnTo>
                    <a:pt x="4224959" y="368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681436" y="4041358"/>
              <a:ext cx="4316730" cy="988060"/>
            </a:xfrm>
            <a:custGeom>
              <a:avLst/>
              <a:gdLst/>
              <a:ahLst/>
              <a:cxnLst/>
              <a:rect l="l" t="t" r="r" b="b"/>
              <a:pathLst>
                <a:path w="4316730" h="988060">
                  <a:moveTo>
                    <a:pt x="368" y="91440"/>
                  </a:moveTo>
                  <a:lnTo>
                    <a:pt x="1166" y="79440"/>
                  </a:lnTo>
                  <a:lnTo>
                    <a:pt x="3516" y="67775"/>
                  </a:lnTo>
                  <a:lnTo>
                    <a:pt x="27047" y="26690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4224959" y="368"/>
                  </a:lnTo>
                  <a:lnTo>
                    <a:pt x="4270679" y="12598"/>
                  </a:lnTo>
                  <a:lnTo>
                    <a:pt x="4304169" y="46088"/>
                  </a:lnTo>
                  <a:lnTo>
                    <a:pt x="4316399" y="91808"/>
                  </a:lnTo>
                  <a:lnTo>
                    <a:pt x="4316399" y="896404"/>
                  </a:lnTo>
                  <a:lnTo>
                    <a:pt x="4315601" y="908409"/>
                  </a:lnTo>
                  <a:lnTo>
                    <a:pt x="4313251" y="920073"/>
                  </a:lnTo>
                  <a:lnTo>
                    <a:pt x="4289720" y="961162"/>
                  </a:lnTo>
                  <a:lnTo>
                    <a:pt x="4248634" y="984694"/>
                  </a:lnTo>
                  <a:lnTo>
                    <a:pt x="4224959" y="987844"/>
                  </a:lnTo>
                  <a:lnTo>
                    <a:pt x="91439" y="987844"/>
                  </a:lnTo>
                  <a:lnTo>
                    <a:pt x="45719" y="975601"/>
                  </a:lnTo>
                  <a:lnTo>
                    <a:pt x="12242" y="942124"/>
                  </a:lnTo>
                  <a:lnTo>
                    <a:pt x="0" y="896404"/>
                  </a:lnTo>
                  <a:lnTo>
                    <a:pt x="368" y="91440"/>
                  </a:lnTo>
                  <a:close/>
                </a:path>
              </a:pathLst>
            </a:custGeom>
            <a:ln w="12599">
              <a:solidFill>
                <a:srgbClr val="00C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773244" y="4297682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62669" y="7426"/>
                  </a:lnTo>
                  <a:lnTo>
                    <a:pt x="109791" y="29159"/>
                  </a:lnTo>
                  <a:lnTo>
                    <a:pt x="64252" y="64168"/>
                  </a:lnTo>
                  <a:lnTo>
                    <a:pt x="29514" y="109435"/>
                  </a:lnTo>
                  <a:lnTo>
                    <a:pt x="7466" y="162452"/>
                  </a:lnTo>
                  <a:lnTo>
                    <a:pt x="0" y="219240"/>
                  </a:lnTo>
                  <a:lnTo>
                    <a:pt x="1877" y="247937"/>
                  </a:lnTo>
                  <a:lnTo>
                    <a:pt x="16700" y="303175"/>
                  </a:lnTo>
                  <a:lnTo>
                    <a:pt x="45397" y="352826"/>
                  </a:lnTo>
                  <a:lnTo>
                    <a:pt x="85807" y="393232"/>
                  </a:lnTo>
                  <a:lnTo>
                    <a:pt x="135504" y="421980"/>
                  </a:lnTo>
                  <a:lnTo>
                    <a:pt x="190846" y="436906"/>
                  </a:lnTo>
                  <a:lnTo>
                    <a:pt x="219595" y="438835"/>
                  </a:lnTo>
                  <a:lnTo>
                    <a:pt x="248137" y="436906"/>
                  </a:lnTo>
                  <a:lnTo>
                    <a:pt x="303325" y="421980"/>
                  </a:lnTo>
                  <a:lnTo>
                    <a:pt x="353021" y="393232"/>
                  </a:lnTo>
                  <a:lnTo>
                    <a:pt x="393432" y="352826"/>
                  </a:lnTo>
                  <a:lnTo>
                    <a:pt x="422130" y="303175"/>
                  </a:lnTo>
                  <a:lnTo>
                    <a:pt x="436956" y="247937"/>
                  </a:lnTo>
                  <a:lnTo>
                    <a:pt x="438835" y="219240"/>
                  </a:lnTo>
                  <a:lnTo>
                    <a:pt x="436956" y="190542"/>
                  </a:lnTo>
                  <a:lnTo>
                    <a:pt x="422130" y="135304"/>
                  </a:lnTo>
                  <a:lnTo>
                    <a:pt x="393432" y="85653"/>
                  </a:lnTo>
                  <a:lnTo>
                    <a:pt x="353021" y="45247"/>
                  </a:lnTo>
                  <a:lnTo>
                    <a:pt x="303325" y="16555"/>
                  </a:lnTo>
                  <a:lnTo>
                    <a:pt x="248137" y="1873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C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773244" y="4297682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0" y="219240"/>
                  </a:moveTo>
                  <a:lnTo>
                    <a:pt x="1877" y="190542"/>
                  </a:lnTo>
                  <a:lnTo>
                    <a:pt x="7466" y="162452"/>
                  </a:lnTo>
                  <a:lnTo>
                    <a:pt x="29514" y="109435"/>
                  </a:lnTo>
                  <a:lnTo>
                    <a:pt x="64252" y="64168"/>
                  </a:lnTo>
                  <a:lnTo>
                    <a:pt x="109791" y="29159"/>
                  </a:lnTo>
                  <a:lnTo>
                    <a:pt x="162669" y="7426"/>
                  </a:lnTo>
                  <a:lnTo>
                    <a:pt x="219595" y="0"/>
                  </a:lnTo>
                  <a:lnTo>
                    <a:pt x="276204" y="7426"/>
                  </a:lnTo>
                  <a:lnTo>
                    <a:pt x="329031" y="29159"/>
                  </a:lnTo>
                  <a:lnTo>
                    <a:pt x="374576" y="64168"/>
                  </a:lnTo>
                  <a:lnTo>
                    <a:pt x="409321" y="109435"/>
                  </a:lnTo>
                  <a:lnTo>
                    <a:pt x="431365" y="162452"/>
                  </a:lnTo>
                  <a:lnTo>
                    <a:pt x="438835" y="219240"/>
                  </a:lnTo>
                  <a:lnTo>
                    <a:pt x="436956" y="247937"/>
                  </a:lnTo>
                  <a:lnTo>
                    <a:pt x="431365" y="276028"/>
                  </a:lnTo>
                  <a:lnTo>
                    <a:pt x="409321" y="329044"/>
                  </a:lnTo>
                  <a:lnTo>
                    <a:pt x="374576" y="374311"/>
                  </a:lnTo>
                  <a:lnTo>
                    <a:pt x="329031" y="409321"/>
                  </a:lnTo>
                  <a:lnTo>
                    <a:pt x="276204" y="431231"/>
                  </a:lnTo>
                  <a:lnTo>
                    <a:pt x="219595" y="438835"/>
                  </a:lnTo>
                  <a:lnTo>
                    <a:pt x="162669" y="431231"/>
                  </a:lnTo>
                  <a:lnTo>
                    <a:pt x="109791" y="409321"/>
                  </a:lnTo>
                  <a:lnTo>
                    <a:pt x="64252" y="374311"/>
                  </a:lnTo>
                  <a:lnTo>
                    <a:pt x="29514" y="329044"/>
                  </a:lnTo>
                  <a:lnTo>
                    <a:pt x="7466" y="276028"/>
                  </a:lnTo>
                  <a:lnTo>
                    <a:pt x="1877" y="247937"/>
                  </a:lnTo>
                  <a:lnTo>
                    <a:pt x="0" y="219240"/>
                  </a:lnTo>
                  <a:close/>
                </a:path>
              </a:pathLst>
            </a:custGeom>
            <a:ln w="12599">
              <a:solidFill>
                <a:srgbClr val="00C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4941620" y="4412782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380456" y="4166541"/>
            <a:ext cx="111188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20" dirty="0">
                <a:solidFill>
                  <a:srgbClr val="FFFFFF"/>
                </a:solidFill>
                <a:latin typeface="Calibri"/>
                <a:cs typeface="Calibri"/>
              </a:rPr>
              <a:t>Ver</a:t>
            </a:r>
            <a:r>
              <a:rPr sz="95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Reporte Incidente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380456" y="4611499"/>
            <a:ext cx="198501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cat</a:t>
            </a:r>
            <a:r>
              <a:rPr sz="750" spc="3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/var/log/banco/incidente-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*.txt</a:t>
            </a:r>
            <a:endParaRPr sz="7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475" dirty="0">
                <a:solidFill>
                  <a:srgbClr val="000000"/>
                </a:solidFill>
                <a:latin typeface="MingLiU_HKSCS-ExtB"/>
                <a:cs typeface="MingLiU_HKSCS-ExtB"/>
              </a:rPr>
              <a:t>📋</a:t>
            </a:r>
            <a:r>
              <a:rPr sz="2800" b="0" spc="300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spc="97" baseline="1322" dirty="0"/>
              <a:t>DOCUMENTO</a:t>
            </a:r>
            <a:r>
              <a:rPr sz="3150" spc="330" baseline="1322" dirty="0"/>
              <a:t> </a:t>
            </a:r>
            <a:r>
              <a:rPr sz="3150" baseline="1322" dirty="0"/>
              <a:t>DE</a:t>
            </a:r>
            <a:r>
              <a:rPr sz="3150" spc="345" baseline="1322" dirty="0"/>
              <a:t> </a:t>
            </a:r>
            <a:r>
              <a:rPr sz="3150" spc="112" baseline="1322" dirty="0"/>
              <a:t>INCIDENTE</a:t>
            </a:r>
            <a:endParaRPr sz="3150" baseline="1322" dirty="0">
              <a:latin typeface="MingLiU_HKSCS-ExtB"/>
              <a:cs typeface="MingLiU_HKSCS-ExtB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9519" y="668504"/>
            <a:ext cx="8957945" cy="780035"/>
            <a:chOff x="119519" y="668504"/>
            <a:chExt cx="8957945" cy="965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668504"/>
              <a:ext cx="8957525" cy="9655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0875" y="749886"/>
              <a:ext cx="8742045" cy="749935"/>
            </a:xfrm>
            <a:custGeom>
              <a:avLst/>
              <a:gdLst/>
              <a:ahLst/>
              <a:cxnLst/>
              <a:rect l="l" t="t" r="r" b="b"/>
              <a:pathLst>
                <a:path w="8742045" h="749935">
                  <a:moveTo>
                    <a:pt x="8649728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30"/>
                  </a:lnTo>
                  <a:lnTo>
                    <a:pt x="6986" y="56505"/>
                  </a:lnTo>
                  <a:lnTo>
                    <a:pt x="0" y="91440"/>
                  </a:lnTo>
                  <a:lnTo>
                    <a:pt x="0" y="658431"/>
                  </a:lnTo>
                  <a:lnTo>
                    <a:pt x="774" y="670080"/>
                  </a:lnTo>
                  <a:lnTo>
                    <a:pt x="798" y="670438"/>
                  </a:lnTo>
                  <a:lnTo>
                    <a:pt x="3076" y="681745"/>
                  </a:lnTo>
                  <a:lnTo>
                    <a:pt x="3149" y="682105"/>
                  </a:lnTo>
                  <a:lnTo>
                    <a:pt x="6863" y="693005"/>
                  </a:lnTo>
                  <a:lnTo>
                    <a:pt x="35683" y="731040"/>
                  </a:lnTo>
                  <a:lnTo>
                    <a:pt x="79440" y="749073"/>
                  </a:lnTo>
                  <a:lnTo>
                    <a:pt x="91439" y="749871"/>
                  </a:lnTo>
                  <a:lnTo>
                    <a:pt x="8650084" y="749515"/>
                  </a:lnTo>
                  <a:lnTo>
                    <a:pt x="8695804" y="737273"/>
                  </a:lnTo>
                  <a:lnTo>
                    <a:pt x="8729281" y="703795"/>
                  </a:lnTo>
                  <a:lnTo>
                    <a:pt x="8740653" y="670438"/>
                  </a:lnTo>
                  <a:lnTo>
                    <a:pt x="8740725" y="670080"/>
                  </a:lnTo>
                  <a:lnTo>
                    <a:pt x="8741500" y="658431"/>
                  </a:lnTo>
                  <a:lnTo>
                    <a:pt x="8741524" y="658075"/>
                  </a:lnTo>
                  <a:lnTo>
                    <a:pt x="8741168" y="91440"/>
                  </a:lnTo>
                  <a:lnTo>
                    <a:pt x="8728925" y="45720"/>
                  </a:lnTo>
                  <a:lnTo>
                    <a:pt x="8695448" y="12230"/>
                  </a:lnTo>
                  <a:lnTo>
                    <a:pt x="8661728" y="798"/>
                  </a:lnTo>
                  <a:lnTo>
                    <a:pt x="864972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875" y="749886"/>
              <a:ext cx="8742045" cy="749935"/>
            </a:xfrm>
            <a:custGeom>
              <a:avLst/>
              <a:gdLst/>
              <a:ahLst/>
              <a:cxnLst/>
              <a:rect l="l" t="t" r="r" b="b"/>
              <a:pathLst>
                <a:path w="8742045" h="749935">
                  <a:moveTo>
                    <a:pt x="0" y="91440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90" y="26679"/>
                  </a:lnTo>
                  <a:lnTo>
                    <a:pt x="67775" y="3148"/>
                  </a:lnTo>
                  <a:lnTo>
                    <a:pt x="91439" y="0"/>
                  </a:lnTo>
                  <a:lnTo>
                    <a:pt x="8649728" y="0"/>
                  </a:lnTo>
                  <a:lnTo>
                    <a:pt x="8695448" y="12230"/>
                  </a:lnTo>
                  <a:lnTo>
                    <a:pt x="8728925" y="45720"/>
                  </a:lnTo>
                  <a:lnTo>
                    <a:pt x="8741168" y="91440"/>
                  </a:lnTo>
                  <a:lnTo>
                    <a:pt x="8741524" y="658075"/>
                  </a:lnTo>
                  <a:lnTo>
                    <a:pt x="8740725" y="670080"/>
                  </a:lnTo>
                  <a:lnTo>
                    <a:pt x="8738374" y="681745"/>
                  </a:lnTo>
                  <a:lnTo>
                    <a:pt x="8714838" y="722834"/>
                  </a:lnTo>
                  <a:lnTo>
                    <a:pt x="8673753" y="746366"/>
                  </a:lnTo>
                  <a:lnTo>
                    <a:pt x="91439" y="749871"/>
                  </a:lnTo>
                  <a:lnTo>
                    <a:pt x="45720" y="737641"/>
                  </a:lnTo>
                  <a:lnTo>
                    <a:pt x="12242" y="704151"/>
                  </a:lnTo>
                  <a:lnTo>
                    <a:pt x="0" y="658431"/>
                  </a:lnTo>
                  <a:lnTo>
                    <a:pt x="0" y="91440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4001" y="971922"/>
            <a:ext cx="150939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950" b="1" dirty="0">
                <a:solidFill>
                  <a:srgbClr val="FF3A2F"/>
                </a:solidFill>
                <a:latin typeface="Calibri"/>
                <a:cs typeface="Calibri"/>
              </a:rPr>
              <a:t>RESUMEN </a:t>
            </a:r>
            <a:r>
              <a:rPr sz="950" b="1" dirty="0">
                <a:solidFill>
                  <a:srgbClr val="FF3A2F"/>
                </a:solidFill>
                <a:latin typeface="Calibri"/>
                <a:cs typeface="Calibri"/>
              </a:rPr>
              <a:t>DEL</a:t>
            </a:r>
            <a:r>
              <a:rPr sz="950" b="1" spc="50" dirty="0">
                <a:solidFill>
                  <a:srgbClr val="FF3A2F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FF3A2F"/>
                </a:solidFill>
                <a:latin typeface="Calibri"/>
                <a:cs typeface="Calibri"/>
              </a:rPr>
              <a:t>INCIDENTE</a:t>
            </a:r>
            <a:endParaRPr sz="950" dirty="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875" y="1582549"/>
            <a:ext cx="1908175" cy="3507740"/>
            <a:chOff x="119875" y="1582549"/>
            <a:chExt cx="1908175" cy="350774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875" y="1582549"/>
              <a:ext cx="1907641" cy="35074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875" y="1663562"/>
              <a:ext cx="1692275" cy="3292475"/>
            </a:xfrm>
            <a:custGeom>
              <a:avLst/>
              <a:gdLst/>
              <a:ahLst/>
              <a:cxnLst/>
              <a:rect l="l" t="t" r="r" b="b"/>
              <a:pathLst>
                <a:path w="1692275" h="329247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3200755"/>
                  </a:lnTo>
                  <a:lnTo>
                    <a:pt x="798" y="3212762"/>
                  </a:lnTo>
                  <a:lnTo>
                    <a:pt x="18843" y="3256519"/>
                  </a:lnTo>
                  <a:lnTo>
                    <a:pt x="56512" y="3285214"/>
                  </a:lnTo>
                  <a:lnTo>
                    <a:pt x="91439" y="3292195"/>
                  </a:lnTo>
                  <a:lnTo>
                    <a:pt x="1600568" y="3292195"/>
                  </a:lnTo>
                  <a:lnTo>
                    <a:pt x="1646288" y="3279965"/>
                  </a:lnTo>
                  <a:lnTo>
                    <a:pt x="1679765" y="3246475"/>
                  </a:lnTo>
                  <a:lnTo>
                    <a:pt x="1692008" y="3200755"/>
                  </a:lnTo>
                  <a:lnTo>
                    <a:pt x="1691984" y="91439"/>
                  </a:lnTo>
                  <a:lnTo>
                    <a:pt x="1679765" y="46075"/>
                  </a:lnTo>
                  <a:lnTo>
                    <a:pt x="1646288" y="12598"/>
                  </a:lnTo>
                  <a:lnTo>
                    <a:pt x="160056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875" y="1663562"/>
              <a:ext cx="1692275" cy="3292475"/>
            </a:xfrm>
            <a:custGeom>
              <a:avLst/>
              <a:gdLst/>
              <a:ahLst/>
              <a:cxnLst/>
              <a:rect l="l" t="t" r="r" b="b"/>
              <a:pathLst>
                <a:path w="1692275" h="3292475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600568" y="355"/>
                  </a:lnTo>
                  <a:lnTo>
                    <a:pt x="1646288" y="12598"/>
                  </a:lnTo>
                  <a:lnTo>
                    <a:pt x="1679765" y="46075"/>
                  </a:lnTo>
                  <a:lnTo>
                    <a:pt x="1692008" y="91795"/>
                  </a:lnTo>
                  <a:lnTo>
                    <a:pt x="1692008" y="3200755"/>
                  </a:lnTo>
                  <a:lnTo>
                    <a:pt x="1691209" y="3212762"/>
                  </a:lnTo>
                  <a:lnTo>
                    <a:pt x="1688858" y="3224429"/>
                  </a:lnTo>
                  <a:lnTo>
                    <a:pt x="1665317" y="3265516"/>
                  </a:lnTo>
                  <a:lnTo>
                    <a:pt x="1624233" y="3289047"/>
                  </a:lnTo>
                  <a:lnTo>
                    <a:pt x="1600568" y="3292195"/>
                  </a:lnTo>
                  <a:lnTo>
                    <a:pt x="91439" y="3292195"/>
                  </a:lnTo>
                  <a:lnTo>
                    <a:pt x="45720" y="3279965"/>
                  </a:lnTo>
                  <a:lnTo>
                    <a:pt x="12242" y="3246475"/>
                  </a:lnTo>
                  <a:lnTo>
                    <a:pt x="0" y="3200755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01244" y="1663917"/>
              <a:ext cx="1691639" cy="548640"/>
            </a:xfrm>
            <a:custGeom>
              <a:avLst/>
              <a:gdLst/>
              <a:ahLst/>
              <a:cxnLst/>
              <a:rect l="l" t="t" r="r" b="b"/>
              <a:pathLst>
                <a:path w="1691639" h="548639">
                  <a:moveTo>
                    <a:pt x="159983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457200"/>
                  </a:lnTo>
                  <a:lnTo>
                    <a:pt x="774" y="468849"/>
                  </a:lnTo>
                  <a:lnTo>
                    <a:pt x="798" y="469206"/>
                  </a:lnTo>
                  <a:lnTo>
                    <a:pt x="3075" y="480514"/>
                  </a:lnTo>
                  <a:lnTo>
                    <a:pt x="3148" y="480874"/>
                  </a:lnTo>
                  <a:lnTo>
                    <a:pt x="6858" y="491773"/>
                  </a:lnTo>
                  <a:lnTo>
                    <a:pt x="6981" y="492134"/>
                  </a:lnTo>
                  <a:lnTo>
                    <a:pt x="35675" y="529809"/>
                  </a:lnTo>
                  <a:lnTo>
                    <a:pt x="79433" y="547841"/>
                  </a:lnTo>
                  <a:lnTo>
                    <a:pt x="91439" y="548640"/>
                  </a:lnTo>
                  <a:lnTo>
                    <a:pt x="1600200" y="548284"/>
                  </a:lnTo>
                  <a:lnTo>
                    <a:pt x="1645920" y="536041"/>
                  </a:lnTo>
                  <a:lnTo>
                    <a:pt x="1679397" y="502564"/>
                  </a:lnTo>
                  <a:lnTo>
                    <a:pt x="1688367" y="480874"/>
                  </a:lnTo>
                  <a:lnTo>
                    <a:pt x="1688490" y="480514"/>
                  </a:lnTo>
                  <a:lnTo>
                    <a:pt x="1690769" y="469206"/>
                  </a:lnTo>
                  <a:lnTo>
                    <a:pt x="1690841" y="468849"/>
                  </a:lnTo>
                  <a:lnTo>
                    <a:pt x="1691616" y="457200"/>
                  </a:lnTo>
                  <a:lnTo>
                    <a:pt x="1691271" y="91439"/>
                  </a:lnTo>
                  <a:lnTo>
                    <a:pt x="1679041" y="45720"/>
                  </a:lnTo>
                  <a:lnTo>
                    <a:pt x="1645551" y="12242"/>
                  </a:lnTo>
                  <a:lnTo>
                    <a:pt x="1611838" y="798"/>
                  </a:lnTo>
                  <a:lnTo>
                    <a:pt x="1599831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1244" y="1663917"/>
              <a:ext cx="1691639" cy="548640"/>
            </a:xfrm>
            <a:custGeom>
              <a:avLst/>
              <a:gdLst/>
              <a:ahLst/>
              <a:cxnLst/>
              <a:rect l="l" t="t" r="r" b="b"/>
              <a:pathLst>
                <a:path w="1691639" h="548639">
                  <a:moveTo>
                    <a:pt x="0" y="91439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599831" y="0"/>
                  </a:lnTo>
                  <a:lnTo>
                    <a:pt x="1645551" y="12242"/>
                  </a:lnTo>
                  <a:lnTo>
                    <a:pt x="1679041" y="45720"/>
                  </a:lnTo>
                  <a:lnTo>
                    <a:pt x="1691271" y="91439"/>
                  </a:lnTo>
                  <a:lnTo>
                    <a:pt x="1691639" y="456844"/>
                  </a:lnTo>
                  <a:lnTo>
                    <a:pt x="1690841" y="468849"/>
                  </a:lnTo>
                  <a:lnTo>
                    <a:pt x="1688490" y="480514"/>
                  </a:lnTo>
                  <a:lnTo>
                    <a:pt x="1664949" y="521598"/>
                  </a:lnTo>
                  <a:lnTo>
                    <a:pt x="1623864" y="545134"/>
                  </a:lnTo>
                  <a:lnTo>
                    <a:pt x="91439" y="548640"/>
                  </a:lnTo>
                  <a:lnTo>
                    <a:pt x="45720" y="536409"/>
                  </a:lnTo>
                  <a:lnTo>
                    <a:pt x="12230" y="502920"/>
                  </a:lnTo>
                  <a:lnTo>
                    <a:pt x="0" y="45720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1244" y="1938237"/>
              <a:ext cx="1691639" cy="274320"/>
            </a:xfrm>
            <a:custGeom>
              <a:avLst/>
              <a:gdLst/>
              <a:ahLst/>
              <a:cxnLst/>
              <a:rect l="l" t="t" r="r" b="b"/>
              <a:pathLst>
                <a:path w="1691639" h="274319">
                  <a:moveTo>
                    <a:pt x="1691271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845629" y="273964"/>
                  </a:lnTo>
                  <a:lnTo>
                    <a:pt x="1691271" y="273964"/>
                  </a:lnTo>
                  <a:lnTo>
                    <a:pt x="1691271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01244" y="1938237"/>
              <a:ext cx="1691639" cy="274320"/>
            </a:xfrm>
            <a:custGeom>
              <a:avLst/>
              <a:gdLst/>
              <a:ahLst/>
              <a:cxnLst/>
              <a:rect l="l" t="t" r="r" b="b"/>
              <a:pathLst>
                <a:path w="1691639" h="274319">
                  <a:moveTo>
                    <a:pt x="845629" y="273964"/>
                  </a:moveTo>
                  <a:lnTo>
                    <a:pt x="0" y="273964"/>
                  </a:lnTo>
                  <a:lnTo>
                    <a:pt x="0" y="0"/>
                  </a:lnTo>
                  <a:lnTo>
                    <a:pt x="1691271" y="0"/>
                  </a:lnTo>
                  <a:lnTo>
                    <a:pt x="1691271" y="273964"/>
                  </a:lnTo>
                  <a:lnTo>
                    <a:pt x="845629" y="273964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76694" y="1780821"/>
            <a:ext cx="73977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PREPARACIÓN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9976" y="2318298"/>
            <a:ext cx="120078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Segmentación</a:t>
            </a:r>
            <a:r>
              <a:rPr sz="750" spc="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iptables</a:t>
            </a:r>
            <a:r>
              <a:rPr sz="7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activa</a:t>
            </a:r>
            <a:r>
              <a:rPr sz="7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E7EFFF"/>
                </a:solidFill>
                <a:latin typeface="Calibri"/>
                <a:cs typeface="Calibri"/>
              </a:rPr>
              <a:t>·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UFW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7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todas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las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VMs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E7EFFF"/>
                </a:solidFill>
                <a:latin typeface="Calibri"/>
                <a:cs typeface="Calibri"/>
              </a:rPr>
              <a:t>·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Hardening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 SSH puerto</a:t>
            </a:r>
            <a:r>
              <a:rPr sz="7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2222</a:t>
            </a:r>
            <a:r>
              <a:rPr sz="7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E7EFFF"/>
                </a:solidFill>
                <a:latin typeface="Calibri"/>
                <a:cs typeface="Calibri"/>
              </a:rPr>
              <a:t>·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Fail2ban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router-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fw y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E7EFFF"/>
                </a:solidFill>
                <a:latin typeface="Calibri"/>
                <a:cs typeface="Calibri"/>
              </a:rPr>
              <a:t>siem-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audit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·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rsyslog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centralizado</a:t>
            </a:r>
            <a:r>
              <a:rPr sz="7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E7EFFF"/>
                </a:solidFill>
                <a:latin typeface="Calibri"/>
                <a:cs typeface="Calibri"/>
              </a:rPr>
              <a:t>·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Backup</a:t>
            </a:r>
            <a:r>
              <a:rPr sz="7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GPG</a:t>
            </a:r>
            <a:r>
              <a:rPr sz="7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diario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884603" y="1582549"/>
            <a:ext cx="1908175" cy="3507740"/>
            <a:chOff x="1884603" y="1582549"/>
            <a:chExt cx="1908175" cy="3507740"/>
          </a:xfrm>
        </p:grpSpPr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4603" y="1582549"/>
              <a:ext cx="1907641" cy="350749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965604" y="1663562"/>
              <a:ext cx="1692275" cy="3292475"/>
            </a:xfrm>
            <a:custGeom>
              <a:avLst/>
              <a:gdLst/>
              <a:ahLst/>
              <a:cxnLst/>
              <a:rect l="l" t="t" r="r" b="b"/>
              <a:pathLst>
                <a:path w="1692275" h="32924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3200755"/>
                  </a:lnTo>
                  <a:lnTo>
                    <a:pt x="798" y="3212762"/>
                  </a:lnTo>
                  <a:lnTo>
                    <a:pt x="18830" y="3256519"/>
                  </a:lnTo>
                  <a:lnTo>
                    <a:pt x="56505" y="3285214"/>
                  </a:lnTo>
                  <a:lnTo>
                    <a:pt x="91440" y="3292195"/>
                  </a:lnTo>
                  <a:lnTo>
                    <a:pt x="1600555" y="3292195"/>
                  </a:lnTo>
                  <a:lnTo>
                    <a:pt x="1646275" y="3279965"/>
                  </a:lnTo>
                  <a:lnTo>
                    <a:pt x="1679752" y="3246475"/>
                  </a:lnTo>
                  <a:lnTo>
                    <a:pt x="1691995" y="3200755"/>
                  </a:lnTo>
                  <a:lnTo>
                    <a:pt x="1691971" y="91439"/>
                  </a:lnTo>
                  <a:lnTo>
                    <a:pt x="1679752" y="46075"/>
                  </a:lnTo>
                  <a:lnTo>
                    <a:pt x="1646275" y="12598"/>
                  </a:lnTo>
                  <a:lnTo>
                    <a:pt x="1600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65604" y="1663562"/>
              <a:ext cx="1692275" cy="3292475"/>
            </a:xfrm>
            <a:custGeom>
              <a:avLst/>
              <a:gdLst/>
              <a:ahLst/>
              <a:cxnLst/>
              <a:rect l="l" t="t" r="r" b="b"/>
              <a:pathLst>
                <a:path w="1692275" h="329247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81"/>
                  </a:lnTo>
                  <a:lnTo>
                    <a:pt x="68125" y="3149"/>
                  </a:lnTo>
                  <a:lnTo>
                    <a:pt x="91795" y="0"/>
                  </a:lnTo>
                  <a:lnTo>
                    <a:pt x="1600555" y="355"/>
                  </a:lnTo>
                  <a:lnTo>
                    <a:pt x="1646275" y="12598"/>
                  </a:lnTo>
                  <a:lnTo>
                    <a:pt x="1679752" y="46075"/>
                  </a:lnTo>
                  <a:lnTo>
                    <a:pt x="1691995" y="91795"/>
                  </a:lnTo>
                  <a:lnTo>
                    <a:pt x="1691995" y="3200755"/>
                  </a:lnTo>
                  <a:lnTo>
                    <a:pt x="1691197" y="3212762"/>
                  </a:lnTo>
                  <a:lnTo>
                    <a:pt x="1688846" y="3224429"/>
                  </a:lnTo>
                  <a:lnTo>
                    <a:pt x="1665314" y="3265516"/>
                  </a:lnTo>
                  <a:lnTo>
                    <a:pt x="1624225" y="3289047"/>
                  </a:lnTo>
                  <a:lnTo>
                    <a:pt x="1600555" y="3292195"/>
                  </a:lnTo>
                  <a:lnTo>
                    <a:pt x="91440" y="3292195"/>
                  </a:lnTo>
                  <a:lnTo>
                    <a:pt x="45720" y="3279965"/>
                  </a:lnTo>
                  <a:lnTo>
                    <a:pt x="12230" y="3246475"/>
                  </a:lnTo>
                  <a:lnTo>
                    <a:pt x="0" y="320075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965959" y="1663917"/>
              <a:ext cx="1691639" cy="548640"/>
            </a:xfrm>
            <a:custGeom>
              <a:avLst/>
              <a:gdLst/>
              <a:ahLst/>
              <a:cxnLst/>
              <a:rect l="l" t="t" r="r" b="b"/>
              <a:pathLst>
                <a:path w="1691639" h="548639">
                  <a:moveTo>
                    <a:pt x="1599844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457200"/>
                  </a:lnTo>
                  <a:lnTo>
                    <a:pt x="774" y="468849"/>
                  </a:lnTo>
                  <a:lnTo>
                    <a:pt x="798" y="469206"/>
                  </a:lnTo>
                  <a:lnTo>
                    <a:pt x="3076" y="480514"/>
                  </a:lnTo>
                  <a:lnTo>
                    <a:pt x="3149" y="480874"/>
                  </a:lnTo>
                  <a:lnTo>
                    <a:pt x="6863" y="491773"/>
                  </a:lnTo>
                  <a:lnTo>
                    <a:pt x="6986" y="492134"/>
                  </a:lnTo>
                  <a:lnTo>
                    <a:pt x="35676" y="529809"/>
                  </a:lnTo>
                  <a:lnTo>
                    <a:pt x="79434" y="547841"/>
                  </a:lnTo>
                  <a:lnTo>
                    <a:pt x="91439" y="548640"/>
                  </a:lnTo>
                  <a:lnTo>
                    <a:pt x="1600200" y="548284"/>
                  </a:lnTo>
                  <a:lnTo>
                    <a:pt x="1645919" y="536041"/>
                  </a:lnTo>
                  <a:lnTo>
                    <a:pt x="1679397" y="502564"/>
                  </a:lnTo>
                  <a:lnTo>
                    <a:pt x="1688367" y="480874"/>
                  </a:lnTo>
                  <a:lnTo>
                    <a:pt x="1688490" y="480514"/>
                  </a:lnTo>
                  <a:lnTo>
                    <a:pt x="1690769" y="469206"/>
                  </a:lnTo>
                  <a:lnTo>
                    <a:pt x="1690841" y="468849"/>
                  </a:lnTo>
                  <a:lnTo>
                    <a:pt x="1691616" y="457200"/>
                  </a:lnTo>
                  <a:lnTo>
                    <a:pt x="1691284" y="91439"/>
                  </a:lnTo>
                  <a:lnTo>
                    <a:pt x="1679041" y="45720"/>
                  </a:lnTo>
                  <a:lnTo>
                    <a:pt x="1645564" y="12242"/>
                  </a:lnTo>
                  <a:lnTo>
                    <a:pt x="1611844" y="798"/>
                  </a:lnTo>
                  <a:lnTo>
                    <a:pt x="1599844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65959" y="1663917"/>
              <a:ext cx="1691639" cy="548640"/>
            </a:xfrm>
            <a:custGeom>
              <a:avLst/>
              <a:gdLst/>
              <a:ahLst/>
              <a:cxnLst/>
              <a:rect l="l" t="t" r="r" b="b"/>
              <a:pathLst>
                <a:path w="1691639" h="548639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1599844" y="0"/>
                  </a:lnTo>
                  <a:lnTo>
                    <a:pt x="1645564" y="12242"/>
                  </a:lnTo>
                  <a:lnTo>
                    <a:pt x="1679041" y="45720"/>
                  </a:lnTo>
                  <a:lnTo>
                    <a:pt x="1691284" y="91439"/>
                  </a:lnTo>
                  <a:lnTo>
                    <a:pt x="1691639" y="456844"/>
                  </a:lnTo>
                  <a:lnTo>
                    <a:pt x="1690841" y="468849"/>
                  </a:lnTo>
                  <a:lnTo>
                    <a:pt x="1688490" y="480514"/>
                  </a:lnTo>
                  <a:lnTo>
                    <a:pt x="1664958" y="521598"/>
                  </a:lnTo>
                  <a:lnTo>
                    <a:pt x="1623869" y="545134"/>
                  </a:lnTo>
                  <a:lnTo>
                    <a:pt x="91439" y="548640"/>
                  </a:lnTo>
                  <a:lnTo>
                    <a:pt x="45719" y="536409"/>
                  </a:lnTo>
                  <a:lnTo>
                    <a:pt x="12242" y="502920"/>
                  </a:lnTo>
                  <a:lnTo>
                    <a:pt x="0" y="45720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65959" y="1938237"/>
              <a:ext cx="1691639" cy="274320"/>
            </a:xfrm>
            <a:custGeom>
              <a:avLst/>
              <a:gdLst/>
              <a:ahLst/>
              <a:cxnLst/>
              <a:rect l="l" t="t" r="r" b="b"/>
              <a:pathLst>
                <a:path w="1691639" h="274319">
                  <a:moveTo>
                    <a:pt x="1691284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845642" y="273964"/>
                  </a:lnTo>
                  <a:lnTo>
                    <a:pt x="1691284" y="273964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65959" y="1938237"/>
              <a:ext cx="1691639" cy="274320"/>
            </a:xfrm>
            <a:custGeom>
              <a:avLst/>
              <a:gdLst/>
              <a:ahLst/>
              <a:cxnLst/>
              <a:rect l="l" t="t" r="r" b="b"/>
              <a:pathLst>
                <a:path w="1691639" h="274319">
                  <a:moveTo>
                    <a:pt x="845642" y="273964"/>
                  </a:moveTo>
                  <a:lnTo>
                    <a:pt x="0" y="273964"/>
                  </a:lnTo>
                  <a:lnTo>
                    <a:pt x="0" y="0"/>
                  </a:lnTo>
                  <a:lnTo>
                    <a:pt x="1691284" y="0"/>
                  </a:lnTo>
                  <a:lnTo>
                    <a:pt x="1691284" y="273964"/>
                  </a:lnTo>
                  <a:lnTo>
                    <a:pt x="845642" y="273964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90305" y="1780821"/>
            <a:ext cx="8407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IDENTIFICACIÓN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34704" y="2318298"/>
            <a:ext cx="1191260" cy="82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67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[UFW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BLOCK]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SRC=192.168.100.189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DPT=22,443,8080</a:t>
            </a:r>
            <a:endParaRPr sz="7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Failed</a:t>
            </a:r>
            <a:r>
              <a:rPr sz="7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password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 for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adming11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from</a:t>
            </a:r>
            <a:r>
              <a:rPr sz="7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192.168.100.189</a:t>
            </a:r>
            <a:endParaRPr sz="750">
              <a:latin typeface="Calibri"/>
              <a:cs typeface="Calibri"/>
            </a:endParaRPr>
          </a:p>
          <a:p>
            <a:pPr marL="12700" marR="100330">
              <a:lnSpc>
                <a:spcPct val="100000"/>
              </a:lnSpc>
            </a:pP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PAM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3</a:t>
            </a:r>
            <a:r>
              <a:rPr sz="7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more</a:t>
            </a:r>
            <a:r>
              <a:rPr sz="7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authentication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failures</a:t>
            </a:r>
            <a:r>
              <a:rPr sz="7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from</a:t>
            </a:r>
            <a:r>
              <a:rPr sz="750" spc="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20" dirty="0">
                <a:solidFill>
                  <a:srgbClr val="E7EFFF"/>
                </a:solidFill>
                <a:latin typeface="Calibri"/>
                <a:cs typeface="Calibri"/>
              </a:rPr>
              <a:t>.189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49319" y="1582549"/>
            <a:ext cx="1908175" cy="3507740"/>
            <a:chOff x="3649319" y="1582549"/>
            <a:chExt cx="1908175" cy="350774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9319" y="1582549"/>
              <a:ext cx="1907641" cy="350749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730320" y="1663562"/>
              <a:ext cx="1692275" cy="3292475"/>
            </a:xfrm>
            <a:custGeom>
              <a:avLst/>
              <a:gdLst/>
              <a:ahLst/>
              <a:cxnLst/>
              <a:rect l="l" t="t" r="r" b="b"/>
              <a:pathLst>
                <a:path w="1692275" h="32924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3200755"/>
                  </a:lnTo>
                  <a:lnTo>
                    <a:pt x="798" y="3212762"/>
                  </a:lnTo>
                  <a:lnTo>
                    <a:pt x="18836" y="3256519"/>
                  </a:lnTo>
                  <a:lnTo>
                    <a:pt x="56505" y="3285214"/>
                  </a:lnTo>
                  <a:lnTo>
                    <a:pt x="91439" y="3292195"/>
                  </a:lnTo>
                  <a:lnTo>
                    <a:pt x="1600555" y="3292195"/>
                  </a:lnTo>
                  <a:lnTo>
                    <a:pt x="1646275" y="3279965"/>
                  </a:lnTo>
                  <a:lnTo>
                    <a:pt x="1679765" y="3246475"/>
                  </a:lnTo>
                  <a:lnTo>
                    <a:pt x="1691995" y="3200755"/>
                  </a:lnTo>
                  <a:lnTo>
                    <a:pt x="1691971" y="91439"/>
                  </a:lnTo>
                  <a:lnTo>
                    <a:pt x="1679765" y="46075"/>
                  </a:lnTo>
                  <a:lnTo>
                    <a:pt x="1646275" y="12598"/>
                  </a:lnTo>
                  <a:lnTo>
                    <a:pt x="1600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30320" y="1663562"/>
              <a:ext cx="1692275" cy="3292475"/>
            </a:xfrm>
            <a:custGeom>
              <a:avLst/>
              <a:gdLst/>
              <a:ahLst/>
              <a:cxnLst/>
              <a:rect l="l" t="t" r="r" b="b"/>
              <a:pathLst>
                <a:path w="1692275" h="329247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81"/>
                  </a:lnTo>
                  <a:lnTo>
                    <a:pt x="68130" y="3149"/>
                  </a:lnTo>
                  <a:lnTo>
                    <a:pt x="91795" y="0"/>
                  </a:lnTo>
                  <a:lnTo>
                    <a:pt x="1600555" y="355"/>
                  </a:lnTo>
                  <a:lnTo>
                    <a:pt x="1646275" y="12598"/>
                  </a:lnTo>
                  <a:lnTo>
                    <a:pt x="1679765" y="46075"/>
                  </a:lnTo>
                  <a:lnTo>
                    <a:pt x="1691995" y="91795"/>
                  </a:lnTo>
                  <a:lnTo>
                    <a:pt x="1691995" y="3200755"/>
                  </a:lnTo>
                  <a:lnTo>
                    <a:pt x="1691197" y="3212762"/>
                  </a:lnTo>
                  <a:lnTo>
                    <a:pt x="1688847" y="3224429"/>
                  </a:lnTo>
                  <a:lnTo>
                    <a:pt x="1665316" y="3265516"/>
                  </a:lnTo>
                  <a:lnTo>
                    <a:pt x="1624229" y="3289047"/>
                  </a:lnTo>
                  <a:lnTo>
                    <a:pt x="1600555" y="3292195"/>
                  </a:lnTo>
                  <a:lnTo>
                    <a:pt x="91439" y="3292195"/>
                  </a:lnTo>
                  <a:lnTo>
                    <a:pt x="45720" y="3279965"/>
                  </a:lnTo>
                  <a:lnTo>
                    <a:pt x="12242" y="3246475"/>
                  </a:lnTo>
                  <a:lnTo>
                    <a:pt x="0" y="320075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30675" y="1663917"/>
              <a:ext cx="1691639" cy="548640"/>
            </a:xfrm>
            <a:custGeom>
              <a:avLst/>
              <a:gdLst/>
              <a:ahLst/>
              <a:cxnLst/>
              <a:rect l="l" t="t" r="r" b="b"/>
              <a:pathLst>
                <a:path w="1691639" h="548639">
                  <a:moveTo>
                    <a:pt x="159984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457200"/>
                  </a:lnTo>
                  <a:lnTo>
                    <a:pt x="774" y="468849"/>
                  </a:lnTo>
                  <a:lnTo>
                    <a:pt x="798" y="469206"/>
                  </a:lnTo>
                  <a:lnTo>
                    <a:pt x="18843" y="512964"/>
                  </a:lnTo>
                  <a:lnTo>
                    <a:pt x="56512" y="541658"/>
                  </a:lnTo>
                  <a:lnTo>
                    <a:pt x="91439" y="548640"/>
                  </a:lnTo>
                  <a:lnTo>
                    <a:pt x="1600200" y="548284"/>
                  </a:lnTo>
                  <a:lnTo>
                    <a:pt x="1645919" y="536041"/>
                  </a:lnTo>
                  <a:lnTo>
                    <a:pt x="1679409" y="502564"/>
                  </a:lnTo>
                  <a:lnTo>
                    <a:pt x="1688369" y="480874"/>
                  </a:lnTo>
                  <a:lnTo>
                    <a:pt x="1688491" y="480514"/>
                  </a:lnTo>
                  <a:lnTo>
                    <a:pt x="1690769" y="469206"/>
                  </a:lnTo>
                  <a:lnTo>
                    <a:pt x="1690841" y="468849"/>
                  </a:lnTo>
                  <a:lnTo>
                    <a:pt x="1691616" y="457200"/>
                  </a:lnTo>
                  <a:lnTo>
                    <a:pt x="1691284" y="91439"/>
                  </a:lnTo>
                  <a:lnTo>
                    <a:pt x="1679041" y="45720"/>
                  </a:lnTo>
                  <a:lnTo>
                    <a:pt x="1645564" y="12242"/>
                  </a:lnTo>
                  <a:lnTo>
                    <a:pt x="1611849" y="798"/>
                  </a:lnTo>
                  <a:lnTo>
                    <a:pt x="1599844" y="0"/>
                  </a:lnTo>
                  <a:close/>
                </a:path>
              </a:pathLst>
            </a:custGeom>
            <a:solidFill>
              <a:srgbClr val="FF3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30675" y="1663917"/>
              <a:ext cx="1691639" cy="548640"/>
            </a:xfrm>
            <a:custGeom>
              <a:avLst/>
              <a:gdLst/>
              <a:ahLst/>
              <a:cxnLst/>
              <a:rect l="l" t="t" r="r" b="b"/>
              <a:pathLst>
                <a:path w="1691639" h="548639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90" y="26690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599844" y="0"/>
                  </a:lnTo>
                  <a:lnTo>
                    <a:pt x="1645564" y="12242"/>
                  </a:lnTo>
                  <a:lnTo>
                    <a:pt x="1679041" y="45720"/>
                  </a:lnTo>
                  <a:lnTo>
                    <a:pt x="1691284" y="91439"/>
                  </a:lnTo>
                  <a:lnTo>
                    <a:pt x="1691639" y="456844"/>
                  </a:lnTo>
                  <a:lnTo>
                    <a:pt x="1690841" y="468849"/>
                  </a:lnTo>
                  <a:lnTo>
                    <a:pt x="1688491" y="480514"/>
                  </a:lnTo>
                  <a:lnTo>
                    <a:pt x="1664960" y="521598"/>
                  </a:lnTo>
                  <a:lnTo>
                    <a:pt x="1623874" y="545134"/>
                  </a:lnTo>
                  <a:lnTo>
                    <a:pt x="91439" y="548640"/>
                  </a:lnTo>
                  <a:lnTo>
                    <a:pt x="45719" y="536409"/>
                  </a:lnTo>
                  <a:lnTo>
                    <a:pt x="12242" y="502920"/>
                  </a:lnTo>
                  <a:lnTo>
                    <a:pt x="0" y="45720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30675" y="1938237"/>
              <a:ext cx="1691639" cy="274320"/>
            </a:xfrm>
            <a:custGeom>
              <a:avLst/>
              <a:gdLst/>
              <a:ahLst/>
              <a:cxnLst/>
              <a:rect l="l" t="t" r="r" b="b"/>
              <a:pathLst>
                <a:path w="1691639" h="274319">
                  <a:moveTo>
                    <a:pt x="1691284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845642" y="273964"/>
                  </a:lnTo>
                  <a:lnTo>
                    <a:pt x="1691284" y="273964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FF3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533023" y="1780821"/>
            <a:ext cx="869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30497" y="1938237"/>
            <a:ext cx="1692275" cy="274320"/>
          </a:xfrm>
          <a:prstGeom prst="rect">
            <a:avLst/>
          </a:prstGeom>
          <a:ln w="12599">
            <a:solidFill>
              <a:srgbClr val="FF3A2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7365">
              <a:lnSpc>
                <a:spcPct val="100000"/>
              </a:lnSpc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CONTENCIÓN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899420" y="2318298"/>
            <a:ext cx="1179830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Fail2ban</a:t>
            </a:r>
            <a:r>
              <a:rPr sz="7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detectó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13+</a:t>
            </a:r>
            <a:r>
              <a:rPr sz="7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intentos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fallidos</a:t>
            </a:r>
            <a:r>
              <a:rPr sz="7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7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&lt;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5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E7EFFF"/>
                </a:solidFill>
                <a:latin typeface="Calibri"/>
                <a:cs typeface="Calibri"/>
              </a:rPr>
              <a:t>min</a:t>
            </a:r>
            <a:endParaRPr sz="750">
              <a:latin typeface="Calibri"/>
              <a:cs typeface="Calibri"/>
            </a:endParaRPr>
          </a:p>
          <a:p>
            <a:pPr marL="12700" marR="198755">
              <a:lnSpc>
                <a:spcPct val="100000"/>
              </a:lnSpc>
            </a:pP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Baneó</a:t>
            </a:r>
            <a:r>
              <a:rPr sz="750" spc="-4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automáticamente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192.168.100.189</a:t>
            </a:r>
            <a:endParaRPr sz="750">
              <a:latin typeface="Calibri"/>
              <a:cs typeface="Calibri"/>
            </a:endParaRPr>
          </a:p>
          <a:p>
            <a:pPr marL="12700" marR="151765">
              <a:lnSpc>
                <a:spcPts val="900"/>
              </a:lnSpc>
              <a:spcBef>
                <a:spcPts val="35"/>
              </a:spcBef>
            </a:pP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SSH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attacker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 →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router-</a:t>
            </a:r>
            <a:r>
              <a:rPr sz="750" spc="-25" dirty="0">
                <a:solidFill>
                  <a:srgbClr val="E7EFFF"/>
                </a:solidFill>
                <a:latin typeface="Calibri"/>
                <a:cs typeface="Calibri"/>
              </a:rPr>
              <a:t>fw: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Connection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 refused</a:t>
            </a:r>
            <a:r>
              <a:rPr sz="750" spc="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125" dirty="0">
                <a:solidFill>
                  <a:srgbClr val="E7EFFF"/>
                </a:solidFill>
                <a:latin typeface="MingLiU_HKSCS-ExtB"/>
                <a:cs typeface="MingLiU_HKSCS-ExtB"/>
              </a:rPr>
              <a:t>✅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Portal</a:t>
            </a:r>
            <a:r>
              <a:rPr sz="7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bancario</a:t>
            </a:r>
            <a:r>
              <a:rPr sz="7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continuó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operando</a:t>
            </a:r>
            <a:r>
              <a:rPr sz="750" spc="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normalmente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414035" y="1582549"/>
            <a:ext cx="1908175" cy="3507740"/>
            <a:chOff x="5414035" y="1582549"/>
            <a:chExt cx="1908175" cy="3507740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4035" y="1582549"/>
              <a:ext cx="1907641" cy="3507498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495036" y="1663562"/>
              <a:ext cx="1692275" cy="3292475"/>
            </a:xfrm>
            <a:custGeom>
              <a:avLst/>
              <a:gdLst/>
              <a:ahLst/>
              <a:cxnLst/>
              <a:rect l="l" t="t" r="r" b="b"/>
              <a:pathLst>
                <a:path w="1692275" h="3292475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3200755"/>
                  </a:lnTo>
                  <a:lnTo>
                    <a:pt x="798" y="3212762"/>
                  </a:lnTo>
                  <a:lnTo>
                    <a:pt x="18843" y="3256519"/>
                  </a:lnTo>
                  <a:lnTo>
                    <a:pt x="56512" y="3285214"/>
                  </a:lnTo>
                  <a:lnTo>
                    <a:pt x="91439" y="3292195"/>
                  </a:lnTo>
                  <a:lnTo>
                    <a:pt x="1600568" y="3292195"/>
                  </a:lnTo>
                  <a:lnTo>
                    <a:pt x="1646288" y="3279965"/>
                  </a:lnTo>
                  <a:lnTo>
                    <a:pt x="1679765" y="3246475"/>
                  </a:lnTo>
                  <a:lnTo>
                    <a:pt x="1692008" y="3200755"/>
                  </a:lnTo>
                  <a:lnTo>
                    <a:pt x="1691984" y="91439"/>
                  </a:lnTo>
                  <a:lnTo>
                    <a:pt x="1679765" y="46075"/>
                  </a:lnTo>
                  <a:lnTo>
                    <a:pt x="1646288" y="12598"/>
                  </a:lnTo>
                  <a:lnTo>
                    <a:pt x="160056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95036" y="1663562"/>
              <a:ext cx="1692275" cy="3292475"/>
            </a:xfrm>
            <a:custGeom>
              <a:avLst/>
              <a:gdLst/>
              <a:ahLst/>
              <a:cxnLst/>
              <a:rect l="l" t="t" r="r" b="b"/>
              <a:pathLst>
                <a:path w="1692275" h="3292475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600568" y="355"/>
                  </a:lnTo>
                  <a:lnTo>
                    <a:pt x="1646288" y="12598"/>
                  </a:lnTo>
                  <a:lnTo>
                    <a:pt x="1679765" y="46075"/>
                  </a:lnTo>
                  <a:lnTo>
                    <a:pt x="1692008" y="91795"/>
                  </a:lnTo>
                  <a:lnTo>
                    <a:pt x="1692008" y="3200755"/>
                  </a:lnTo>
                  <a:lnTo>
                    <a:pt x="1691209" y="3212762"/>
                  </a:lnTo>
                  <a:lnTo>
                    <a:pt x="1688858" y="3224429"/>
                  </a:lnTo>
                  <a:lnTo>
                    <a:pt x="1665317" y="3265516"/>
                  </a:lnTo>
                  <a:lnTo>
                    <a:pt x="1624233" y="3289047"/>
                  </a:lnTo>
                  <a:lnTo>
                    <a:pt x="1600568" y="3292195"/>
                  </a:lnTo>
                  <a:lnTo>
                    <a:pt x="91439" y="3292195"/>
                  </a:lnTo>
                  <a:lnTo>
                    <a:pt x="45719" y="3279965"/>
                  </a:lnTo>
                  <a:lnTo>
                    <a:pt x="12242" y="3246475"/>
                  </a:lnTo>
                  <a:lnTo>
                    <a:pt x="0" y="3200755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495404" y="1663917"/>
              <a:ext cx="1691639" cy="548640"/>
            </a:xfrm>
            <a:custGeom>
              <a:avLst/>
              <a:gdLst/>
              <a:ahLst/>
              <a:cxnLst/>
              <a:rect l="l" t="t" r="r" b="b"/>
              <a:pathLst>
                <a:path w="1691640" h="548639">
                  <a:moveTo>
                    <a:pt x="1599831" y="0"/>
                  </a:moveTo>
                  <a:lnTo>
                    <a:pt x="91439" y="0"/>
                  </a:lnTo>
                  <a:lnTo>
                    <a:pt x="79433" y="798"/>
                  </a:lnTo>
                  <a:lnTo>
                    <a:pt x="35675" y="18843"/>
                  </a:lnTo>
                  <a:lnTo>
                    <a:pt x="6981" y="56512"/>
                  </a:lnTo>
                  <a:lnTo>
                    <a:pt x="0" y="91439"/>
                  </a:lnTo>
                  <a:lnTo>
                    <a:pt x="0" y="457200"/>
                  </a:lnTo>
                  <a:lnTo>
                    <a:pt x="774" y="468849"/>
                  </a:lnTo>
                  <a:lnTo>
                    <a:pt x="798" y="469206"/>
                  </a:lnTo>
                  <a:lnTo>
                    <a:pt x="3075" y="480514"/>
                  </a:lnTo>
                  <a:lnTo>
                    <a:pt x="3148" y="480874"/>
                  </a:lnTo>
                  <a:lnTo>
                    <a:pt x="26679" y="521960"/>
                  </a:lnTo>
                  <a:lnTo>
                    <a:pt x="67765" y="545491"/>
                  </a:lnTo>
                  <a:lnTo>
                    <a:pt x="91439" y="548640"/>
                  </a:lnTo>
                  <a:lnTo>
                    <a:pt x="1600199" y="548284"/>
                  </a:lnTo>
                  <a:lnTo>
                    <a:pt x="1645919" y="536041"/>
                  </a:lnTo>
                  <a:lnTo>
                    <a:pt x="1679397" y="502564"/>
                  </a:lnTo>
                  <a:lnTo>
                    <a:pt x="1688367" y="480874"/>
                  </a:lnTo>
                  <a:lnTo>
                    <a:pt x="1688490" y="480514"/>
                  </a:lnTo>
                  <a:lnTo>
                    <a:pt x="1690769" y="469206"/>
                  </a:lnTo>
                  <a:lnTo>
                    <a:pt x="1690841" y="468849"/>
                  </a:lnTo>
                  <a:lnTo>
                    <a:pt x="1691616" y="457200"/>
                  </a:lnTo>
                  <a:lnTo>
                    <a:pt x="1691639" y="456844"/>
                  </a:lnTo>
                  <a:lnTo>
                    <a:pt x="1691271" y="91439"/>
                  </a:lnTo>
                  <a:lnTo>
                    <a:pt x="1679041" y="45720"/>
                  </a:lnTo>
                  <a:lnTo>
                    <a:pt x="1645551" y="12242"/>
                  </a:lnTo>
                  <a:lnTo>
                    <a:pt x="1611838" y="798"/>
                  </a:lnTo>
                  <a:lnTo>
                    <a:pt x="1599831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495404" y="1663917"/>
              <a:ext cx="1691639" cy="548640"/>
            </a:xfrm>
            <a:custGeom>
              <a:avLst/>
              <a:gdLst/>
              <a:ahLst/>
              <a:cxnLst/>
              <a:rect l="l" t="t" r="r" b="b"/>
              <a:pathLst>
                <a:path w="1691640" h="548639">
                  <a:moveTo>
                    <a:pt x="0" y="91439"/>
                  </a:moveTo>
                  <a:lnTo>
                    <a:pt x="798" y="79440"/>
                  </a:lnTo>
                  <a:lnTo>
                    <a:pt x="3148" y="67775"/>
                  </a:lnTo>
                  <a:lnTo>
                    <a:pt x="26679" y="26690"/>
                  </a:lnTo>
                  <a:lnTo>
                    <a:pt x="67765" y="3149"/>
                  </a:lnTo>
                  <a:lnTo>
                    <a:pt x="91439" y="0"/>
                  </a:lnTo>
                  <a:lnTo>
                    <a:pt x="1599831" y="0"/>
                  </a:lnTo>
                  <a:lnTo>
                    <a:pt x="1645551" y="12242"/>
                  </a:lnTo>
                  <a:lnTo>
                    <a:pt x="1679041" y="45720"/>
                  </a:lnTo>
                  <a:lnTo>
                    <a:pt x="1691271" y="91439"/>
                  </a:lnTo>
                  <a:lnTo>
                    <a:pt x="1691639" y="456844"/>
                  </a:lnTo>
                  <a:lnTo>
                    <a:pt x="1690841" y="468849"/>
                  </a:lnTo>
                  <a:lnTo>
                    <a:pt x="1688490" y="480514"/>
                  </a:lnTo>
                  <a:lnTo>
                    <a:pt x="1664949" y="521598"/>
                  </a:lnTo>
                  <a:lnTo>
                    <a:pt x="1623864" y="545134"/>
                  </a:lnTo>
                  <a:lnTo>
                    <a:pt x="91439" y="548640"/>
                  </a:lnTo>
                  <a:lnTo>
                    <a:pt x="45720" y="536409"/>
                  </a:lnTo>
                  <a:lnTo>
                    <a:pt x="12230" y="502920"/>
                  </a:lnTo>
                  <a:lnTo>
                    <a:pt x="0" y="45720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495404" y="1938237"/>
              <a:ext cx="1691639" cy="274320"/>
            </a:xfrm>
            <a:custGeom>
              <a:avLst/>
              <a:gdLst/>
              <a:ahLst/>
              <a:cxnLst/>
              <a:rect l="l" t="t" r="r" b="b"/>
              <a:pathLst>
                <a:path w="1691640" h="274319">
                  <a:moveTo>
                    <a:pt x="1691271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845629" y="273964"/>
                  </a:lnTo>
                  <a:lnTo>
                    <a:pt x="1691271" y="273964"/>
                  </a:lnTo>
                  <a:lnTo>
                    <a:pt x="1691271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495404" y="1938237"/>
              <a:ext cx="1691639" cy="274320"/>
            </a:xfrm>
            <a:custGeom>
              <a:avLst/>
              <a:gdLst/>
              <a:ahLst/>
              <a:cxnLst/>
              <a:rect l="l" t="t" r="r" b="b"/>
              <a:pathLst>
                <a:path w="1691640" h="274319">
                  <a:moveTo>
                    <a:pt x="845629" y="273964"/>
                  </a:moveTo>
                  <a:lnTo>
                    <a:pt x="0" y="273964"/>
                  </a:lnTo>
                  <a:lnTo>
                    <a:pt x="0" y="0"/>
                  </a:lnTo>
                  <a:lnTo>
                    <a:pt x="1691271" y="0"/>
                  </a:lnTo>
                  <a:lnTo>
                    <a:pt x="1691271" y="273964"/>
                  </a:lnTo>
                  <a:lnTo>
                    <a:pt x="845629" y="27396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944946" y="1780821"/>
            <a:ext cx="7918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9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ERRADICACIÓN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664136" y="2318298"/>
            <a:ext cx="1250950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876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IP</a:t>
            </a:r>
            <a:r>
              <a:rPr sz="7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baneada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600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 segundos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(configurable)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Logs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del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ataque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preservados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/var/log/banco/</a:t>
            </a:r>
            <a:endParaRPr sz="750">
              <a:latin typeface="Calibri"/>
              <a:cs typeface="Calibri"/>
            </a:endParaRPr>
          </a:p>
          <a:p>
            <a:pPr marL="12700" marR="132715">
              <a:lnSpc>
                <a:spcPct val="100000"/>
              </a:lnSpc>
            </a:pP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Base</a:t>
            </a:r>
            <a:r>
              <a:rPr sz="7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7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datos</a:t>
            </a:r>
            <a:r>
              <a:rPr sz="7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verificada:</a:t>
            </a:r>
            <a:r>
              <a:rPr sz="750" spc="-25" dirty="0">
                <a:solidFill>
                  <a:srgbClr val="E7EFFF"/>
                </a:solidFill>
                <a:latin typeface="Calibri"/>
                <a:cs typeface="Calibri"/>
              </a:rPr>
              <a:t> sin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modificaciones</a:t>
            </a:r>
            <a:endParaRPr sz="750">
              <a:latin typeface="Calibri"/>
              <a:cs typeface="Calibri"/>
            </a:endParaRPr>
          </a:p>
          <a:p>
            <a:pPr marL="12700" marR="82550">
              <a:lnSpc>
                <a:spcPct val="100000"/>
              </a:lnSpc>
              <a:spcBef>
                <a:spcPts val="5"/>
              </a:spcBef>
            </a:pPr>
            <a:r>
              <a:rPr sz="750" spc="-20" dirty="0">
                <a:solidFill>
                  <a:srgbClr val="E7EFFF"/>
                </a:solidFill>
                <a:latin typeface="Calibri"/>
                <a:cs typeface="Calibri"/>
              </a:rPr>
              <a:t>Todos</a:t>
            </a:r>
            <a:r>
              <a:rPr sz="7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los</a:t>
            </a:r>
            <a:r>
              <a:rPr sz="7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servicios</a:t>
            </a:r>
            <a:r>
              <a:rPr sz="7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operativos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durante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el</a:t>
            </a:r>
            <a:r>
              <a:rPr sz="7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ataque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179119" y="1582549"/>
            <a:ext cx="1908175" cy="3507740"/>
            <a:chOff x="7179119" y="1582549"/>
            <a:chExt cx="1908175" cy="3507740"/>
          </a:xfrm>
        </p:grpSpPr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9119" y="1582549"/>
              <a:ext cx="1907641" cy="350749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260119" y="1663562"/>
              <a:ext cx="1692275" cy="3292475"/>
            </a:xfrm>
            <a:custGeom>
              <a:avLst/>
              <a:gdLst/>
              <a:ahLst/>
              <a:cxnLst/>
              <a:rect l="l" t="t" r="r" b="b"/>
              <a:pathLst>
                <a:path w="1692275" h="3292475">
                  <a:moveTo>
                    <a:pt x="91795" y="0"/>
                  </a:moveTo>
                  <a:lnTo>
                    <a:pt x="46075" y="12242"/>
                  </a:lnTo>
                  <a:lnTo>
                    <a:pt x="12598" y="45719"/>
                  </a:lnTo>
                  <a:lnTo>
                    <a:pt x="355" y="91439"/>
                  </a:lnTo>
                  <a:lnTo>
                    <a:pt x="0" y="3200755"/>
                  </a:lnTo>
                  <a:lnTo>
                    <a:pt x="798" y="3212762"/>
                  </a:lnTo>
                  <a:lnTo>
                    <a:pt x="18836" y="3256519"/>
                  </a:lnTo>
                  <a:lnTo>
                    <a:pt x="56510" y="3285214"/>
                  </a:lnTo>
                  <a:lnTo>
                    <a:pt x="91440" y="3292195"/>
                  </a:lnTo>
                  <a:lnTo>
                    <a:pt x="1600555" y="3292195"/>
                  </a:lnTo>
                  <a:lnTo>
                    <a:pt x="1646275" y="3279965"/>
                  </a:lnTo>
                  <a:lnTo>
                    <a:pt x="1679765" y="3246475"/>
                  </a:lnTo>
                  <a:lnTo>
                    <a:pt x="1691995" y="3200755"/>
                  </a:lnTo>
                  <a:lnTo>
                    <a:pt x="1691971" y="91439"/>
                  </a:lnTo>
                  <a:lnTo>
                    <a:pt x="1679765" y="46075"/>
                  </a:lnTo>
                  <a:lnTo>
                    <a:pt x="1646275" y="12598"/>
                  </a:lnTo>
                  <a:lnTo>
                    <a:pt x="160055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260119" y="1663562"/>
              <a:ext cx="1692275" cy="3292475"/>
            </a:xfrm>
            <a:custGeom>
              <a:avLst/>
              <a:gdLst/>
              <a:ahLst/>
              <a:cxnLst/>
              <a:rect l="l" t="t" r="r" b="b"/>
              <a:pathLst>
                <a:path w="1692275" h="329247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81"/>
                  </a:lnTo>
                  <a:lnTo>
                    <a:pt x="68130" y="3149"/>
                  </a:lnTo>
                  <a:lnTo>
                    <a:pt x="91795" y="0"/>
                  </a:lnTo>
                  <a:lnTo>
                    <a:pt x="1600555" y="355"/>
                  </a:lnTo>
                  <a:lnTo>
                    <a:pt x="1646275" y="12598"/>
                  </a:lnTo>
                  <a:lnTo>
                    <a:pt x="1679765" y="46075"/>
                  </a:lnTo>
                  <a:lnTo>
                    <a:pt x="1691995" y="91795"/>
                  </a:lnTo>
                  <a:lnTo>
                    <a:pt x="1691995" y="3200755"/>
                  </a:lnTo>
                  <a:lnTo>
                    <a:pt x="1691197" y="3212762"/>
                  </a:lnTo>
                  <a:lnTo>
                    <a:pt x="1688847" y="3224429"/>
                  </a:lnTo>
                  <a:lnTo>
                    <a:pt x="1665316" y="3265516"/>
                  </a:lnTo>
                  <a:lnTo>
                    <a:pt x="1624229" y="3289047"/>
                  </a:lnTo>
                  <a:lnTo>
                    <a:pt x="1600555" y="3292195"/>
                  </a:lnTo>
                  <a:lnTo>
                    <a:pt x="91440" y="3292195"/>
                  </a:lnTo>
                  <a:lnTo>
                    <a:pt x="45720" y="3279965"/>
                  </a:lnTo>
                  <a:lnTo>
                    <a:pt x="12242" y="3246475"/>
                  </a:lnTo>
                  <a:lnTo>
                    <a:pt x="0" y="320075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260475" y="1663917"/>
              <a:ext cx="1691639" cy="548640"/>
            </a:xfrm>
            <a:custGeom>
              <a:avLst/>
              <a:gdLst/>
              <a:ahLst/>
              <a:cxnLst/>
              <a:rect l="l" t="t" r="r" b="b"/>
              <a:pathLst>
                <a:path w="1691640" h="548639">
                  <a:moveTo>
                    <a:pt x="1599844" y="0"/>
                  </a:moveTo>
                  <a:lnTo>
                    <a:pt x="91439" y="0"/>
                  </a:lnTo>
                  <a:lnTo>
                    <a:pt x="79440" y="798"/>
                  </a:lnTo>
                  <a:lnTo>
                    <a:pt x="35683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457200"/>
                  </a:lnTo>
                  <a:lnTo>
                    <a:pt x="774" y="468849"/>
                  </a:lnTo>
                  <a:lnTo>
                    <a:pt x="798" y="469206"/>
                  </a:lnTo>
                  <a:lnTo>
                    <a:pt x="3076" y="480514"/>
                  </a:lnTo>
                  <a:lnTo>
                    <a:pt x="3149" y="480874"/>
                  </a:lnTo>
                  <a:lnTo>
                    <a:pt x="26690" y="521960"/>
                  </a:lnTo>
                  <a:lnTo>
                    <a:pt x="67775" y="545491"/>
                  </a:lnTo>
                  <a:lnTo>
                    <a:pt x="91439" y="548640"/>
                  </a:lnTo>
                  <a:lnTo>
                    <a:pt x="1600200" y="548284"/>
                  </a:lnTo>
                  <a:lnTo>
                    <a:pt x="1645920" y="536041"/>
                  </a:lnTo>
                  <a:lnTo>
                    <a:pt x="1679409" y="502564"/>
                  </a:lnTo>
                  <a:lnTo>
                    <a:pt x="1688369" y="480874"/>
                  </a:lnTo>
                  <a:lnTo>
                    <a:pt x="1688491" y="480514"/>
                  </a:lnTo>
                  <a:lnTo>
                    <a:pt x="1690769" y="469206"/>
                  </a:lnTo>
                  <a:lnTo>
                    <a:pt x="1690841" y="468849"/>
                  </a:lnTo>
                  <a:lnTo>
                    <a:pt x="1691616" y="457200"/>
                  </a:lnTo>
                  <a:lnTo>
                    <a:pt x="1691284" y="91439"/>
                  </a:lnTo>
                  <a:lnTo>
                    <a:pt x="1679041" y="45720"/>
                  </a:lnTo>
                  <a:lnTo>
                    <a:pt x="1645564" y="12242"/>
                  </a:lnTo>
                  <a:lnTo>
                    <a:pt x="1611849" y="798"/>
                  </a:lnTo>
                  <a:lnTo>
                    <a:pt x="1599844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260475" y="1663917"/>
              <a:ext cx="1691639" cy="548640"/>
            </a:xfrm>
            <a:custGeom>
              <a:avLst/>
              <a:gdLst/>
              <a:ahLst/>
              <a:cxnLst/>
              <a:rect l="l" t="t" r="r" b="b"/>
              <a:pathLst>
                <a:path w="1691640" h="548639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90" y="26690"/>
                  </a:lnTo>
                  <a:lnTo>
                    <a:pt x="67775" y="3149"/>
                  </a:lnTo>
                  <a:lnTo>
                    <a:pt x="91439" y="0"/>
                  </a:lnTo>
                  <a:lnTo>
                    <a:pt x="1599844" y="0"/>
                  </a:lnTo>
                  <a:lnTo>
                    <a:pt x="1645564" y="12242"/>
                  </a:lnTo>
                  <a:lnTo>
                    <a:pt x="1679041" y="45720"/>
                  </a:lnTo>
                  <a:lnTo>
                    <a:pt x="1691284" y="91439"/>
                  </a:lnTo>
                  <a:lnTo>
                    <a:pt x="1691639" y="456844"/>
                  </a:lnTo>
                  <a:lnTo>
                    <a:pt x="1690841" y="468849"/>
                  </a:lnTo>
                  <a:lnTo>
                    <a:pt x="1688491" y="480514"/>
                  </a:lnTo>
                  <a:lnTo>
                    <a:pt x="1664960" y="521598"/>
                  </a:lnTo>
                  <a:lnTo>
                    <a:pt x="1623874" y="545134"/>
                  </a:lnTo>
                  <a:lnTo>
                    <a:pt x="91439" y="548640"/>
                  </a:lnTo>
                  <a:lnTo>
                    <a:pt x="45720" y="536409"/>
                  </a:lnTo>
                  <a:lnTo>
                    <a:pt x="12242" y="502920"/>
                  </a:lnTo>
                  <a:lnTo>
                    <a:pt x="0" y="45720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60475" y="1938237"/>
              <a:ext cx="1691639" cy="274320"/>
            </a:xfrm>
            <a:custGeom>
              <a:avLst/>
              <a:gdLst/>
              <a:ahLst/>
              <a:cxnLst/>
              <a:rect l="l" t="t" r="r" b="b"/>
              <a:pathLst>
                <a:path w="1691640" h="274319">
                  <a:moveTo>
                    <a:pt x="1691284" y="0"/>
                  </a:moveTo>
                  <a:lnTo>
                    <a:pt x="0" y="0"/>
                  </a:lnTo>
                  <a:lnTo>
                    <a:pt x="0" y="273964"/>
                  </a:lnTo>
                  <a:lnTo>
                    <a:pt x="845642" y="273964"/>
                  </a:lnTo>
                  <a:lnTo>
                    <a:pt x="1691284" y="273964"/>
                  </a:lnTo>
                  <a:lnTo>
                    <a:pt x="1691284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8062823" y="1780821"/>
            <a:ext cx="869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260297" y="1938237"/>
            <a:ext cx="1692275" cy="274320"/>
          </a:xfrm>
          <a:prstGeom prst="rect">
            <a:avLst/>
          </a:prstGeom>
          <a:ln w="12599">
            <a:solidFill>
              <a:srgbClr val="0790B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3390">
              <a:lnSpc>
                <a:spcPct val="100000"/>
              </a:lnSpc>
            </a:pPr>
            <a:r>
              <a:rPr sz="950" b="1" spc="-10" dirty="0">
                <a:solidFill>
                  <a:srgbClr val="FFFFFF"/>
                </a:solidFill>
                <a:latin typeface="Calibri"/>
                <a:cs typeface="Calibri"/>
              </a:rPr>
              <a:t>RECUPERACIÓN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429220" y="2318298"/>
            <a:ext cx="1350010" cy="10560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38735">
              <a:lnSpc>
                <a:spcPts val="900"/>
              </a:lnSpc>
              <a:spcBef>
                <a:spcPts val="130"/>
              </a:spcBef>
            </a:pP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Portal: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  <a:hlinkClick r:id="rId4"/>
              </a:rPr>
              <a:t>https://bancoseguro.rootcode.co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m.bo</a:t>
            </a:r>
            <a:r>
              <a:rPr sz="7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125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50">
              <a:latin typeface="MingLiU_HKSCS-ExtB"/>
              <a:cs typeface="MingLiU_HKSCS-ExtB"/>
            </a:endParaRPr>
          </a:p>
          <a:p>
            <a:pPr marL="12700" marR="5080">
              <a:lnSpc>
                <a:spcPts val="900"/>
              </a:lnSpc>
              <a:spcBef>
                <a:spcPts val="5"/>
              </a:spcBef>
            </a:pP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API</a:t>
            </a:r>
            <a:r>
              <a:rPr sz="750" spc="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bancaria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operativa</a:t>
            </a:r>
            <a:r>
              <a:rPr sz="7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125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r>
              <a:rPr sz="750" spc="125" dirty="0">
                <a:solidFill>
                  <a:srgbClr val="E7EFFF"/>
                </a:solidFill>
                <a:latin typeface="Calibri"/>
                <a:cs typeface="Calibri"/>
              </a:rPr>
              <a:t>·</a:t>
            </a:r>
            <a:r>
              <a:rPr sz="7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BD</a:t>
            </a:r>
            <a:r>
              <a:rPr sz="7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25" dirty="0">
                <a:solidFill>
                  <a:srgbClr val="E7EFFF"/>
                </a:solidFill>
                <a:latin typeface="Calibri"/>
                <a:cs typeface="Calibri"/>
              </a:rPr>
              <a:t>sin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comprometer</a:t>
            </a:r>
            <a:r>
              <a:rPr sz="750" spc="4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125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50">
              <a:latin typeface="MingLiU_HKSCS-ExtB"/>
              <a:cs typeface="MingLiU_HKSCS-ExtB"/>
            </a:endParaRPr>
          </a:p>
          <a:p>
            <a:pPr marL="12700" marR="124460">
              <a:lnSpc>
                <a:spcPts val="900"/>
              </a:lnSpc>
            </a:pP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Reporte</a:t>
            </a:r>
            <a:r>
              <a:rPr sz="7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750" spc="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incidente</a:t>
            </a:r>
            <a:r>
              <a:rPr sz="7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generado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automáticamente</a:t>
            </a:r>
            <a:endParaRPr sz="750">
              <a:latin typeface="Calibri"/>
              <a:cs typeface="Calibri"/>
            </a:endParaRPr>
          </a:p>
          <a:p>
            <a:pPr marL="12700" marR="311150">
              <a:lnSpc>
                <a:spcPts val="900"/>
              </a:lnSpc>
              <a:spcBef>
                <a:spcPts val="5"/>
              </a:spcBef>
            </a:pP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Lección:</a:t>
            </a:r>
            <a:r>
              <a:rPr sz="750" spc="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Defense-in-</a:t>
            </a:r>
            <a:r>
              <a:rPr sz="750" spc="-20" dirty="0">
                <a:solidFill>
                  <a:srgbClr val="E7EFFF"/>
                </a:solidFill>
                <a:latin typeface="Calibri"/>
                <a:cs typeface="Calibri"/>
              </a:rPr>
              <a:t>depth</a:t>
            </a:r>
            <a:r>
              <a:rPr sz="7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dirty="0">
                <a:solidFill>
                  <a:srgbClr val="E7EFFF"/>
                </a:solidFill>
                <a:latin typeface="Calibri"/>
                <a:cs typeface="Calibri"/>
              </a:rPr>
              <a:t>funcionó</a:t>
            </a:r>
            <a:r>
              <a:rPr sz="7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E7EFFF"/>
                </a:solidFill>
                <a:latin typeface="Calibri"/>
                <a:cs typeface="Calibri"/>
              </a:rPr>
              <a:t>correctamente</a:t>
            </a:r>
            <a:endParaRPr sz="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00" b="0" spc="475" dirty="0">
                <a:solidFill>
                  <a:srgbClr val="000000"/>
                </a:solidFill>
                <a:latin typeface="MingLiU_HKSCS-ExtB"/>
                <a:cs typeface="MingLiU_HKSCS-ExtB"/>
              </a:rPr>
              <a:t>🏆</a:t>
            </a:r>
            <a:r>
              <a:rPr sz="2800" b="0" spc="440" dirty="0">
                <a:solidFill>
                  <a:srgbClr val="000000"/>
                </a:solidFill>
                <a:latin typeface="MingLiU_HKSCS-ExtB"/>
                <a:cs typeface="MingLiU_HKSCS-ExtB"/>
              </a:rPr>
              <a:t> </a:t>
            </a:r>
            <a:r>
              <a:rPr sz="3150" baseline="1322" dirty="0"/>
              <a:t>RESULTADO</a:t>
            </a:r>
            <a:r>
              <a:rPr sz="3150" spc="427" baseline="1322" dirty="0"/>
              <a:t> </a:t>
            </a:r>
            <a:r>
              <a:rPr sz="3150" spc="67" baseline="1322" dirty="0"/>
              <a:t>FINAL</a:t>
            </a:r>
            <a:endParaRPr sz="3150" baseline="1322">
              <a:latin typeface="MingLiU_HKSCS-ExtB"/>
              <a:cs typeface="MingLiU_HKSCS-ExtB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9875" y="723228"/>
            <a:ext cx="2273300" cy="2209165"/>
            <a:chOff x="119875" y="723228"/>
            <a:chExt cx="2273300" cy="22091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723228"/>
              <a:ext cx="2273046" cy="22089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0875" y="804242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5" h="199390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902244"/>
                  </a:lnTo>
                  <a:lnTo>
                    <a:pt x="798" y="1914243"/>
                  </a:lnTo>
                  <a:lnTo>
                    <a:pt x="18843" y="1958000"/>
                  </a:lnTo>
                  <a:lnTo>
                    <a:pt x="56512" y="1986697"/>
                  </a:lnTo>
                  <a:lnTo>
                    <a:pt x="91439" y="1993684"/>
                  </a:lnTo>
                  <a:lnTo>
                    <a:pt x="1966328" y="1993684"/>
                  </a:lnTo>
                  <a:lnTo>
                    <a:pt x="2012048" y="1981441"/>
                  </a:lnTo>
                  <a:lnTo>
                    <a:pt x="2045525" y="1947964"/>
                  </a:lnTo>
                  <a:lnTo>
                    <a:pt x="2057768" y="1902244"/>
                  </a:lnTo>
                  <a:lnTo>
                    <a:pt x="2057744" y="91439"/>
                  </a:lnTo>
                  <a:lnTo>
                    <a:pt x="2045525" y="46075"/>
                  </a:lnTo>
                  <a:lnTo>
                    <a:pt x="2012048" y="12598"/>
                  </a:lnTo>
                  <a:lnTo>
                    <a:pt x="19663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0875" y="804242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5" h="1993900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966328" y="355"/>
                  </a:lnTo>
                  <a:lnTo>
                    <a:pt x="2012048" y="12598"/>
                  </a:lnTo>
                  <a:lnTo>
                    <a:pt x="2045525" y="46075"/>
                  </a:lnTo>
                  <a:lnTo>
                    <a:pt x="2057768" y="91795"/>
                  </a:lnTo>
                  <a:lnTo>
                    <a:pt x="2057768" y="1902244"/>
                  </a:lnTo>
                  <a:lnTo>
                    <a:pt x="2056969" y="1914243"/>
                  </a:lnTo>
                  <a:lnTo>
                    <a:pt x="2054618" y="1925908"/>
                  </a:lnTo>
                  <a:lnTo>
                    <a:pt x="2031077" y="1966993"/>
                  </a:lnTo>
                  <a:lnTo>
                    <a:pt x="1989993" y="1990534"/>
                  </a:lnTo>
                  <a:lnTo>
                    <a:pt x="1966328" y="1993684"/>
                  </a:lnTo>
                  <a:lnTo>
                    <a:pt x="91439" y="1993684"/>
                  </a:lnTo>
                  <a:lnTo>
                    <a:pt x="45720" y="1981441"/>
                  </a:lnTo>
                  <a:lnTo>
                    <a:pt x="12242" y="1947964"/>
                  </a:lnTo>
                  <a:lnTo>
                    <a:pt x="0" y="190224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16940" y="919308"/>
            <a:ext cx="1235075" cy="84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105"/>
              </a:spcBef>
            </a:pPr>
            <a:r>
              <a:rPr sz="3050" spc="434" dirty="0">
                <a:latin typeface="MingLiU_HKSCS-ExtB"/>
                <a:cs typeface="MingLiU_HKSCS-ExtB"/>
              </a:rPr>
              <a:t>🌐</a:t>
            </a:r>
            <a:endParaRPr sz="30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sz="900" b="1" spc="-10" dirty="0">
                <a:solidFill>
                  <a:srgbClr val="194EFF"/>
                </a:solidFill>
                <a:latin typeface="Calibri"/>
                <a:cs typeface="Calibri"/>
              </a:rPr>
              <a:t>Portal</a:t>
            </a:r>
            <a:r>
              <a:rPr sz="900" b="1" spc="5" dirty="0">
                <a:solidFill>
                  <a:srgbClr val="194E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94EFF"/>
                </a:solidFill>
                <a:latin typeface="Calibri"/>
                <a:cs typeface="Calibri"/>
              </a:rPr>
              <a:t>Bancario</a:t>
            </a:r>
            <a:r>
              <a:rPr sz="900" b="1" spc="-5" dirty="0">
                <a:solidFill>
                  <a:srgbClr val="194E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94EFF"/>
                </a:solidFill>
                <a:latin typeface="Calibri"/>
                <a:cs typeface="Calibri"/>
              </a:rPr>
              <a:t>Funcional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182" y="2134338"/>
            <a:ext cx="13696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99415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Accesible</a:t>
            </a:r>
            <a:r>
              <a:rPr sz="850" spc="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bancoseguro.rootcode.com.bo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14435" y="723228"/>
            <a:ext cx="2273935" cy="2209165"/>
            <a:chOff x="2314435" y="723228"/>
            <a:chExt cx="2273935" cy="220916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4435" y="723228"/>
              <a:ext cx="2273401" cy="22089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395435" y="804242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5" h="199390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902244"/>
                  </a:lnTo>
                  <a:lnTo>
                    <a:pt x="798" y="1914243"/>
                  </a:lnTo>
                  <a:lnTo>
                    <a:pt x="18843" y="1958000"/>
                  </a:lnTo>
                  <a:lnTo>
                    <a:pt x="56512" y="1986697"/>
                  </a:lnTo>
                  <a:lnTo>
                    <a:pt x="91440" y="1993684"/>
                  </a:lnTo>
                  <a:lnTo>
                    <a:pt x="1966328" y="1993684"/>
                  </a:lnTo>
                  <a:lnTo>
                    <a:pt x="2012048" y="1981441"/>
                  </a:lnTo>
                  <a:lnTo>
                    <a:pt x="2045525" y="1947964"/>
                  </a:lnTo>
                  <a:lnTo>
                    <a:pt x="2057768" y="1902244"/>
                  </a:lnTo>
                  <a:lnTo>
                    <a:pt x="2057744" y="91439"/>
                  </a:lnTo>
                  <a:lnTo>
                    <a:pt x="2045525" y="46075"/>
                  </a:lnTo>
                  <a:lnTo>
                    <a:pt x="2012048" y="12598"/>
                  </a:lnTo>
                  <a:lnTo>
                    <a:pt x="19663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95435" y="804242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5" h="1993900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966328" y="355"/>
                  </a:lnTo>
                  <a:lnTo>
                    <a:pt x="2012048" y="12598"/>
                  </a:lnTo>
                  <a:lnTo>
                    <a:pt x="2045525" y="46075"/>
                  </a:lnTo>
                  <a:lnTo>
                    <a:pt x="2057768" y="91795"/>
                  </a:lnTo>
                  <a:lnTo>
                    <a:pt x="2057768" y="1902244"/>
                  </a:lnTo>
                  <a:lnTo>
                    <a:pt x="2056969" y="1914243"/>
                  </a:lnTo>
                  <a:lnTo>
                    <a:pt x="2054618" y="1925908"/>
                  </a:lnTo>
                  <a:lnTo>
                    <a:pt x="2031077" y="1966993"/>
                  </a:lnTo>
                  <a:lnTo>
                    <a:pt x="1989993" y="1990534"/>
                  </a:lnTo>
                  <a:lnTo>
                    <a:pt x="1966328" y="1993684"/>
                  </a:lnTo>
                  <a:lnTo>
                    <a:pt x="91440" y="1993684"/>
                  </a:lnTo>
                  <a:lnTo>
                    <a:pt x="45720" y="1981441"/>
                  </a:lnTo>
                  <a:lnTo>
                    <a:pt x="12242" y="1947964"/>
                  </a:lnTo>
                  <a:lnTo>
                    <a:pt x="0" y="190224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879178" y="919308"/>
            <a:ext cx="1099820" cy="84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105"/>
              </a:spcBef>
            </a:pPr>
            <a:r>
              <a:rPr sz="3050" spc="434" dirty="0">
                <a:latin typeface="MingLiU_HKSCS-ExtB"/>
                <a:cs typeface="MingLiU_HKSCS-ExtB"/>
              </a:rPr>
              <a:t>🔍</a:t>
            </a:r>
            <a:endParaRPr sz="30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sz="900" b="1" dirty="0">
                <a:solidFill>
                  <a:srgbClr val="049568"/>
                </a:solidFill>
                <a:latin typeface="Calibri"/>
                <a:cs typeface="Calibri"/>
              </a:rPr>
              <a:t>DNS</a:t>
            </a:r>
            <a:r>
              <a:rPr sz="900" b="1" spc="5" dirty="0">
                <a:solidFill>
                  <a:srgbClr val="049568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49568"/>
                </a:solidFill>
                <a:latin typeface="Calibri"/>
                <a:cs typeface="Calibri"/>
              </a:rPr>
              <a:t>Interno</a:t>
            </a:r>
            <a:r>
              <a:rPr sz="900" b="1" dirty="0">
                <a:solidFill>
                  <a:srgbClr val="049568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49568"/>
                </a:solidFill>
                <a:latin typeface="Calibri"/>
                <a:cs typeface="Calibri"/>
              </a:rPr>
              <a:t>Operativo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9344" y="2134338"/>
            <a:ext cx="15976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marR="5080" indent="-483234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Resolviendo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bancoseguro.local</a:t>
            </a:r>
            <a:r>
              <a:rPr sz="850" spc="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para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todas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las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VMs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08995" y="723228"/>
            <a:ext cx="2273935" cy="2209165"/>
            <a:chOff x="4508995" y="723228"/>
            <a:chExt cx="2273935" cy="220916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8995" y="723228"/>
              <a:ext cx="2273401" cy="220897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89995" y="804242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4" h="199390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902244"/>
                  </a:lnTo>
                  <a:lnTo>
                    <a:pt x="798" y="1914243"/>
                  </a:lnTo>
                  <a:lnTo>
                    <a:pt x="18843" y="1958000"/>
                  </a:lnTo>
                  <a:lnTo>
                    <a:pt x="56512" y="1986697"/>
                  </a:lnTo>
                  <a:lnTo>
                    <a:pt x="91440" y="1993684"/>
                  </a:lnTo>
                  <a:lnTo>
                    <a:pt x="1966328" y="1993684"/>
                  </a:lnTo>
                  <a:lnTo>
                    <a:pt x="2012048" y="1981441"/>
                  </a:lnTo>
                  <a:lnTo>
                    <a:pt x="2045525" y="1947964"/>
                  </a:lnTo>
                  <a:lnTo>
                    <a:pt x="2057768" y="1902244"/>
                  </a:lnTo>
                  <a:lnTo>
                    <a:pt x="2057744" y="91439"/>
                  </a:lnTo>
                  <a:lnTo>
                    <a:pt x="2045525" y="46075"/>
                  </a:lnTo>
                  <a:lnTo>
                    <a:pt x="2012048" y="12598"/>
                  </a:lnTo>
                  <a:lnTo>
                    <a:pt x="19663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89995" y="804242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4" h="1993900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966328" y="355"/>
                  </a:lnTo>
                  <a:lnTo>
                    <a:pt x="2012048" y="12598"/>
                  </a:lnTo>
                  <a:lnTo>
                    <a:pt x="2045525" y="46075"/>
                  </a:lnTo>
                  <a:lnTo>
                    <a:pt x="2057768" y="91795"/>
                  </a:lnTo>
                  <a:lnTo>
                    <a:pt x="2057768" y="1902244"/>
                  </a:lnTo>
                  <a:lnTo>
                    <a:pt x="2056969" y="1914243"/>
                  </a:lnTo>
                  <a:lnTo>
                    <a:pt x="2054618" y="1925908"/>
                  </a:lnTo>
                  <a:lnTo>
                    <a:pt x="2031077" y="1966993"/>
                  </a:lnTo>
                  <a:lnTo>
                    <a:pt x="1989993" y="1990534"/>
                  </a:lnTo>
                  <a:lnTo>
                    <a:pt x="1966328" y="1993684"/>
                  </a:lnTo>
                  <a:lnTo>
                    <a:pt x="91440" y="1993684"/>
                  </a:lnTo>
                  <a:lnTo>
                    <a:pt x="45720" y="1981441"/>
                  </a:lnTo>
                  <a:lnTo>
                    <a:pt x="12242" y="1947964"/>
                  </a:lnTo>
                  <a:lnTo>
                    <a:pt x="0" y="190224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57178" y="919308"/>
            <a:ext cx="1132840" cy="84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105"/>
              </a:spcBef>
            </a:pPr>
            <a:r>
              <a:rPr sz="3050" spc="434" dirty="0">
                <a:latin typeface="MingLiU_HKSCS-ExtB"/>
                <a:cs typeface="MingLiU_HKSCS-ExtB"/>
              </a:rPr>
              <a:t>🔒</a:t>
            </a:r>
            <a:endParaRPr sz="30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sz="900" b="1" spc="-10" dirty="0">
                <a:solidFill>
                  <a:srgbClr val="DB2525"/>
                </a:solidFill>
                <a:latin typeface="Calibri"/>
                <a:cs typeface="Calibri"/>
              </a:rPr>
              <a:t>Segmentación</a:t>
            </a:r>
            <a:r>
              <a:rPr sz="900" b="1" spc="15" dirty="0">
                <a:solidFill>
                  <a:srgbClr val="DB2525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DB2525"/>
                </a:solidFill>
                <a:latin typeface="Calibri"/>
                <a:cs typeface="Calibri"/>
              </a:rPr>
              <a:t>Bancaria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38306" y="2134338"/>
            <a:ext cx="15684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330" marR="5080" indent="-469265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Cajero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no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accede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directamente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la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base</a:t>
            </a:r>
            <a:r>
              <a:rPr sz="8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datos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703555" y="723228"/>
            <a:ext cx="2273935" cy="2209165"/>
            <a:chOff x="6703555" y="723228"/>
            <a:chExt cx="2273935" cy="220916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3555" y="723228"/>
              <a:ext cx="2273401" cy="220897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784555" y="804242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4" h="1993900">
                  <a:moveTo>
                    <a:pt x="91808" y="0"/>
                  </a:moveTo>
                  <a:lnTo>
                    <a:pt x="46088" y="12242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902244"/>
                  </a:lnTo>
                  <a:lnTo>
                    <a:pt x="798" y="1914243"/>
                  </a:lnTo>
                  <a:lnTo>
                    <a:pt x="18843" y="1958000"/>
                  </a:lnTo>
                  <a:lnTo>
                    <a:pt x="56512" y="1986697"/>
                  </a:lnTo>
                  <a:lnTo>
                    <a:pt x="91440" y="1993684"/>
                  </a:lnTo>
                  <a:lnTo>
                    <a:pt x="1966328" y="1993684"/>
                  </a:lnTo>
                  <a:lnTo>
                    <a:pt x="2012048" y="1981441"/>
                  </a:lnTo>
                  <a:lnTo>
                    <a:pt x="2045525" y="1947964"/>
                  </a:lnTo>
                  <a:lnTo>
                    <a:pt x="2057768" y="1902244"/>
                  </a:lnTo>
                  <a:lnTo>
                    <a:pt x="2057744" y="91439"/>
                  </a:lnTo>
                  <a:lnTo>
                    <a:pt x="2045525" y="46075"/>
                  </a:lnTo>
                  <a:lnTo>
                    <a:pt x="2012048" y="12598"/>
                  </a:lnTo>
                  <a:lnTo>
                    <a:pt x="19663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84555" y="804242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4" h="1993900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81"/>
                  </a:lnTo>
                  <a:lnTo>
                    <a:pt x="68133" y="3149"/>
                  </a:lnTo>
                  <a:lnTo>
                    <a:pt x="91808" y="0"/>
                  </a:lnTo>
                  <a:lnTo>
                    <a:pt x="1966328" y="355"/>
                  </a:lnTo>
                  <a:lnTo>
                    <a:pt x="2012048" y="12598"/>
                  </a:lnTo>
                  <a:lnTo>
                    <a:pt x="2045525" y="46075"/>
                  </a:lnTo>
                  <a:lnTo>
                    <a:pt x="2057768" y="91795"/>
                  </a:lnTo>
                  <a:lnTo>
                    <a:pt x="2057768" y="1902244"/>
                  </a:lnTo>
                  <a:lnTo>
                    <a:pt x="2056969" y="1914243"/>
                  </a:lnTo>
                  <a:lnTo>
                    <a:pt x="2054618" y="1925908"/>
                  </a:lnTo>
                  <a:lnTo>
                    <a:pt x="2031077" y="1966993"/>
                  </a:lnTo>
                  <a:lnTo>
                    <a:pt x="1989993" y="1990534"/>
                  </a:lnTo>
                  <a:lnTo>
                    <a:pt x="1966328" y="1993684"/>
                  </a:lnTo>
                  <a:lnTo>
                    <a:pt x="91440" y="1993684"/>
                  </a:lnTo>
                  <a:lnTo>
                    <a:pt x="45720" y="1981441"/>
                  </a:lnTo>
                  <a:lnTo>
                    <a:pt x="12242" y="1947964"/>
                  </a:lnTo>
                  <a:lnTo>
                    <a:pt x="0" y="1902244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456576" y="919308"/>
            <a:ext cx="723265" cy="84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105"/>
              </a:spcBef>
            </a:pPr>
            <a:r>
              <a:rPr sz="3050" spc="434" dirty="0">
                <a:latin typeface="MingLiU_HKSCS-ExtB"/>
                <a:cs typeface="MingLiU_HKSCS-ExtB"/>
              </a:rPr>
              <a:t>🔑</a:t>
            </a:r>
            <a:endParaRPr sz="30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sz="900" b="1" dirty="0">
                <a:solidFill>
                  <a:srgbClr val="D87605"/>
                </a:solidFill>
                <a:latin typeface="Calibri"/>
                <a:cs typeface="Calibri"/>
              </a:rPr>
              <a:t>SSH</a:t>
            </a:r>
            <a:r>
              <a:rPr sz="900" b="1" spc="-5" dirty="0">
                <a:solidFill>
                  <a:srgbClr val="D87605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D87605"/>
                </a:solidFill>
                <a:latin typeface="Calibri"/>
                <a:cs typeface="Calibri"/>
              </a:rPr>
              <a:t>Hardening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23861" y="2134338"/>
            <a:ext cx="15887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715" marR="5080" indent="-37465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Acceso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seguro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solo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desde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router-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fw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con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clave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ed25519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19875" y="2844700"/>
            <a:ext cx="2273935" cy="2209165"/>
            <a:chOff x="119875" y="2844700"/>
            <a:chExt cx="2273935" cy="2209165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75" y="2844700"/>
              <a:ext cx="2273401" cy="220898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00875" y="2925726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5" h="199390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902231"/>
                  </a:lnTo>
                  <a:lnTo>
                    <a:pt x="798" y="1914238"/>
                  </a:lnTo>
                  <a:lnTo>
                    <a:pt x="18843" y="1957995"/>
                  </a:lnTo>
                  <a:lnTo>
                    <a:pt x="56512" y="1986690"/>
                  </a:lnTo>
                  <a:lnTo>
                    <a:pt x="91439" y="1993671"/>
                  </a:lnTo>
                  <a:lnTo>
                    <a:pt x="1966328" y="1993671"/>
                  </a:lnTo>
                  <a:lnTo>
                    <a:pt x="2012048" y="1981441"/>
                  </a:lnTo>
                  <a:lnTo>
                    <a:pt x="2045525" y="1947951"/>
                  </a:lnTo>
                  <a:lnTo>
                    <a:pt x="2057768" y="1902231"/>
                  </a:lnTo>
                  <a:lnTo>
                    <a:pt x="2057744" y="91439"/>
                  </a:lnTo>
                  <a:lnTo>
                    <a:pt x="2045525" y="46075"/>
                  </a:lnTo>
                  <a:lnTo>
                    <a:pt x="2012048" y="12598"/>
                  </a:lnTo>
                  <a:lnTo>
                    <a:pt x="19663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0875" y="2925726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5" h="1993900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1966328" y="355"/>
                  </a:lnTo>
                  <a:lnTo>
                    <a:pt x="2012048" y="12598"/>
                  </a:lnTo>
                  <a:lnTo>
                    <a:pt x="2045525" y="46075"/>
                  </a:lnTo>
                  <a:lnTo>
                    <a:pt x="2057768" y="91795"/>
                  </a:lnTo>
                  <a:lnTo>
                    <a:pt x="2057768" y="1902231"/>
                  </a:lnTo>
                  <a:lnTo>
                    <a:pt x="2056969" y="1914238"/>
                  </a:lnTo>
                  <a:lnTo>
                    <a:pt x="2054618" y="1925905"/>
                  </a:lnTo>
                  <a:lnTo>
                    <a:pt x="2031077" y="1966991"/>
                  </a:lnTo>
                  <a:lnTo>
                    <a:pt x="1989993" y="1990523"/>
                  </a:lnTo>
                  <a:lnTo>
                    <a:pt x="1966328" y="1993671"/>
                  </a:lnTo>
                  <a:lnTo>
                    <a:pt x="91439" y="1993671"/>
                  </a:lnTo>
                  <a:lnTo>
                    <a:pt x="45720" y="1981441"/>
                  </a:lnTo>
                  <a:lnTo>
                    <a:pt x="12242" y="1947951"/>
                  </a:lnTo>
                  <a:lnTo>
                    <a:pt x="0" y="190223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86142" y="3040780"/>
            <a:ext cx="895985" cy="84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 algn="ctr">
              <a:lnSpc>
                <a:spcPct val="100000"/>
              </a:lnSpc>
              <a:spcBef>
                <a:spcPts val="105"/>
              </a:spcBef>
            </a:pPr>
            <a:r>
              <a:rPr sz="3050" spc="434" dirty="0">
                <a:latin typeface="MingLiU_HKSCS-ExtB"/>
                <a:cs typeface="MingLiU_HKSCS-ExtB"/>
              </a:rPr>
              <a:t>📋</a:t>
            </a:r>
            <a:endParaRPr sz="30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sz="900" b="1" dirty="0">
                <a:solidFill>
                  <a:srgbClr val="0790B1"/>
                </a:solidFill>
                <a:latin typeface="Calibri"/>
                <a:cs typeface="Calibri"/>
              </a:rPr>
              <a:t>Logs</a:t>
            </a:r>
            <a:r>
              <a:rPr sz="900" b="1" spc="-30" dirty="0">
                <a:solidFill>
                  <a:srgbClr val="0790B1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790B1"/>
                </a:solidFill>
                <a:latin typeface="Calibri"/>
                <a:cs typeface="Calibri"/>
              </a:rPr>
              <a:t>Centralizados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2663" y="4255822"/>
            <a:ext cx="15011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915" marR="5080" indent="-32385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Logs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7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VMs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siem-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audit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para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auditoría completa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314435" y="2844700"/>
            <a:ext cx="2273935" cy="2209165"/>
            <a:chOff x="2314435" y="2844700"/>
            <a:chExt cx="2273935" cy="2209165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4435" y="2844700"/>
              <a:ext cx="2273401" cy="2208987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95435" y="2925726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5" h="199390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902231"/>
                  </a:lnTo>
                  <a:lnTo>
                    <a:pt x="798" y="1914238"/>
                  </a:lnTo>
                  <a:lnTo>
                    <a:pt x="18843" y="1957995"/>
                  </a:lnTo>
                  <a:lnTo>
                    <a:pt x="56512" y="1986690"/>
                  </a:lnTo>
                  <a:lnTo>
                    <a:pt x="91440" y="1993671"/>
                  </a:lnTo>
                  <a:lnTo>
                    <a:pt x="1966328" y="1993671"/>
                  </a:lnTo>
                  <a:lnTo>
                    <a:pt x="2012048" y="1981441"/>
                  </a:lnTo>
                  <a:lnTo>
                    <a:pt x="2045525" y="1947951"/>
                  </a:lnTo>
                  <a:lnTo>
                    <a:pt x="2057768" y="1902231"/>
                  </a:lnTo>
                  <a:lnTo>
                    <a:pt x="2057744" y="91439"/>
                  </a:lnTo>
                  <a:lnTo>
                    <a:pt x="2045525" y="46075"/>
                  </a:lnTo>
                  <a:lnTo>
                    <a:pt x="2012048" y="12598"/>
                  </a:lnTo>
                  <a:lnTo>
                    <a:pt x="19663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95435" y="2925726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5" h="1993900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1966328" y="355"/>
                  </a:lnTo>
                  <a:lnTo>
                    <a:pt x="2012048" y="12598"/>
                  </a:lnTo>
                  <a:lnTo>
                    <a:pt x="2045525" y="46075"/>
                  </a:lnTo>
                  <a:lnTo>
                    <a:pt x="2057768" y="91795"/>
                  </a:lnTo>
                  <a:lnTo>
                    <a:pt x="2057768" y="1902231"/>
                  </a:lnTo>
                  <a:lnTo>
                    <a:pt x="2056969" y="1914238"/>
                  </a:lnTo>
                  <a:lnTo>
                    <a:pt x="2054618" y="1925905"/>
                  </a:lnTo>
                  <a:lnTo>
                    <a:pt x="2031077" y="1966991"/>
                  </a:lnTo>
                  <a:lnTo>
                    <a:pt x="1989993" y="1990523"/>
                  </a:lnTo>
                  <a:lnTo>
                    <a:pt x="1966328" y="1993671"/>
                  </a:lnTo>
                  <a:lnTo>
                    <a:pt x="91440" y="1993671"/>
                  </a:lnTo>
                  <a:lnTo>
                    <a:pt x="45720" y="1981441"/>
                  </a:lnTo>
                  <a:lnTo>
                    <a:pt x="12242" y="1947951"/>
                  </a:lnTo>
                  <a:lnTo>
                    <a:pt x="0" y="190223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976016" y="3040780"/>
            <a:ext cx="904240" cy="84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05"/>
              </a:spcBef>
            </a:pPr>
            <a:r>
              <a:rPr sz="3050" spc="434" dirty="0">
                <a:latin typeface="MingLiU_HKSCS-ExtB"/>
                <a:cs typeface="MingLiU_HKSCS-ExtB"/>
              </a:rPr>
              <a:t>🚨</a:t>
            </a:r>
            <a:endParaRPr sz="30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sz="900" b="1" spc="-10" dirty="0">
                <a:solidFill>
                  <a:srgbClr val="DB2525"/>
                </a:solidFill>
                <a:latin typeface="Calibri"/>
                <a:cs typeface="Calibri"/>
              </a:rPr>
              <a:t>Ataque</a:t>
            </a:r>
            <a:r>
              <a:rPr sz="900" b="1" spc="-25" dirty="0">
                <a:solidFill>
                  <a:srgbClr val="DB2525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DB2525"/>
                </a:solidFill>
                <a:latin typeface="Calibri"/>
                <a:cs typeface="Calibri"/>
              </a:rPr>
              <a:t>Bloqueado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72105" y="4255822"/>
            <a:ext cx="17113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marR="5080" indent="-454659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Fuerza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bruta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SSH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detectada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y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baneada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automáticamente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08995" y="2844700"/>
            <a:ext cx="2273935" cy="2209165"/>
            <a:chOff x="4508995" y="2844700"/>
            <a:chExt cx="2273935" cy="2209165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8995" y="2844700"/>
              <a:ext cx="2273401" cy="220898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589995" y="2925726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4" h="199390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902231"/>
                  </a:lnTo>
                  <a:lnTo>
                    <a:pt x="798" y="1914238"/>
                  </a:lnTo>
                  <a:lnTo>
                    <a:pt x="18843" y="1957995"/>
                  </a:lnTo>
                  <a:lnTo>
                    <a:pt x="56512" y="1986690"/>
                  </a:lnTo>
                  <a:lnTo>
                    <a:pt x="91440" y="1993671"/>
                  </a:lnTo>
                  <a:lnTo>
                    <a:pt x="1966328" y="1993671"/>
                  </a:lnTo>
                  <a:lnTo>
                    <a:pt x="2012048" y="1981441"/>
                  </a:lnTo>
                  <a:lnTo>
                    <a:pt x="2045525" y="1947951"/>
                  </a:lnTo>
                  <a:lnTo>
                    <a:pt x="2057768" y="1902231"/>
                  </a:lnTo>
                  <a:lnTo>
                    <a:pt x="2057744" y="91439"/>
                  </a:lnTo>
                  <a:lnTo>
                    <a:pt x="2045525" y="46075"/>
                  </a:lnTo>
                  <a:lnTo>
                    <a:pt x="2012048" y="12598"/>
                  </a:lnTo>
                  <a:lnTo>
                    <a:pt x="19663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89995" y="2925726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4" h="1993900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1966328" y="355"/>
                  </a:lnTo>
                  <a:lnTo>
                    <a:pt x="2012048" y="12598"/>
                  </a:lnTo>
                  <a:lnTo>
                    <a:pt x="2045525" y="46075"/>
                  </a:lnTo>
                  <a:lnTo>
                    <a:pt x="2057768" y="91795"/>
                  </a:lnTo>
                  <a:lnTo>
                    <a:pt x="2057768" y="1902231"/>
                  </a:lnTo>
                  <a:lnTo>
                    <a:pt x="2056969" y="1914238"/>
                  </a:lnTo>
                  <a:lnTo>
                    <a:pt x="2054618" y="1925905"/>
                  </a:lnTo>
                  <a:lnTo>
                    <a:pt x="2031077" y="1966991"/>
                  </a:lnTo>
                  <a:lnTo>
                    <a:pt x="1989993" y="1990523"/>
                  </a:lnTo>
                  <a:lnTo>
                    <a:pt x="1966328" y="1993671"/>
                  </a:lnTo>
                  <a:lnTo>
                    <a:pt x="91440" y="1993671"/>
                  </a:lnTo>
                  <a:lnTo>
                    <a:pt x="45720" y="1981441"/>
                  </a:lnTo>
                  <a:lnTo>
                    <a:pt x="12242" y="1947951"/>
                  </a:lnTo>
                  <a:lnTo>
                    <a:pt x="0" y="190223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138534" y="3040780"/>
            <a:ext cx="970280" cy="84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115" algn="ctr">
              <a:lnSpc>
                <a:spcPct val="100000"/>
              </a:lnSpc>
              <a:spcBef>
                <a:spcPts val="105"/>
              </a:spcBef>
            </a:pPr>
            <a:r>
              <a:rPr sz="3050" spc="434" dirty="0">
                <a:latin typeface="MingLiU_HKSCS-ExtB"/>
                <a:cs typeface="MingLiU_HKSCS-ExtB"/>
              </a:rPr>
              <a:t>🔐</a:t>
            </a:r>
            <a:endParaRPr sz="30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sz="900" b="1" spc="-10" dirty="0">
                <a:solidFill>
                  <a:srgbClr val="7B39EC"/>
                </a:solidFill>
                <a:latin typeface="Calibri"/>
                <a:cs typeface="Calibri"/>
              </a:rPr>
              <a:t>Backup</a:t>
            </a:r>
            <a:r>
              <a:rPr sz="900" b="1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7B39EC"/>
                </a:solidFill>
                <a:latin typeface="Calibri"/>
                <a:cs typeface="Calibri"/>
              </a:rPr>
              <a:t>Cifrado</a:t>
            </a:r>
            <a:r>
              <a:rPr sz="900" b="1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7B39EC"/>
                </a:solidFill>
                <a:latin typeface="Calibri"/>
                <a:cs typeface="Calibri"/>
              </a:rPr>
              <a:t>GPG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894821" y="4255822"/>
            <a:ext cx="14560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220" marR="5080" indent="-351155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Generación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diaria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automática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backups cifrados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703555" y="2844700"/>
            <a:ext cx="2273935" cy="2209165"/>
            <a:chOff x="6703555" y="2844700"/>
            <a:chExt cx="2273935" cy="2209165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3555" y="2844700"/>
              <a:ext cx="2273401" cy="220898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784555" y="2925726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4" h="1993900">
                  <a:moveTo>
                    <a:pt x="91808" y="0"/>
                  </a:moveTo>
                  <a:lnTo>
                    <a:pt x="46088" y="12230"/>
                  </a:lnTo>
                  <a:lnTo>
                    <a:pt x="12598" y="45719"/>
                  </a:lnTo>
                  <a:lnTo>
                    <a:pt x="368" y="91439"/>
                  </a:lnTo>
                  <a:lnTo>
                    <a:pt x="0" y="1902231"/>
                  </a:lnTo>
                  <a:lnTo>
                    <a:pt x="798" y="1914238"/>
                  </a:lnTo>
                  <a:lnTo>
                    <a:pt x="18843" y="1957995"/>
                  </a:lnTo>
                  <a:lnTo>
                    <a:pt x="56512" y="1986690"/>
                  </a:lnTo>
                  <a:lnTo>
                    <a:pt x="91440" y="1993671"/>
                  </a:lnTo>
                  <a:lnTo>
                    <a:pt x="1966328" y="1993671"/>
                  </a:lnTo>
                  <a:lnTo>
                    <a:pt x="2012048" y="1981441"/>
                  </a:lnTo>
                  <a:lnTo>
                    <a:pt x="2045525" y="1947951"/>
                  </a:lnTo>
                  <a:lnTo>
                    <a:pt x="2057768" y="1902231"/>
                  </a:lnTo>
                  <a:lnTo>
                    <a:pt x="2057744" y="91439"/>
                  </a:lnTo>
                  <a:lnTo>
                    <a:pt x="2045525" y="46075"/>
                  </a:lnTo>
                  <a:lnTo>
                    <a:pt x="2012048" y="12598"/>
                  </a:lnTo>
                  <a:lnTo>
                    <a:pt x="1966328" y="35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784555" y="2925726"/>
              <a:ext cx="2058035" cy="1993900"/>
            </a:xfrm>
            <a:custGeom>
              <a:avLst/>
              <a:gdLst/>
              <a:ahLst/>
              <a:cxnLst/>
              <a:rect l="l" t="t" r="r" b="b"/>
              <a:pathLst>
                <a:path w="2058034" h="1993900">
                  <a:moveTo>
                    <a:pt x="368" y="91439"/>
                  </a:moveTo>
                  <a:lnTo>
                    <a:pt x="1166" y="79433"/>
                  </a:lnTo>
                  <a:lnTo>
                    <a:pt x="3516" y="67765"/>
                  </a:lnTo>
                  <a:lnTo>
                    <a:pt x="27047" y="26679"/>
                  </a:lnTo>
                  <a:lnTo>
                    <a:pt x="68133" y="3148"/>
                  </a:lnTo>
                  <a:lnTo>
                    <a:pt x="91808" y="0"/>
                  </a:lnTo>
                  <a:lnTo>
                    <a:pt x="1966328" y="355"/>
                  </a:lnTo>
                  <a:lnTo>
                    <a:pt x="2012048" y="12598"/>
                  </a:lnTo>
                  <a:lnTo>
                    <a:pt x="2045525" y="46075"/>
                  </a:lnTo>
                  <a:lnTo>
                    <a:pt x="2057768" y="91795"/>
                  </a:lnTo>
                  <a:lnTo>
                    <a:pt x="2057768" y="1902231"/>
                  </a:lnTo>
                  <a:lnTo>
                    <a:pt x="2056969" y="1914238"/>
                  </a:lnTo>
                  <a:lnTo>
                    <a:pt x="2054618" y="1925905"/>
                  </a:lnTo>
                  <a:lnTo>
                    <a:pt x="2031077" y="1966991"/>
                  </a:lnTo>
                  <a:lnTo>
                    <a:pt x="1989993" y="1990523"/>
                  </a:lnTo>
                  <a:lnTo>
                    <a:pt x="1966328" y="1993671"/>
                  </a:lnTo>
                  <a:lnTo>
                    <a:pt x="91440" y="1993671"/>
                  </a:lnTo>
                  <a:lnTo>
                    <a:pt x="45720" y="1981441"/>
                  </a:lnTo>
                  <a:lnTo>
                    <a:pt x="12242" y="1947951"/>
                  </a:lnTo>
                  <a:lnTo>
                    <a:pt x="0" y="1902231"/>
                  </a:lnTo>
                  <a:lnTo>
                    <a:pt x="368" y="91439"/>
                  </a:lnTo>
                  <a:close/>
                </a:path>
              </a:pathLst>
            </a:custGeom>
            <a:ln w="12599">
              <a:solidFill>
                <a:srgbClr val="00C1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285215" y="3040780"/>
            <a:ext cx="1065530" cy="844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105"/>
              </a:spcBef>
            </a:pPr>
            <a:r>
              <a:rPr sz="3050" spc="434" dirty="0">
                <a:latin typeface="MingLiU_HKSCS-ExtB"/>
                <a:cs typeface="MingLiU_HKSCS-ExtB"/>
              </a:rPr>
              <a:t>📊</a:t>
            </a:r>
            <a:endParaRPr sz="3050">
              <a:latin typeface="MingLiU_HKSCS-ExtB"/>
              <a:cs typeface="MingLiU_HKSCS-ExtB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sz="900" b="1" spc="-10" dirty="0">
                <a:solidFill>
                  <a:srgbClr val="00C1A7"/>
                </a:solidFill>
                <a:latin typeface="Calibri"/>
                <a:cs typeface="Calibri"/>
              </a:rPr>
              <a:t>Reportes</a:t>
            </a:r>
            <a:r>
              <a:rPr sz="900" b="1" spc="-5" dirty="0">
                <a:solidFill>
                  <a:srgbClr val="00C1A7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00C1A7"/>
                </a:solidFill>
                <a:latin typeface="Calibri"/>
                <a:cs typeface="Calibri"/>
              </a:rPr>
              <a:t>de</a:t>
            </a:r>
            <a:r>
              <a:rPr sz="900" b="1" spc="-10" dirty="0">
                <a:solidFill>
                  <a:srgbClr val="00C1A7"/>
                </a:solidFill>
                <a:latin typeface="Calibri"/>
                <a:cs typeface="Calibri"/>
              </a:rPr>
              <a:t> Auditoría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987857" y="4255822"/>
            <a:ext cx="16586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4520" marR="5080" indent="-592455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Generación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automática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reportes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60" dirty="0">
                <a:solidFill>
                  <a:srgbClr val="E7EFFF"/>
                </a:solidFill>
                <a:latin typeface="Calibri"/>
                <a:cs typeface="Calibri"/>
              </a:rPr>
              <a:t>e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incidentes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299" y="-6285"/>
            <a:ext cx="2755900" cy="2755900"/>
            <a:chOff x="-6299" y="-6285"/>
            <a:chExt cx="2755900" cy="2755900"/>
          </a:xfrm>
        </p:grpSpPr>
        <p:sp>
          <p:nvSpPr>
            <p:cNvPr id="3" name="object 3"/>
            <p:cNvSpPr/>
            <p:nvPr/>
          </p:nvSpPr>
          <p:spPr>
            <a:xfrm>
              <a:off x="0" y="14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2497889" y="0"/>
                  </a:moveTo>
                  <a:lnTo>
                    <a:pt x="0" y="0"/>
                  </a:lnTo>
                  <a:lnTo>
                    <a:pt x="0" y="2497869"/>
                  </a:lnTo>
                  <a:lnTo>
                    <a:pt x="43832" y="2522389"/>
                  </a:lnTo>
                  <a:lnTo>
                    <a:pt x="88614" y="2545837"/>
                  </a:lnTo>
                  <a:lnTo>
                    <a:pt x="133964" y="2568008"/>
                  </a:lnTo>
                  <a:lnTo>
                    <a:pt x="179853" y="2588894"/>
                  </a:lnTo>
                  <a:lnTo>
                    <a:pt x="226253" y="2608487"/>
                  </a:lnTo>
                  <a:lnTo>
                    <a:pt x="273137" y="2626780"/>
                  </a:lnTo>
                  <a:lnTo>
                    <a:pt x="320478" y="2643766"/>
                  </a:lnTo>
                  <a:lnTo>
                    <a:pt x="368246" y="2659436"/>
                  </a:lnTo>
                  <a:lnTo>
                    <a:pt x="416416" y="2673783"/>
                  </a:lnTo>
                  <a:lnTo>
                    <a:pt x="464958" y="2686800"/>
                  </a:lnTo>
                  <a:lnTo>
                    <a:pt x="513845" y="2698479"/>
                  </a:lnTo>
                  <a:lnTo>
                    <a:pt x="563050" y="2708812"/>
                  </a:lnTo>
                  <a:lnTo>
                    <a:pt x="612545" y="2717792"/>
                  </a:lnTo>
                  <a:lnTo>
                    <a:pt x="662301" y="2725411"/>
                  </a:lnTo>
                  <a:lnTo>
                    <a:pt x="712292" y="2731662"/>
                  </a:lnTo>
                  <a:lnTo>
                    <a:pt x="762490" y="2736537"/>
                  </a:lnTo>
                  <a:lnTo>
                    <a:pt x="812866" y="2740029"/>
                  </a:lnTo>
                  <a:lnTo>
                    <a:pt x="863393" y="2742129"/>
                  </a:lnTo>
                  <a:lnTo>
                    <a:pt x="914044" y="2742831"/>
                  </a:lnTo>
                  <a:lnTo>
                    <a:pt x="964694" y="2742129"/>
                  </a:lnTo>
                  <a:lnTo>
                    <a:pt x="1015221" y="2740029"/>
                  </a:lnTo>
                  <a:lnTo>
                    <a:pt x="1065597" y="2736537"/>
                  </a:lnTo>
                  <a:lnTo>
                    <a:pt x="1115794" y="2731662"/>
                  </a:lnTo>
                  <a:lnTo>
                    <a:pt x="1165784" y="2725411"/>
                  </a:lnTo>
                  <a:lnTo>
                    <a:pt x="1215540" y="2717792"/>
                  </a:lnTo>
                  <a:lnTo>
                    <a:pt x="1265034" y="2708812"/>
                  </a:lnTo>
                  <a:lnTo>
                    <a:pt x="1314239" y="2698479"/>
                  </a:lnTo>
                  <a:lnTo>
                    <a:pt x="1363125" y="2686800"/>
                  </a:lnTo>
                  <a:lnTo>
                    <a:pt x="1411667" y="2673783"/>
                  </a:lnTo>
                  <a:lnTo>
                    <a:pt x="1459836" y="2659436"/>
                  </a:lnTo>
                  <a:lnTo>
                    <a:pt x="1507605" y="2643766"/>
                  </a:lnTo>
                  <a:lnTo>
                    <a:pt x="1554945" y="2626780"/>
                  </a:lnTo>
                  <a:lnTo>
                    <a:pt x="1601829" y="2608487"/>
                  </a:lnTo>
                  <a:lnTo>
                    <a:pt x="1648230" y="2588894"/>
                  </a:lnTo>
                  <a:lnTo>
                    <a:pt x="1694120" y="2568008"/>
                  </a:lnTo>
                  <a:lnTo>
                    <a:pt x="1739470" y="2545837"/>
                  </a:lnTo>
                  <a:lnTo>
                    <a:pt x="1784254" y="2522389"/>
                  </a:lnTo>
                  <a:lnTo>
                    <a:pt x="1828444" y="2497670"/>
                  </a:lnTo>
                  <a:lnTo>
                    <a:pt x="1871933" y="2471790"/>
                  </a:lnTo>
                  <a:lnTo>
                    <a:pt x="1914623" y="2444752"/>
                  </a:lnTo>
                  <a:lnTo>
                    <a:pt x="1956493" y="2416577"/>
                  </a:lnTo>
                  <a:lnTo>
                    <a:pt x="1997522" y="2387287"/>
                  </a:lnTo>
                  <a:lnTo>
                    <a:pt x="2037690" y="2356902"/>
                  </a:lnTo>
                  <a:lnTo>
                    <a:pt x="2076973" y="2325444"/>
                  </a:lnTo>
                  <a:lnTo>
                    <a:pt x="2115353" y="2292934"/>
                  </a:lnTo>
                  <a:lnTo>
                    <a:pt x="2152807" y="2259393"/>
                  </a:lnTo>
                  <a:lnTo>
                    <a:pt x="2189315" y="2224842"/>
                  </a:lnTo>
                  <a:lnTo>
                    <a:pt x="2224855" y="2189302"/>
                  </a:lnTo>
                  <a:lnTo>
                    <a:pt x="2259406" y="2152795"/>
                  </a:lnTo>
                  <a:lnTo>
                    <a:pt x="2292947" y="2115340"/>
                  </a:lnTo>
                  <a:lnTo>
                    <a:pt x="2325457" y="2076961"/>
                  </a:lnTo>
                  <a:lnTo>
                    <a:pt x="2356915" y="2037677"/>
                  </a:lnTo>
                  <a:lnTo>
                    <a:pt x="2387300" y="1997510"/>
                  </a:lnTo>
                  <a:lnTo>
                    <a:pt x="2416590" y="1956480"/>
                  </a:lnTo>
                  <a:lnTo>
                    <a:pt x="2444765" y="1914610"/>
                  </a:lnTo>
                  <a:lnTo>
                    <a:pt x="2471803" y="1871920"/>
                  </a:lnTo>
                  <a:lnTo>
                    <a:pt x="2497683" y="1828431"/>
                  </a:lnTo>
                  <a:lnTo>
                    <a:pt x="2522401" y="1784242"/>
                  </a:lnTo>
                  <a:lnTo>
                    <a:pt x="2545850" y="1739458"/>
                  </a:lnTo>
                  <a:lnTo>
                    <a:pt x="2568020" y="1694107"/>
                  </a:lnTo>
                  <a:lnTo>
                    <a:pt x="2588906" y="1648217"/>
                  </a:lnTo>
                  <a:lnTo>
                    <a:pt x="2608500" y="1601817"/>
                  </a:lnTo>
                  <a:lnTo>
                    <a:pt x="2626793" y="1554932"/>
                  </a:lnTo>
                  <a:lnTo>
                    <a:pt x="2643778" y="1507592"/>
                  </a:lnTo>
                  <a:lnTo>
                    <a:pt x="2659449" y="1459823"/>
                  </a:lnTo>
                  <a:lnTo>
                    <a:pt x="2673796" y="1411654"/>
                  </a:lnTo>
                  <a:lnTo>
                    <a:pt x="2686813" y="1363113"/>
                  </a:lnTo>
                  <a:lnTo>
                    <a:pt x="2698491" y="1314226"/>
                  </a:lnTo>
                  <a:lnTo>
                    <a:pt x="2708825" y="1265022"/>
                  </a:lnTo>
                  <a:lnTo>
                    <a:pt x="2717805" y="1215528"/>
                  </a:lnTo>
                  <a:lnTo>
                    <a:pt x="2725424" y="1165772"/>
                  </a:lnTo>
                  <a:lnTo>
                    <a:pt x="2731675" y="1115781"/>
                  </a:lnTo>
                  <a:lnTo>
                    <a:pt x="2736550" y="1065585"/>
                  </a:lnTo>
                  <a:lnTo>
                    <a:pt x="2740042" y="1015209"/>
                  </a:lnTo>
                  <a:lnTo>
                    <a:pt x="2742142" y="964682"/>
                  </a:lnTo>
                  <a:lnTo>
                    <a:pt x="2742844" y="914031"/>
                  </a:lnTo>
                  <a:lnTo>
                    <a:pt x="2742142" y="863381"/>
                  </a:lnTo>
                  <a:lnTo>
                    <a:pt x="2740042" y="812853"/>
                  </a:lnTo>
                  <a:lnTo>
                    <a:pt x="2736550" y="762477"/>
                  </a:lnTo>
                  <a:lnTo>
                    <a:pt x="2731675" y="712280"/>
                  </a:lnTo>
                  <a:lnTo>
                    <a:pt x="2725424" y="662289"/>
                  </a:lnTo>
                  <a:lnTo>
                    <a:pt x="2717805" y="612532"/>
                  </a:lnTo>
                  <a:lnTo>
                    <a:pt x="2708825" y="563038"/>
                  </a:lnTo>
                  <a:lnTo>
                    <a:pt x="2698491" y="513833"/>
                  </a:lnTo>
                  <a:lnTo>
                    <a:pt x="2686813" y="464945"/>
                  </a:lnTo>
                  <a:lnTo>
                    <a:pt x="2673796" y="416403"/>
                  </a:lnTo>
                  <a:lnTo>
                    <a:pt x="2659449" y="368234"/>
                  </a:lnTo>
                  <a:lnTo>
                    <a:pt x="2643778" y="320465"/>
                  </a:lnTo>
                  <a:lnTo>
                    <a:pt x="2626793" y="273125"/>
                  </a:lnTo>
                  <a:lnTo>
                    <a:pt x="2608500" y="226240"/>
                  </a:lnTo>
                  <a:lnTo>
                    <a:pt x="2588906" y="179840"/>
                  </a:lnTo>
                  <a:lnTo>
                    <a:pt x="2568020" y="133951"/>
                  </a:lnTo>
                  <a:lnTo>
                    <a:pt x="2545850" y="88602"/>
                  </a:lnTo>
                  <a:lnTo>
                    <a:pt x="2522401" y="43819"/>
                  </a:lnTo>
                  <a:lnTo>
                    <a:pt x="2497889" y="0"/>
                  </a:lnTo>
                  <a:close/>
                </a:path>
              </a:pathLst>
            </a:custGeom>
            <a:solidFill>
              <a:srgbClr val="0C1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4"/>
              <a:ext cx="2743200" cy="2743200"/>
            </a:xfrm>
            <a:custGeom>
              <a:avLst/>
              <a:gdLst/>
              <a:ahLst/>
              <a:cxnLst/>
              <a:rect l="l" t="t" r="r" b="b"/>
              <a:pathLst>
                <a:path w="2743200" h="2743200">
                  <a:moveTo>
                    <a:pt x="2497889" y="0"/>
                  </a:moveTo>
                  <a:lnTo>
                    <a:pt x="2522401" y="43819"/>
                  </a:lnTo>
                  <a:lnTo>
                    <a:pt x="2545850" y="88602"/>
                  </a:lnTo>
                  <a:lnTo>
                    <a:pt x="2568020" y="133951"/>
                  </a:lnTo>
                  <a:lnTo>
                    <a:pt x="2588906" y="179840"/>
                  </a:lnTo>
                  <a:lnTo>
                    <a:pt x="2608500" y="226240"/>
                  </a:lnTo>
                  <a:lnTo>
                    <a:pt x="2626793" y="273125"/>
                  </a:lnTo>
                  <a:lnTo>
                    <a:pt x="2643778" y="320465"/>
                  </a:lnTo>
                  <a:lnTo>
                    <a:pt x="2659449" y="368234"/>
                  </a:lnTo>
                  <a:lnTo>
                    <a:pt x="2673796" y="416403"/>
                  </a:lnTo>
                  <a:lnTo>
                    <a:pt x="2686813" y="464945"/>
                  </a:lnTo>
                  <a:lnTo>
                    <a:pt x="2698491" y="513833"/>
                  </a:lnTo>
                  <a:lnTo>
                    <a:pt x="2708825" y="563038"/>
                  </a:lnTo>
                  <a:lnTo>
                    <a:pt x="2717805" y="612532"/>
                  </a:lnTo>
                  <a:lnTo>
                    <a:pt x="2725424" y="662289"/>
                  </a:lnTo>
                  <a:lnTo>
                    <a:pt x="2731675" y="712280"/>
                  </a:lnTo>
                  <a:lnTo>
                    <a:pt x="2736550" y="762477"/>
                  </a:lnTo>
                  <a:lnTo>
                    <a:pt x="2740042" y="812853"/>
                  </a:lnTo>
                  <a:lnTo>
                    <a:pt x="2742142" y="863381"/>
                  </a:lnTo>
                  <a:lnTo>
                    <a:pt x="2742844" y="914031"/>
                  </a:lnTo>
                  <a:lnTo>
                    <a:pt x="2742142" y="964682"/>
                  </a:lnTo>
                  <a:lnTo>
                    <a:pt x="2740042" y="1015209"/>
                  </a:lnTo>
                  <a:lnTo>
                    <a:pt x="2736550" y="1065585"/>
                  </a:lnTo>
                  <a:lnTo>
                    <a:pt x="2731675" y="1115781"/>
                  </a:lnTo>
                  <a:lnTo>
                    <a:pt x="2725424" y="1165772"/>
                  </a:lnTo>
                  <a:lnTo>
                    <a:pt x="2717805" y="1215528"/>
                  </a:lnTo>
                  <a:lnTo>
                    <a:pt x="2708825" y="1265022"/>
                  </a:lnTo>
                  <a:lnTo>
                    <a:pt x="2698491" y="1314226"/>
                  </a:lnTo>
                  <a:lnTo>
                    <a:pt x="2686813" y="1363113"/>
                  </a:lnTo>
                  <a:lnTo>
                    <a:pt x="2673796" y="1411654"/>
                  </a:lnTo>
                  <a:lnTo>
                    <a:pt x="2659449" y="1459823"/>
                  </a:lnTo>
                  <a:lnTo>
                    <a:pt x="2643778" y="1507592"/>
                  </a:lnTo>
                  <a:lnTo>
                    <a:pt x="2626793" y="1554932"/>
                  </a:lnTo>
                  <a:lnTo>
                    <a:pt x="2608500" y="1601817"/>
                  </a:lnTo>
                  <a:lnTo>
                    <a:pt x="2588906" y="1648217"/>
                  </a:lnTo>
                  <a:lnTo>
                    <a:pt x="2568020" y="1694107"/>
                  </a:lnTo>
                  <a:lnTo>
                    <a:pt x="2545850" y="1739458"/>
                  </a:lnTo>
                  <a:lnTo>
                    <a:pt x="2522401" y="1784242"/>
                  </a:lnTo>
                  <a:lnTo>
                    <a:pt x="2497683" y="1828431"/>
                  </a:lnTo>
                  <a:lnTo>
                    <a:pt x="2471803" y="1871920"/>
                  </a:lnTo>
                  <a:lnTo>
                    <a:pt x="2444765" y="1914610"/>
                  </a:lnTo>
                  <a:lnTo>
                    <a:pt x="2416590" y="1956480"/>
                  </a:lnTo>
                  <a:lnTo>
                    <a:pt x="2387300" y="1997510"/>
                  </a:lnTo>
                  <a:lnTo>
                    <a:pt x="2356915" y="2037677"/>
                  </a:lnTo>
                  <a:lnTo>
                    <a:pt x="2325457" y="2076961"/>
                  </a:lnTo>
                  <a:lnTo>
                    <a:pt x="2292947" y="2115340"/>
                  </a:lnTo>
                  <a:lnTo>
                    <a:pt x="2259406" y="2152795"/>
                  </a:lnTo>
                  <a:lnTo>
                    <a:pt x="2224855" y="2189302"/>
                  </a:lnTo>
                  <a:lnTo>
                    <a:pt x="2189315" y="2224842"/>
                  </a:lnTo>
                  <a:lnTo>
                    <a:pt x="2152807" y="2259393"/>
                  </a:lnTo>
                  <a:lnTo>
                    <a:pt x="2115353" y="2292934"/>
                  </a:lnTo>
                  <a:lnTo>
                    <a:pt x="2076973" y="2325444"/>
                  </a:lnTo>
                  <a:lnTo>
                    <a:pt x="2037690" y="2356902"/>
                  </a:lnTo>
                  <a:lnTo>
                    <a:pt x="1997522" y="2387287"/>
                  </a:lnTo>
                  <a:lnTo>
                    <a:pt x="1956493" y="2416577"/>
                  </a:lnTo>
                  <a:lnTo>
                    <a:pt x="1914623" y="2444752"/>
                  </a:lnTo>
                  <a:lnTo>
                    <a:pt x="1871933" y="2471790"/>
                  </a:lnTo>
                  <a:lnTo>
                    <a:pt x="1828444" y="2497670"/>
                  </a:lnTo>
                  <a:lnTo>
                    <a:pt x="1784254" y="2522389"/>
                  </a:lnTo>
                  <a:lnTo>
                    <a:pt x="1739470" y="2545837"/>
                  </a:lnTo>
                  <a:lnTo>
                    <a:pt x="1694120" y="2568008"/>
                  </a:lnTo>
                  <a:lnTo>
                    <a:pt x="1648230" y="2588894"/>
                  </a:lnTo>
                  <a:lnTo>
                    <a:pt x="1601829" y="2608487"/>
                  </a:lnTo>
                  <a:lnTo>
                    <a:pt x="1554945" y="2626780"/>
                  </a:lnTo>
                  <a:lnTo>
                    <a:pt x="1507605" y="2643766"/>
                  </a:lnTo>
                  <a:lnTo>
                    <a:pt x="1459836" y="2659436"/>
                  </a:lnTo>
                  <a:lnTo>
                    <a:pt x="1411667" y="2673783"/>
                  </a:lnTo>
                  <a:lnTo>
                    <a:pt x="1363125" y="2686800"/>
                  </a:lnTo>
                  <a:lnTo>
                    <a:pt x="1314239" y="2698479"/>
                  </a:lnTo>
                  <a:lnTo>
                    <a:pt x="1265034" y="2708812"/>
                  </a:lnTo>
                  <a:lnTo>
                    <a:pt x="1215540" y="2717792"/>
                  </a:lnTo>
                  <a:lnTo>
                    <a:pt x="1165784" y="2725411"/>
                  </a:lnTo>
                  <a:lnTo>
                    <a:pt x="1115794" y="2731662"/>
                  </a:lnTo>
                  <a:lnTo>
                    <a:pt x="1065597" y="2736537"/>
                  </a:lnTo>
                  <a:lnTo>
                    <a:pt x="1015221" y="2740029"/>
                  </a:lnTo>
                  <a:lnTo>
                    <a:pt x="964694" y="2742129"/>
                  </a:lnTo>
                  <a:lnTo>
                    <a:pt x="914044" y="2742831"/>
                  </a:lnTo>
                  <a:lnTo>
                    <a:pt x="863393" y="2742129"/>
                  </a:lnTo>
                  <a:lnTo>
                    <a:pt x="812866" y="2740029"/>
                  </a:lnTo>
                  <a:lnTo>
                    <a:pt x="762490" y="2736537"/>
                  </a:lnTo>
                  <a:lnTo>
                    <a:pt x="712292" y="2731662"/>
                  </a:lnTo>
                  <a:lnTo>
                    <a:pt x="662301" y="2725411"/>
                  </a:lnTo>
                  <a:lnTo>
                    <a:pt x="612545" y="2717792"/>
                  </a:lnTo>
                  <a:lnTo>
                    <a:pt x="563050" y="2708812"/>
                  </a:lnTo>
                  <a:lnTo>
                    <a:pt x="513845" y="2698479"/>
                  </a:lnTo>
                  <a:lnTo>
                    <a:pt x="464958" y="2686800"/>
                  </a:lnTo>
                  <a:lnTo>
                    <a:pt x="416416" y="2673783"/>
                  </a:lnTo>
                  <a:lnTo>
                    <a:pt x="368246" y="2659436"/>
                  </a:lnTo>
                  <a:lnTo>
                    <a:pt x="320478" y="2643766"/>
                  </a:lnTo>
                  <a:lnTo>
                    <a:pt x="273137" y="2626780"/>
                  </a:lnTo>
                  <a:lnTo>
                    <a:pt x="226253" y="2608487"/>
                  </a:lnTo>
                  <a:lnTo>
                    <a:pt x="179853" y="2588894"/>
                  </a:lnTo>
                  <a:lnTo>
                    <a:pt x="133964" y="2568008"/>
                  </a:lnTo>
                  <a:lnTo>
                    <a:pt x="88614" y="2545837"/>
                  </a:lnTo>
                  <a:lnTo>
                    <a:pt x="43832" y="2522389"/>
                  </a:lnTo>
                  <a:lnTo>
                    <a:pt x="0" y="2497869"/>
                  </a:lnTo>
                </a:path>
              </a:pathLst>
            </a:custGeom>
            <a:ln w="12599">
              <a:solidFill>
                <a:srgbClr val="0C1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851344" y="3193746"/>
            <a:ext cx="2298700" cy="1956435"/>
            <a:chOff x="6851344" y="3193746"/>
            <a:chExt cx="2298700" cy="1956435"/>
          </a:xfrm>
        </p:grpSpPr>
        <p:sp>
          <p:nvSpPr>
            <p:cNvPr id="6" name="object 6"/>
            <p:cNvSpPr/>
            <p:nvPr/>
          </p:nvSpPr>
          <p:spPr>
            <a:xfrm>
              <a:off x="6857644" y="3200046"/>
              <a:ext cx="2286000" cy="1943735"/>
            </a:xfrm>
            <a:custGeom>
              <a:avLst/>
              <a:gdLst/>
              <a:ahLst/>
              <a:cxnLst/>
              <a:rect l="l" t="t" r="r" b="b"/>
              <a:pathLst>
                <a:path w="2286000" h="1943735">
                  <a:moveTo>
                    <a:pt x="1600200" y="0"/>
                  </a:moveTo>
                  <a:lnTo>
                    <a:pt x="1550699" y="764"/>
                  </a:lnTo>
                  <a:lnTo>
                    <a:pt x="1501332" y="3053"/>
                  </a:lnTo>
                  <a:lnTo>
                    <a:pt x="1452131" y="6857"/>
                  </a:lnTo>
                  <a:lnTo>
                    <a:pt x="1403131" y="12168"/>
                  </a:lnTo>
                  <a:lnTo>
                    <a:pt x="1354369" y="18978"/>
                  </a:lnTo>
                  <a:lnTo>
                    <a:pt x="1305877" y="27278"/>
                  </a:lnTo>
                  <a:lnTo>
                    <a:pt x="1257691" y="37060"/>
                  </a:lnTo>
                  <a:lnTo>
                    <a:pt x="1209845" y="48316"/>
                  </a:lnTo>
                  <a:lnTo>
                    <a:pt x="1162374" y="61037"/>
                  </a:lnTo>
                  <a:lnTo>
                    <a:pt x="1115313" y="75215"/>
                  </a:lnTo>
                  <a:lnTo>
                    <a:pt x="1068697" y="90842"/>
                  </a:lnTo>
                  <a:lnTo>
                    <a:pt x="1022560" y="107908"/>
                  </a:lnTo>
                  <a:lnTo>
                    <a:pt x="976937" y="126407"/>
                  </a:lnTo>
                  <a:lnTo>
                    <a:pt x="931862" y="146329"/>
                  </a:lnTo>
                  <a:lnTo>
                    <a:pt x="887371" y="167667"/>
                  </a:lnTo>
                  <a:lnTo>
                    <a:pt x="843498" y="190411"/>
                  </a:lnTo>
                  <a:lnTo>
                    <a:pt x="800277" y="214553"/>
                  </a:lnTo>
                  <a:lnTo>
                    <a:pt x="757766" y="239965"/>
                  </a:lnTo>
                  <a:lnTo>
                    <a:pt x="716138" y="266629"/>
                  </a:lnTo>
                  <a:lnTo>
                    <a:pt x="675419" y="294523"/>
                  </a:lnTo>
                  <a:lnTo>
                    <a:pt x="635633" y="323621"/>
                  </a:lnTo>
                  <a:lnTo>
                    <a:pt x="596805" y="353899"/>
                  </a:lnTo>
                  <a:lnTo>
                    <a:pt x="558959" y="385332"/>
                  </a:lnTo>
                  <a:lnTo>
                    <a:pt x="522121" y="417895"/>
                  </a:lnTo>
                  <a:lnTo>
                    <a:pt x="486314" y="451564"/>
                  </a:lnTo>
                  <a:lnTo>
                    <a:pt x="451564" y="486314"/>
                  </a:lnTo>
                  <a:lnTo>
                    <a:pt x="417895" y="522121"/>
                  </a:lnTo>
                  <a:lnTo>
                    <a:pt x="385332" y="558959"/>
                  </a:lnTo>
                  <a:lnTo>
                    <a:pt x="353899" y="596805"/>
                  </a:lnTo>
                  <a:lnTo>
                    <a:pt x="323621" y="635633"/>
                  </a:lnTo>
                  <a:lnTo>
                    <a:pt x="294523" y="675419"/>
                  </a:lnTo>
                  <a:lnTo>
                    <a:pt x="266629" y="716138"/>
                  </a:lnTo>
                  <a:lnTo>
                    <a:pt x="239965" y="757766"/>
                  </a:lnTo>
                  <a:lnTo>
                    <a:pt x="214553" y="800277"/>
                  </a:lnTo>
                  <a:lnTo>
                    <a:pt x="190411" y="843498"/>
                  </a:lnTo>
                  <a:lnTo>
                    <a:pt x="167667" y="887371"/>
                  </a:lnTo>
                  <a:lnTo>
                    <a:pt x="146329" y="931862"/>
                  </a:lnTo>
                  <a:lnTo>
                    <a:pt x="126407" y="976937"/>
                  </a:lnTo>
                  <a:lnTo>
                    <a:pt x="107908" y="1022560"/>
                  </a:lnTo>
                  <a:lnTo>
                    <a:pt x="90842" y="1068697"/>
                  </a:lnTo>
                  <a:lnTo>
                    <a:pt x="75215" y="1115313"/>
                  </a:lnTo>
                  <a:lnTo>
                    <a:pt x="61037" y="1162374"/>
                  </a:lnTo>
                  <a:lnTo>
                    <a:pt x="48316" y="1209845"/>
                  </a:lnTo>
                  <a:lnTo>
                    <a:pt x="37060" y="1257691"/>
                  </a:lnTo>
                  <a:lnTo>
                    <a:pt x="27278" y="1305877"/>
                  </a:lnTo>
                  <a:lnTo>
                    <a:pt x="18978" y="1354369"/>
                  </a:lnTo>
                  <a:lnTo>
                    <a:pt x="12168" y="1403131"/>
                  </a:lnTo>
                  <a:lnTo>
                    <a:pt x="6857" y="1452131"/>
                  </a:lnTo>
                  <a:lnTo>
                    <a:pt x="3053" y="1501332"/>
                  </a:lnTo>
                  <a:lnTo>
                    <a:pt x="764" y="1550699"/>
                  </a:lnTo>
                  <a:lnTo>
                    <a:pt x="0" y="1600200"/>
                  </a:lnTo>
                  <a:lnTo>
                    <a:pt x="764" y="1649698"/>
                  </a:lnTo>
                  <a:lnTo>
                    <a:pt x="3053" y="1699065"/>
                  </a:lnTo>
                  <a:lnTo>
                    <a:pt x="6857" y="1748266"/>
                  </a:lnTo>
                  <a:lnTo>
                    <a:pt x="12168" y="1797267"/>
                  </a:lnTo>
                  <a:lnTo>
                    <a:pt x="18978" y="1846034"/>
                  </a:lnTo>
                  <a:lnTo>
                    <a:pt x="27278" y="1894532"/>
                  </a:lnTo>
                  <a:lnTo>
                    <a:pt x="37060" y="1942728"/>
                  </a:lnTo>
                  <a:lnTo>
                    <a:pt x="37189" y="1943277"/>
                  </a:lnTo>
                  <a:lnTo>
                    <a:pt x="2285987" y="1943277"/>
                  </a:lnTo>
                  <a:lnTo>
                    <a:pt x="2285987" y="154702"/>
                  </a:lnTo>
                  <a:lnTo>
                    <a:pt x="2268529" y="146329"/>
                  </a:lnTo>
                  <a:lnTo>
                    <a:pt x="2223455" y="126407"/>
                  </a:lnTo>
                  <a:lnTo>
                    <a:pt x="2177832" y="107908"/>
                  </a:lnTo>
                  <a:lnTo>
                    <a:pt x="2131695" y="90842"/>
                  </a:lnTo>
                  <a:lnTo>
                    <a:pt x="2085079" y="75215"/>
                  </a:lnTo>
                  <a:lnTo>
                    <a:pt x="2038018" y="61037"/>
                  </a:lnTo>
                  <a:lnTo>
                    <a:pt x="1990548" y="48316"/>
                  </a:lnTo>
                  <a:lnTo>
                    <a:pt x="1942702" y="37060"/>
                  </a:lnTo>
                  <a:lnTo>
                    <a:pt x="1894516" y="27278"/>
                  </a:lnTo>
                  <a:lnTo>
                    <a:pt x="1846025" y="18978"/>
                  </a:lnTo>
                  <a:lnTo>
                    <a:pt x="1797262" y="12168"/>
                  </a:lnTo>
                  <a:lnTo>
                    <a:pt x="1748264" y="6857"/>
                  </a:lnTo>
                  <a:lnTo>
                    <a:pt x="1699064" y="3053"/>
                  </a:lnTo>
                  <a:lnTo>
                    <a:pt x="1649698" y="764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0C1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57644" y="3200046"/>
              <a:ext cx="2286000" cy="1943735"/>
            </a:xfrm>
            <a:custGeom>
              <a:avLst/>
              <a:gdLst/>
              <a:ahLst/>
              <a:cxnLst/>
              <a:rect l="l" t="t" r="r" b="b"/>
              <a:pathLst>
                <a:path w="2286000" h="1943735">
                  <a:moveTo>
                    <a:pt x="37189" y="1943277"/>
                  </a:moveTo>
                  <a:lnTo>
                    <a:pt x="27278" y="1894532"/>
                  </a:lnTo>
                  <a:lnTo>
                    <a:pt x="18978" y="1846034"/>
                  </a:lnTo>
                  <a:lnTo>
                    <a:pt x="12168" y="1797267"/>
                  </a:lnTo>
                  <a:lnTo>
                    <a:pt x="6857" y="1748266"/>
                  </a:lnTo>
                  <a:lnTo>
                    <a:pt x="3053" y="1699065"/>
                  </a:lnTo>
                  <a:lnTo>
                    <a:pt x="764" y="1649698"/>
                  </a:lnTo>
                  <a:lnTo>
                    <a:pt x="0" y="1600200"/>
                  </a:lnTo>
                  <a:lnTo>
                    <a:pt x="764" y="1550699"/>
                  </a:lnTo>
                  <a:lnTo>
                    <a:pt x="3053" y="1501332"/>
                  </a:lnTo>
                  <a:lnTo>
                    <a:pt x="6857" y="1452131"/>
                  </a:lnTo>
                  <a:lnTo>
                    <a:pt x="12168" y="1403131"/>
                  </a:lnTo>
                  <a:lnTo>
                    <a:pt x="18978" y="1354369"/>
                  </a:lnTo>
                  <a:lnTo>
                    <a:pt x="27278" y="1305877"/>
                  </a:lnTo>
                  <a:lnTo>
                    <a:pt x="37060" y="1257691"/>
                  </a:lnTo>
                  <a:lnTo>
                    <a:pt x="48316" y="1209845"/>
                  </a:lnTo>
                  <a:lnTo>
                    <a:pt x="61037" y="1162374"/>
                  </a:lnTo>
                  <a:lnTo>
                    <a:pt x="75215" y="1115313"/>
                  </a:lnTo>
                  <a:lnTo>
                    <a:pt x="90842" y="1068697"/>
                  </a:lnTo>
                  <a:lnTo>
                    <a:pt x="107908" y="1022560"/>
                  </a:lnTo>
                  <a:lnTo>
                    <a:pt x="126407" y="976937"/>
                  </a:lnTo>
                  <a:lnTo>
                    <a:pt x="146329" y="931862"/>
                  </a:lnTo>
                  <a:lnTo>
                    <a:pt x="167667" y="887371"/>
                  </a:lnTo>
                  <a:lnTo>
                    <a:pt x="190411" y="843498"/>
                  </a:lnTo>
                  <a:lnTo>
                    <a:pt x="214553" y="800277"/>
                  </a:lnTo>
                  <a:lnTo>
                    <a:pt x="239965" y="757766"/>
                  </a:lnTo>
                  <a:lnTo>
                    <a:pt x="266629" y="716138"/>
                  </a:lnTo>
                  <a:lnTo>
                    <a:pt x="294523" y="675419"/>
                  </a:lnTo>
                  <a:lnTo>
                    <a:pt x="323621" y="635633"/>
                  </a:lnTo>
                  <a:lnTo>
                    <a:pt x="353899" y="596805"/>
                  </a:lnTo>
                  <a:lnTo>
                    <a:pt x="385332" y="558959"/>
                  </a:lnTo>
                  <a:lnTo>
                    <a:pt x="417895" y="522121"/>
                  </a:lnTo>
                  <a:lnTo>
                    <a:pt x="451564" y="486314"/>
                  </a:lnTo>
                  <a:lnTo>
                    <a:pt x="486314" y="451564"/>
                  </a:lnTo>
                  <a:lnTo>
                    <a:pt x="522121" y="417895"/>
                  </a:lnTo>
                  <a:lnTo>
                    <a:pt x="558959" y="385332"/>
                  </a:lnTo>
                  <a:lnTo>
                    <a:pt x="596805" y="353899"/>
                  </a:lnTo>
                  <a:lnTo>
                    <a:pt x="635633" y="323621"/>
                  </a:lnTo>
                  <a:lnTo>
                    <a:pt x="675419" y="294523"/>
                  </a:lnTo>
                  <a:lnTo>
                    <a:pt x="716138" y="266629"/>
                  </a:lnTo>
                  <a:lnTo>
                    <a:pt x="757766" y="239965"/>
                  </a:lnTo>
                  <a:lnTo>
                    <a:pt x="800277" y="214553"/>
                  </a:lnTo>
                  <a:lnTo>
                    <a:pt x="843498" y="190411"/>
                  </a:lnTo>
                  <a:lnTo>
                    <a:pt x="887371" y="167667"/>
                  </a:lnTo>
                  <a:lnTo>
                    <a:pt x="931862" y="146329"/>
                  </a:lnTo>
                  <a:lnTo>
                    <a:pt x="976937" y="126407"/>
                  </a:lnTo>
                  <a:lnTo>
                    <a:pt x="1022560" y="107908"/>
                  </a:lnTo>
                  <a:lnTo>
                    <a:pt x="1068697" y="90842"/>
                  </a:lnTo>
                  <a:lnTo>
                    <a:pt x="1115313" y="75215"/>
                  </a:lnTo>
                  <a:lnTo>
                    <a:pt x="1162374" y="61037"/>
                  </a:lnTo>
                  <a:lnTo>
                    <a:pt x="1209845" y="48316"/>
                  </a:lnTo>
                  <a:lnTo>
                    <a:pt x="1257691" y="37060"/>
                  </a:lnTo>
                  <a:lnTo>
                    <a:pt x="1305877" y="27278"/>
                  </a:lnTo>
                  <a:lnTo>
                    <a:pt x="1354369" y="18978"/>
                  </a:lnTo>
                  <a:lnTo>
                    <a:pt x="1403131" y="12168"/>
                  </a:lnTo>
                  <a:lnTo>
                    <a:pt x="1452131" y="6857"/>
                  </a:lnTo>
                  <a:lnTo>
                    <a:pt x="1501332" y="3053"/>
                  </a:lnTo>
                  <a:lnTo>
                    <a:pt x="1550699" y="764"/>
                  </a:lnTo>
                  <a:lnTo>
                    <a:pt x="1600200" y="0"/>
                  </a:lnTo>
                  <a:lnTo>
                    <a:pt x="1649698" y="764"/>
                  </a:lnTo>
                  <a:lnTo>
                    <a:pt x="1699064" y="3053"/>
                  </a:lnTo>
                  <a:lnTo>
                    <a:pt x="1748264" y="6857"/>
                  </a:lnTo>
                  <a:lnTo>
                    <a:pt x="1797262" y="12168"/>
                  </a:lnTo>
                  <a:lnTo>
                    <a:pt x="1846025" y="18978"/>
                  </a:lnTo>
                  <a:lnTo>
                    <a:pt x="1894516" y="27278"/>
                  </a:lnTo>
                  <a:lnTo>
                    <a:pt x="1942702" y="37060"/>
                  </a:lnTo>
                  <a:lnTo>
                    <a:pt x="1990548" y="48316"/>
                  </a:lnTo>
                  <a:lnTo>
                    <a:pt x="2038018" y="61037"/>
                  </a:lnTo>
                  <a:lnTo>
                    <a:pt x="2085079" y="75215"/>
                  </a:lnTo>
                  <a:lnTo>
                    <a:pt x="2131695" y="90842"/>
                  </a:lnTo>
                  <a:lnTo>
                    <a:pt x="2177832" y="107908"/>
                  </a:lnTo>
                  <a:lnTo>
                    <a:pt x="2223455" y="126407"/>
                  </a:lnTo>
                  <a:lnTo>
                    <a:pt x="2268529" y="146329"/>
                  </a:lnTo>
                  <a:lnTo>
                    <a:pt x="2285987" y="154702"/>
                  </a:lnTo>
                </a:path>
              </a:pathLst>
            </a:custGeom>
            <a:ln w="12599">
              <a:solidFill>
                <a:srgbClr val="0C1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084104" y="812356"/>
            <a:ext cx="1071880" cy="1101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50" spc="-2990" dirty="0">
                <a:latin typeface="MingLiU_HKSCS-ExtB"/>
                <a:cs typeface="MingLiU_HKSCS-ExtB"/>
              </a:rPr>
              <a:t>🖥️</a:t>
            </a:r>
            <a:endParaRPr sz="7050">
              <a:latin typeface="MingLiU_HKSCS-ExtB"/>
              <a:cs typeface="MingLiU_HKSCS-ExtB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737258" y="2105192"/>
            <a:ext cx="565912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340" dirty="0"/>
              <a:t>CONFIGURACIÓN</a:t>
            </a:r>
            <a:r>
              <a:rPr sz="3400" spc="805" dirty="0"/>
              <a:t> </a:t>
            </a:r>
            <a:r>
              <a:rPr sz="3400" spc="245" dirty="0"/>
              <a:t>POR</a:t>
            </a:r>
            <a:r>
              <a:rPr sz="3400" spc="805" dirty="0"/>
              <a:t> </a:t>
            </a:r>
            <a:r>
              <a:rPr sz="3400" spc="150" dirty="0"/>
              <a:t>VM</a:t>
            </a:r>
            <a:endParaRPr sz="3400"/>
          </a:p>
        </p:txBody>
      </p:sp>
      <p:sp>
        <p:nvSpPr>
          <p:cNvPr id="10" name="object 10"/>
          <p:cNvSpPr txBox="1"/>
          <p:nvPr/>
        </p:nvSpPr>
        <p:spPr>
          <a:xfrm>
            <a:off x="2288057" y="2928507"/>
            <a:ext cx="456565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499DFF"/>
                </a:solidFill>
                <a:latin typeface="Calibri"/>
                <a:cs typeface="Calibri"/>
              </a:rPr>
              <a:t>Detalle</a:t>
            </a:r>
            <a:r>
              <a:rPr sz="1300" spc="-3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99DFF"/>
                </a:solidFill>
                <a:latin typeface="Calibri"/>
                <a:cs typeface="Calibri"/>
              </a:rPr>
              <a:t>de</a:t>
            </a:r>
            <a:r>
              <a:rPr sz="1300" spc="-3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99DFF"/>
                </a:solidFill>
                <a:latin typeface="Calibri"/>
                <a:cs typeface="Calibri"/>
              </a:rPr>
              <a:t>lo</a:t>
            </a:r>
            <a:r>
              <a:rPr sz="1300" spc="-3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99DFF"/>
                </a:solidFill>
                <a:latin typeface="Calibri"/>
                <a:cs typeface="Calibri"/>
              </a:rPr>
              <a:t>implementado</a:t>
            </a:r>
            <a:r>
              <a:rPr sz="1300" spc="-3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99DFF"/>
                </a:solidFill>
                <a:latin typeface="Calibri"/>
                <a:cs typeface="Calibri"/>
              </a:rPr>
              <a:t>en</a:t>
            </a:r>
            <a:r>
              <a:rPr sz="1300" spc="-2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99DFF"/>
                </a:solidFill>
                <a:latin typeface="Calibri"/>
                <a:cs typeface="Calibri"/>
              </a:rPr>
              <a:t>cada</a:t>
            </a:r>
            <a:r>
              <a:rPr sz="1300" spc="-1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99DFF"/>
                </a:solidFill>
                <a:latin typeface="Calibri"/>
                <a:cs typeface="Calibri"/>
              </a:rPr>
              <a:t>una</a:t>
            </a:r>
            <a:r>
              <a:rPr sz="1300" spc="-3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99DFF"/>
                </a:solidFill>
                <a:latin typeface="Calibri"/>
                <a:cs typeface="Calibri"/>
              </a:rPr>
              <a:t>de</a:t>
            </a:r>
            <a:r>
              <a:rPr sz="1300" spc="-3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99DFF"/>
                </a:solidFill>
                <a:latin typeface="Calibri"/>
                <a:cs typeface="Calibri"/>
              </a:rPr>
              <a:t>las</a:t>
            </a:r>
            <a:r>
              <a:rPr sz="1300" spc="-3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99DFF"/>
                </a:solidFill>
                <a:latin typeface="Calibri"/>
                <a:cs typeface="Calibri"/>
              </a:rPr>
              <a:t>8</a:t>
            </a:r>
            <a:r>
              <a:rPr sz="1300" spc="-2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99DFF"/>
                </a:solidFill>
                <a:latin typeface="Calibri"/>
                <a:cs typeface="Calibri"/>
              </a:rPr>
              <a:t>máquinas</a:t>
            </a:r>
            <a:r>
              <a:rPr sz="1300" spc="-20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99DFF"/>
                </a:solidFill>
                <a:latin typeface="Calibri"/>
                <a:cs typeface="Calibri"/>
              </a:rPr>
              <a:t>virtuales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8456" y="3549499"/>
            <a:ext cx="8699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0"/>
              </a:spcBef>
              <a:buChar char="•"/>
              <a:tabLst>
                <a:tab pos="99060" algn="l"/>
              </a:tabLst>
            </a:pP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VM-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1</a:t>
            </a:r>
            <a:r>
              <a:rPr sz="950" spc="4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8799A9"/>
                </a:solidFill>
                <a:latin typeface="Calibri"/>
                <a:cs typeface="Calibri"/>
              </a:rPr>
              <a:t>router-</a:t>
            </a:r>
            <a:r>
              <a:rPr sz="950" spc="-25" dirty="0">
                <a:solidFill>
                  <a:srgbClr val="8799A9"/>
                </a:solidFill>
                <a:latin typeface="Calibri"/>
                <a:cs typeface="Calibri"/>
              </a:rPr>
              <a:t>fw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0136" y="3549499"/>
            <a:ext cx="92329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0"/>
              </a:spcBef>
              <a:buChar char="•"/>
              <a:tabLst>
                <a:tab pos="99060" algn="l"/>
              </a:tabLst>
            </a:pP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VM-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2</a:t>
            </a: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 dns-server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31816" y="3549499"/>
            <a:ext cx="858519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0"/>
              </a:spcBef>
              <a:buChar char="•"/>
              <a:tabLst>
                <a:tab pos="99060" algn="l"/>
              </a:tabLst>
            </a:pP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VM-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3</a:t>
            </a:r>
            <a:r>
              <a:rPr sz="9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web-</a:t>
            </a:r>
            <a:r>
              <a:rPr sz="950" spc="-25" dirty="0">
                <a:solidFill>
                  <a:srgbClr val="8799A9"/>
                </a:solidFill>
                <a:latin typeface="Calibri"/>
                <a:cs typeface="Calibri"/>
              </a:rPr>
              <a:t>dmz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43496" y="3549499"/>
            <a:ext cx="9334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0"/>
              </a:spcBef>
              <a:buChar char="•"/>
              <a:tabLst>
                <a:tab pos="99060" algn="l"/>
              </a:tabLst>
            </a:pP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VM-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4</a:t>
            </a:r>
            <a:r>
              <a:rPr sz="95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app-server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8456" y="3896908"/>
            <a:ext cx="7842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0"/>
              </a:spcBef>
              <a:buChar char="•"/>
              <a:tabLst>
                <a:tab pos="99060" algn="l"/>
              </a:tabLst>
            </a:pP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VM-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5</a:t>
            </a:r>
            <a:r>
              <a:rPr sz="9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db-</a:t>
            </a:r>
            <a:r>
              <a:rPr sz="950" spc="-20" dirty="0">
                <a:solidFill>
                  <a:srgbClr val="8799A9"/>
                </a:solidFill>
                <a:latin typeface="Calibri"/>
                <a:cs typeface="Calibri"/>
              </a:rPr>
              <a:t>core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20136" y="3896908"/>
            <a:ext cx="11563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0"/>
              </a:spcBef>
              <a:buChar char="•"/>
              <a:tabLst>
                <a:tab pos="99060" algn="l"/>
              </a:tabLst>
            </a:pP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VM-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6</a:t>
            </a:r>
            <a:r>
              <a:rPr sz="950" spc="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cajero-terminal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31816" y="3896908"/>
            <a:ext cx="92773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0"/>
              </a:spcBef>
              <a:buChar char="•"/>
              <a:tabLst>
                <a:tab pos="99060" algn="l"/>
              </a:tabLst>
            </a:pP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VM-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7</a:t>
            </a:r>
            <a:r>
              <a:rPr sz="950" spc="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siem-audit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43496" y="3896908"/>
            <a:ext cx="8001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060" indent="-86360">
              <a:lnSpc>
                <a:spcPct val="100000"/>
              </a:lnSpc>
              <a:spcBef>
                <a:spcPts val="100"/>
              </a:spcBef>
              <a:buChar char="•"/>
              <a:tabLst>
                <a:tab pos="99060" algn="l"/>
              </a:tabLst>
            </a:pP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VM-</a:t>
            </a:r>
            <a:r>
              <a:rPr sz="950" dirty="0">
                <a:solidFill>
                  <a:srgbClr val="8799A9"/>
                </a:solidFill>
                <a:latin typeface="Calibri"/>
                <a:cs typeface="Calibri"/>
              </a:rPr>
              <a:t>8</a:t>
            </a:r>
            <a:r>
              <a:rPr sz="950" spc="-10" dirty="0">
                <a:solidFill>
                  <a:srgbClr val="8799A9"/>
                </a:solidFill>
                <a:latin typeface="Calibri"/>
                <a:cs typeface="Calibri"/>
              </a:rPr>
              <a:t> attacker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705" y="-6347"/>
            <a:ext cx="9156700" cy="762635"/>
            <a:chOff x="-6705" y="-6347"/>
            <a:chExt cx="9156700" cy="762635"/>
          </a:xfrm>
        </p:grpSpPr>
        <p:sp>
          <p:nvSpPr>
            <p:cNvPr id="3" name="object 3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90187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1" y="48809"/>
                  </a:lnTo>
                  <a:lnTo>
                    <a:pt x="4263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4" y="640966"/>
                  </a:lnTo>
                  <a:lnTo>
                    <a:pt x="1067" y="641322"/>
                  </a:lnTo>
                  <a:lnTo>
                    <a:pt x="4165" y="656997"/>
                  </a:lnTo>
                  <a:lnTo>
                    <a:pt x="4227" y="657313"/>
                  </a:lnTo>
                  <a:lnTo>
                    <a:pt x="9343" y="672488"/>
                  </a:lnTo>
                  <a:lnTo>
                    <a:pt x="36582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9019070" y="749515"/>
                  </a:lnTo>
                  <a:lnTo>
                    <a:pt x="9066811" y="740102"/>
                  </a:lnTo>
                  <a:lnTo>
                    <a:pt x="9107320" y="712933"/>
                  </a:lnTo>
                  <a:lnTo>
                    <a:pt x="9134322" y="672695"/>
                  </a:lnTo>
                  <a:lnTo>
                    <a:pt x="9134425" y="672488"/>
                  </a:lnTo>
                  <a:lnTo>
                    <a:pt x="9139613" y="657313"/>
                  </a:lnTo>
                  <a:lnTo>
                    <a:pt x="9139721" y="656997"/>
                  </a:lnTo>
                  <a:lnTo>
                    <a:pt x="9142853" y="641322"/>
                  </a:lnTo>
                  <a:lnTo>
                    <a:pt x="9142924" y="640966"/>
                  </a:lnTo>
                  <a:lnTo>
                    <a:pt x="9143976" y="624954"/>
                  </a:lnTo>
                  <a:lnTo>
                    <a:pt x="9144000" y="624598"/>
                  </a:lnTo>
                  <a:lnTo>
                    <a:pt x="9143631" y="124917"/>
                  </a:lnTo>
                  <a:lnTo>
                    <a:pt x="9134218" y="77177"/>
                  </a:lnTo>
                  <a:lnTo>
                    <a:pt x="9107049" y="36676"/>
                  </a:lnTo>
                  <a:lnTo>
                    <a:pt x="9066604" y="9569"/>
                  </a:lnTo>
                  <a:lnTo>
                    <a:pt x="9035082" y="1075"/>
                  </a:lnTo>
                  <a:lnTo>
                    <a:pt x="9018714" y="0"/>
                  </a:lnTo>
                  <a:close/>
                </a:path>
              </a:pathLst>
            </a:custGeom>
            <a:solidFill>
              <a:srgbClr val="CC3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0" y="124917"/>
                  </a:moveTo>
                  <a:lnTo>
                    <a:pt x="1073" y="108549"/>
                  </a:lnTo>
                  <a:lnTo>
                    <a:pt x="4271" y="92517"/>
                  </a:lnTo>
                  <a:lnTo>
                    <a:pt x="25931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9018714" y="0"/>
                  </a:lnTo>
                  <a:lnTo>
                    <a:pt x="9066604" y="9569"/>
                  </a:lnTo>
                  <a:lnTo>
                    <a:pt x="9107049" y="36676"/>
                  </a:lnTo>
                  <a:lnTo>
                    <a:pt x="9134218" y="77177"/>
                  </a:lnTo>
                  <a:lnTo>
                    <a:pt x="9143631" y="124917"/>
                  </a:lnTo>
                  <a:lnTo>
                    <a:pt x="9144000" y="624598"/>
                  </a:lnTo>
                  <a:lnTo>
                    <a:pt x="9142924" y="640966"/>
                  </a:lnTo>
                  <a:lnTo>
                    <a:pt x="9139721" y="656997"/>
                  </a:lnTo>
                  <a:lnTo>
                    <a:pt x="9118057" y="700708"/>
                  </a:lnTo>
                  <a:lnTo>
                    <a:pt x="9081350" y="732955"/>
                  </a:lnTo>
                  <a:lnTo>
                    <a:pt x="9035438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2" y="713205"/>
                  </a:lnTo>
                  <a:lnTo>
                    <a:pt x="9413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12599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51256" y="122063"/>
            <a:ext cx="3535679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0" spc="330" dirty="0">
                <a:latin typeface="MingLiU_HKSCS-ExtB"/>
                <a:cs typeface="MingLiU_HKSCS-ExtB"/>
              </a:rPr>
              <a:t>🔥</a:t>
            </a:r>
            <a:r>
              <a:rPr sz="1850" b="0" spc="-405" dirty="0">
                <a:latin typeface="MingLiU_HKSCS-ExtB"/>
                <a:cs typeface="MingLiU_HKSCS-ExtB"/>
              </a:rPr>
              <a:t> </a:t>
            </a:r>
            <a:r>
              <a:rPr sz="1600" spc="-25" dirty="0"/>
              <a:t>VM-</a:t>
            </a:r>
            <a:r>
              <a:rPr sz="1600" dirty="0"/>
              <a:t>1</a:t>
            </a:r>
            <a:r>
              <a:rPr sz="1600" spc="10" dirty="0"/>
              <a:t> </a:t>
            </a:r>
            <a:r>
              <a:rPr sz="1600" dirty="0"/>
              <a:t>—</a:t>
            </a:r>
            <a:r>
              <a:rPr sz="1600" spc="-10" dirty="0"/>
              <a:t> </a:t>
            </a:r>
            <a:r>
              <a:rPr sz="1600" spc="-30" dirty="0"/>
              <a:t>router-</a:t>
            </a:r>
            <a:r>
              <a:rPr sz="1600" dirty="0"/>
              <a:t>fw</a:t>
            </a:r>
            <a:r>
              <a:rPr sz="1600" spc="365" dirty="0"/>
              <a:t> </a:t>
            </a:r>
            <a:r>
              <a:rPr sz="1600" dirty="0"/>
              <a:t>·</a:t>
            </a:r>
            <a:r>
              <a:rPr sz="1600" spc="365" dirty="0"/>
              <a:t> </a:t>
            </a:r>
            <a:r>
              <a:rPr sz="1600" spc="-10" dirty="0"/>
              <a:t>192.168.100.182</a:t>
            </a:r>
            <a:endParaRPr sz="16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256" y="499937"/>
            <a:ext cx="3500754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Router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central,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firewall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único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punto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acceso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SSH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infraestructura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91374" y="85092"/>
            <a:ext cx="1475740" cy="579755"/>
            <a:chOff x="7491374" y="85092"/>
            <a:chExt cx="1475740" cy="579755"/>
          </a:xfrm>
        </p:grpSpPr>
        <p:sp>
          <p:nvSpPr>
            <p:cNvPr id="8" name="object 8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14079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4098" y="533184"/>
                  </a:lnTo>
                  <a:lnTo>
                    <a:pt x="33757" y="562900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1408315" y="566635"/>
                  </a:lnTo>
                  <a:lnTo>
                    <a:pt x="1446969" y="550710"/>
                  </a:lnTo>
                  <a:lnTo>
                    <a:pt x="1462531" y="519338"/>
                  </a:lnTo>
                  <a:lnTo>
                    <a:pt x="1462572" y="519132"/>
                  </a:lnTo>
                  <a:lnTo>
                    <a:pt x="1463016" y="512279"/>
                  </a:lnTo>
                  <a:lnTo>
                    <a:pt x="1463040" y="511924"/>
                  </a:lnTo>
                  <a:lnTo>
                    <a:pt x="1462671" y="54724"/>
                  </a:lnTo>
                  <a:lnTo>
                    <a:pt x="1446745" y="16063"/>
                  </a:lnTo>
                  <a:lnTo>
                    <a:pt x="1415168" y="466"/>
                  </a:lnTo>
                  <a:lnTo>
                    <a:pt x="1407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407960" y="0"/>
                  </a:lnTo>
                  <a:lnTo>
                    <a:pt x="1446745" y="16063"/>
                  </a:lnTo>
                  <a:lnTo>
                    <a:pt x="1462671" y="54724"/>
                  </a:lnTo>
                  <a:lnTo>
                    <a:pt x="1463040" y="511924"/>
                  </a:lnTo>
                  <a:lnTo>
                    <a:pt x="1462572" y="519132"/>
                  </a:lnTo>
                  <a:lnTo>
                    <a:pt x="1461192" y="526140"/>
                  </a:lnTo>
                  <a:lnTo>
                    <a:pt x="1435671" y="559435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88579" y="247575"/>
            <a:ext cx="680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Gateway:</a:t>
            </a:r>
            <a:r>
              <a:rPr sz="7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192.168.100.182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519" y="787313"/>
            <a:ext cx="2959735" cy="4356100"/>
            <a:chOff x="119519" y="787313"/>
            <a:chExt cx="2959735" cy="43561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787313"/>
              <a:ext cx="2959201" cy="4356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6" y="4216639"/>
                  </a:lnTo>
                  <a:lnTo>
                    <a:pt x="56505" y="4245329"/>
                  </a:lnTo>
                  <a:lnTo>
                    <a:pt x="91440" y="4252315"/>
                  </a:lnTo>
                  <a:lnTo>
                    <a:pt x="2652115" y="4252315"/>
                  </a:lnTo>
                  <a:lnTo>
                    <a:pt x="2697835" y="4240072"/>
                  </a:lnTo>
                  <a:lnTo>
                    <a:pt x="2731325" y="4206595"/>
                  </a:lnTo>
                  <a:lnTo>
                    <a:pt x="2743555" y="4160875"/>
                  </a:lnTo>
                  <a:lnTo>
                    <a:pt x="2743531" y="91439"/>
                  </a:lnTo>
                  <a:lnTo>
                    <a:pt x="2731325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79"/>
                  </a:lnTo>
                  <a:lnTo>
                    <a:pt x="68130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25" y="46075"/>
                  </a:lnTo>
                  <a:lnTo>
                    <a:pt x="2743555" y="91795"/>
                  </a:lnTo>
                  <a:lnTo>
                    <a:pt x="2743555" y="4160875"/>
                  </a:lnTo>
                  <a:lnTo>
                    <a:pt x="2742757" y="4172880"/>
                  </a:lnTo>
                  <a:lnTo>
                    <a:pt x="2740407" y="4184545"/>
                  </a:lnTo>
                  <a:lnTo>
                    <a:pt x="2716876" y="4225634"/>
                  </a:lnTo>
                  <a:lnTo>
                    <a:pt x="2675789" y="4249166"/>
                  </a:lnTo>
                  <a:lnTo>
                    <a:pt x="2652115" y="4252315"/>
                  </a:lnTo>
                  <a:lnTo>
                    <a:pt x="91440" y="4252315"/>
                  </a:lnTo>
                  <a:lnTo>
                    <a:pt x="45719" y="4240072"/>
                  </a:lnTo>
                  <a:lnTo>
                    <a:pt x="12242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CC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1256" y="958873"/>
            <a:ext cx="130683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CC3300"/>
                </a:solidFill>
                <a:latin typeface="MingLiU_HKSCS-ExtB"/>
                <a:cs typeface="MingLiU_HKSCS-ExtB"/>
              </a:rPr>
              <a:t>📦</a:t>
            </a:r>
            <a:r>
              <a:rPr sz="900" b="1" dirty="0">
                <a:solidFill>
                  <a:srgbClr val="CC3300"/>
                </a:solidFill>
                <a:latin typeface="Calibri"/>
                <a:cs typeface="Calibri"/>
              </a:rPr>
              <a:t>SERVICIOS</a:t>
            </a:r>
            <a:r>
              <a:rPr sz="900" b="1" spc="17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CC3300"/>
                </a:solidFill>
                <a:latin typeface="Calibri"/>
                <a:cs typeface="Calibri"/>
              </a:rPr>
              <a:t>INSTALADOS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620" y="12894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698" y="1307416"/>
            <a:ext cx="12884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iptables</a:t>
            </a:r>
            <a:r>
              <a:rPr sz="850" spc="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+</a:t>
            </a:r>
            <a:r>
              <a:rPr sz="850" spc="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iptables-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persistent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620" y="15637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698" y="1581736"/>
            <a:ext cx="9144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Fail2ban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(puerto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22)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9620" y="18380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2698" y="1856056"/>
            <a:ext cx="116713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net-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tools,</a:t>
            </a:r>
            <a:r>
              <a:rPr sz="850" spc="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tcpdump,</a:t>
            </a:r>
            <a:r>
              <a:rPr sz="850" spc="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nmap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620" y="21123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698" y="2130376"/>
            <a:ext cx="93789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rsyslog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→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siem-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audit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6547" y="787313"/>
            <a:ext cx="6475095" cy="4356100"/>
            <a:chOff x="316547" y="787313"/>
            <a:chExt cx="6475095" cy="4356100"/>
          </a:xfrm>
        </p:grpSpPr>
        <p:sp>
          <p:nvSpPr>
            <p:cNvPr id="25" name="object 25"/>
            <p:cNvSpPr/>
            <p:nvPr/>
          </p:nvSpPr>
          <p:spPr>
            <a:xfrm>
              <a:off x="320039" y="2450517"/>
              <a:ext cx="2514600" cy="635"/>
            </a:xfrm>
            <a:custGeom>
              <a:avLst/>
              <a:gdLst/>
              <a:ahLst/>
              <a:cxnLst/>
              <a:rect l="l" t="t" r="r" b="b"/>
              <a:pathLst>
                <a:path w="2514600" h="635">
                  <a:moveTo>
                    <a:pt x="0" y="0"/>
                  </a:moveTo>
                  <a:lnTo>
                    <a:pt x="2514600" y="368"/>
                  </a:lnTo>
                </a:path>
              </a:pathLst>
            </a:custGeom>
            <a:ln w="647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883" y="787313"/>
              <a:ext cx="3782161" cy="435601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0" y="4216639"/>
                  </a:lnTo>
                  <a:lnTo>
                    <a:pt x="56505" y="4245329"/>
                  </a:lnTo>
                  <a:lnTo>
                    <a:pt x="91439" y="4252315"/>
                  </a:lnTo>
                  <a:lnTo>
                    <a:pt x="3475075" y="4252315"/>
                  </a:lnTo>
                  <a:lnTo>
                    <a:pt x="3520795" y="4240072"/>
                  </a:lnTo>
                  <a:lnTo>
                    <a:pt x="3554272" y="4206595"/>
                  </a:lnTo>
                  <a:lnTo>
                    <a:pt x="3566515" y="4160875"/>
                  </a:lnTo>
                  <a:lnTo>
                    <a:pt x="3566491" y="91439"/>
                  </a:lnTo>
                  <a:lnTo>
                    <a:pt x="3554272" y="46075"/>
                  </a:lnTo>
                  <a:lnTo>
                    <a:pt x="3520795" y="12598"/>
                  </a:lnTo>
                  <a:lnTo>
                    <a:pt x="347507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3475075" y="355"/>
                  </a:lnTo>
                  <a:lnTo>
                    <a:pt x="3520795" y="12598"/>
                  </a:lnTo>
                  <a:lnTo>
                    <a:pt x="3554272" y="46075"/>
                  </a:lnTo>
                  <a:lnTo>
                    <a:pt x="3566515" y="91795"/>
                  </a:lnTo>
                  <a:lnTo>
                    <a:pt x="3566515" y="4160875"/>
                  </a:lnTo>
                  <a:lnTo>
                    <a:pt x="3565717" y="4172880"/>
                  </a:lnTo>
                  <a:lnTo>
                    <a:pt x="3563366" y="4184545"/>
                  </a:lnTo>
                  <a:lnTo>
                    <a:pt x="3539829" y="4225634"/>
                  </a:lnTo>
                  <a:lnTo>
                    <a:pt x="3498745" y="4249166"/>
                  </a:lnTo>
                  <a:lnTo>
                    <a:pt x="3475075" y="4252315"/>
                  </a:lnTo>
                  <a:lnTo>
                    <a:pt x="91439" y="4252315"/>
                  </a:lnTo>
                  <a:lnTo>
                    <a:pt x="45719" y="4240072"/>
                  </a:lnTo>
                  <a:lnTo>
                    <a:pt x="12230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1256" y="2568065"/>
            <a:ext cx="112585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CC3300"/>
                </a:solidFill>
                <a:latin typeface="MingLiU_HKSCS-ExtB"/>
                <a:cs typeface="MingLiU_HKSCS-ExtB"/>
              </a:rPr>
              <a:t>🔧</a:t>
            </a:r>
            <a:r>
              <a:rPr sz="900" b="1" dirty="0">
                <a:solidFill>
                  <a:srgbClr val="CC3300"/>
                </a:solidFill>
                <a:latin typeface="Calibri"/>
                <a:cs typeface="Calibri"/>
              </a:rPr>
              <a:t>PASOS</a:t>
            </a:r>
            <a:r>
              <a:rPr sz="900" b="1" spc="145" dirty="0">
                <a:solidFill>
                  <a:srgbClr val="CC3300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CC3300"/>
                </a:solidFill>
                <a:latin typeface="Calibri"/>
                <a:cs typeface="Calibri"/>
              </a:rPr>
              <a:t>PRINCIPALES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9620" y="28896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2698" y="2907616"/>
            <a:ext cx="14446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Netplan:</a:t>
            </a:r>
            <a:r>
              <a:rPr sz="8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gateway</a:t>
            </a:r>
            <a:r>
              <a:rPr sz="850" spc="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192.168.100.1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9620" y="31639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2698" y="3181936"/>
            <a:ext cx="1659889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IP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Forwarding: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net.ipv4.ip_forward=1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9620" y="3438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2698" y="3456256"/>
            <a:ext cx="189801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Políticas: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INPUT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ACCEPT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/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FORWARD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DROP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9620" y="37125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2698" y="3730576"/>
            <a:ext cx="130111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NAT/MASQUERADE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ens18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9620" y="398690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2698" y="4004896"/>
            <a:ext cx="16287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Fail2ban:</a:t>
            </a:r>
            <a:r>
              <a:rPr sz="850" spc="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maxretry=3,</a:t>
            </a:r>
            <a:r>
              <a:rPr sz="850" spc="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bantime=600s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9620" y="42612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2698" y="4279216"/>
            <a:ext cx="161480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rsyslog</a:t>
            </a:r>
            <a:r>
              <a:rPr sz="8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envía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192.168.100.188:514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58985" y="958873"/>
            <a:ext cx="109855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499DFF"/>
                </a:solidFill>
                <a:latin typeface="MingLiU_HKSCS-ExtB"/>
                <a:cs typeface="MingLiU_HKSCS-ExtB"/>
              </a:rPr>
              <a:t>💻</a:t>
            </a:r>
            <a:r>
              <a:rPr sz="900" b="1" spc="10" dirty="0">
                <a:solidFill>
                  <a:srgbClr val="499DFF"/>
                </a:solidFill>
                <a:latin typeface="Calibri"/>
                <a:cs typeface="Calibri"/>
              </a:rPr>
              <a:t>COMANDOS</a:t>
            </a:r>
            <a:r>
              <a:rPr sz="900" b="1" spc="10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9DFF"/>
                </a:solidFill>
                <a:latin typeface="Calibri"/>
                <a:cs typeface="Calibri"/>
              </a:rPr>
              <a:t>CLAVE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04616" y="1294093"/>
            <a:ext cx="152463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Habilitar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IP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forwarding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nano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/etc/sysctl.conf net.ipv4.ip_forward=1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sysctl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p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04616" y="1866495"/>
            <a:ext cx="169672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Política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FORWARD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DROP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iptables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-P FORWARD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DROP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04616" y="2209941"/>
            <a:ext cx="215900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NAT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para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VMs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internas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iptables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nat -A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POSTROUTING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ens18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-j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MASQUERADE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04616" y="2667865"/>
            <a:ext cx="152463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Permitir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VMs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→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internet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iptables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-A FORWARD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192.168.100.0/24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ens18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-j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ACCEPT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04616" y="3240254"/>
            <a:ext cx="17545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Guardar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permanente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netfilter-persistent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save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204616" y="3583700"/>
            <a:ext cx="175450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Fail2ban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enable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fail2ban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start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fail2ban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721564" y="787313"/>
            <a:ext cx="2355850" cy="4356100"/>
            <a:chOff x="6721564" y="787313"/>
            <a:chExt cx="2355850" cy="4356100"/>
          </a:xfrm>
        </p:grpSpPr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1564" y="787313"/>
              <a:ext cx="2355837" cy="4356011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2048040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60519"/>
                  </a:lnTo>
                  <a:lnTo>
                    <a:pt x="774" y="4172164"/>
                  </a:lnTo>
                  <a:lnTo>
                    <a:pt x="798" y="4172525"/>
                  </a:lnTo>
                  <a:lnTo>
                    <a:pt x="3076" y="4183829"/>
                  </a:lnTo>
                  <a:lnTo>
                    <a:pt x="3149" y="4184189"/>
                  </a:lnTo>
                  <a:lnTo>
                    <a:pt x="6864" y="4195091"/>
                  </a:lnTo>
                  <a:lnTo>
                    <a:pt x="6986" y="4195449"/>
                  </a:lnTo>
                  <a:lnTo>
                    <a:pt x="12242" y="4206240"/>
                  </a:lnTo>
                  <a:lnTo>
                    <a:pt x="45720" y="4239717"/>
                  </a:lnTo>
                  <a:lnTo>
                    <a:pt x="91440" y="4251959"/>
                  </a:lnTo>
                  <a:lnTo>
                    <a:pt x="2048395" y="4251604"/>
                  </a:lnTo>
                  <a:lnTo>
                    <a:pt x="2094115" y="4239361"/>
                  </a:lnTo>
                  <a:lnTo>
                    <a:pt x="2127605" y="4205884"/>
                  </a:lnTo>
                  <a:lnTo>
                    <a:pt x="2139812" y="4160519"/>
                  </a:lnTo>
                  <a:lnTo>
                    <a:pt x="2139835" y="4160164"/>
                  </a:lnTo>
                  <a:lnTo>
                    <a:pt x="2139480" y="91439"/>
                  </a:lnTo>
                  <a:lnTo>
                    <a:pt x="2127237" y="45719"/>
                  </a:lnTo>
                  <a:lnTo>
                    <a:pt x="2093760" y="12242"/>
                  </a:lnTo>
                  <a:lnTo>
                    <a:pt x="2060045" y="798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048040" y="0"/>
                  </a:lnTo>
                  <a:lnTo>
                    <a:pt x="2093760" y="12242"/>
                  </a:lnTo>
                  <a:lnTo>
                    <a:pt x="2127237" y="45719"/>
                  </a:lnTo>
                  <a:lnTo>
                    <a:pt x="2139480" y="91439"/>
                  </a:lnTo>
                  <a:lnTo>
                    <a:pt x="2139835" y="4160164"/>
                  </a:lnTo>
                  <a:lnTo>
                    <a:pt x="2139037" y="4172164"/>
                  </a:lnTo>
                  <a:lnTo>
                    <a:pt x="2136687" y="4183829"/>
                  </a:lnTo>
                  <a:lnTo>
                    <a:pt x="2113156" y="4224913"/>
                  </a:lnTo>
                  <a:lnTo>
                    <a:pt x="2072070" y="4248450"/>
                  </a:lnTo>
                  <a:lnTo>
                    <a:pt x="91440" y="4251959"/>
                  </a:lnTo>
                  <a:lnTo>
                    <a:pt x="45720" y="4239717"/>
                  </a:lnTo>
                  <a:lnTo>
                    <a:pt x="12242" y="4206240"/>
                  </a:lnTo>
                  <a:lnTo>
                    <a:pt x="0" y="416051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33C6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971665" y="958873"/>
            <a:ext cx="86423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1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900" b="1" spc="-10" dirty="0">
                <a:solidFill>
                  <a:srgbClr val="33C658"/>
                </a:solidFill>
                <a:latin typeface="Calibri"/>
                <a:cs typeface="Calibri"/>
              </a:rPr>
              <a:t>VERIFICACIÓN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851650" y="1255447"/>
            <a:ext cx="2042795" cy="607060"/>
            <a:chOff x="6851650" y="1255447"/>
            <a:chExt cx="2042795" cy="607060"/>
          </a:xfrm>
        </p:grpSpPr>
        <p:sp>
          <p:nvSpPr>
            <p:cNvPr id="55" name="object 55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008024" y="1310654"/>
            <a:ext cx="8375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IP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Forwarding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activo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08024" y="1526300"/>
            <a:ext cx="150939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cat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/proc/sys/.../ip_forward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1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851650" y="1913892"/>
            <a:ext cx="2042795" cy="607060"/>
            <a:chOff x="6851650" y="1913892"/>
            <a:chExt cx="2042795" cy="607060"/>
          </a:xfrm>
        </p:grpSpPr>
        <p:sp>
          <p:nvSpPr>
            <p:cNvPr id="60" name="object 60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3994" y="560234"/>
                  </a:lnTo>
                  <a:lnTo>
                    <a:pt x="4098" y="560550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59"/>
                  </a:lnTo>
                  <a:lnTo>
                    <a:pt x="1975319" y="594004"/>
                  </a:lnTo>
                  <a:lnTo>
                    <a:pt x="2013973" y="578067"/>
                  </a:lnTo>
                  <a:lnTo>
                    <a:pt x="2028119" y="553724"/>
                  </a:lnTo>
                  <a:lnTo>
                    <a:pt x="2028196" y="553496"/>
                  </a:lnTo>
                  <a:lnTo>
                    <a:pt x="2029535" y="546696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24"/>
                  </a:lnTo>
                  <a:lnTo>
                    <a:pt x="2013750" y="16063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63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803"/>
                  </a:lnTo>
                  <a:lnTo>
                    <a:pt x="54724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008024" y="1969098"/>
            <a:ext cx="7188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Reglas</a:t>
            </a:r>
            <a:r>
              <a:rPr sz="750" b="1" spc="-4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FORWARD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008024" y="2184732"/>
            <a:ext cx="103251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iptables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L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FORWARD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14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reglas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851650" y="2572336"/>
            <a:ext cx="2042795" cy="607060"/>
            <a:chOff x="6851650" y="2572336"/>
            <a:chExt cx="2042795" cy="607060"/>
          </a:xfrm>
        </p:grpSpPr>
        <p:sp>
          <p:nvSpPr>
            <p:cNvPr id="65" name="object 65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59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30044" y="539280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59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7008024" y="2627543"/>
            <a:ext cx="5613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Fail2ban</a:t>
            </a:r>
            <a:r>
              <a:rPr sz="750" b="1" spc="2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sshd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008024" y="2843176"/>
            <a:ext cx="119126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fail2ban-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client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 status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sshd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jail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851650" y="3230767"/>
            <a:ext cx="2042795" cy="607060"/>
            <a:chOff x="6851650" y="3230767"/>
            <a:chExt cx="2042795" cy="607060"/>
          </a:xfrm>
        </p:grpSpPr>
        <p:sp>
          <p:nvSpPr>
            <p:cNvPr id="70" name="object 70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7008024" y="3285618"/>
            <a:ext cx="7092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NAT</a:t>
            </a:r>
            <a:r>
              <a:rPr sz="750" b="1" spc="-3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funcionando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008024" y="3501620"/>
            <a:ext cx="129794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curl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google.com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desde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VM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3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OK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851650" y="3888856"/>
            <a:ext cx="2042795" cy="607060"/>
            <a:chOff x="6851650" y="3888856"/>
            <a:chExt cx="2042795" cy="607060"/>
          </a:xfrm>
        </p:grpSpPr>
        <p:sp>
          <p:nvSpPr>
            <p:cNvPr id="75" name="object 75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60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8121" y="553718"/>
                  </a:lnTo>
                  <a:lnTo>
                    <a:pt x="2028196" y="553496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60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7008024" y="3944063"/>
            <a:ext cx="62103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Baneo</a:t>
            </a:r>
            <a:r>
              <a:rPr sz="750" b="1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attacker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008024" y="4160052"/>
            <a:ext cx="125984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192.168.100.189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Connection</a:t>
            </a:r>
            <a:r>
              <a:rPr sz="700" spc="-6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refused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851700" y="4547337"/>
            <a:ext cx="2042795" cy="602615"/>
            <a:chOff x="6851700" y="4547337"/>
            <a:chExt cx="2042795" cy="602615"/>
          </a:xfrm>
        </p:grpSpPr>
        <p:sp>
          <p:nvSpPr>
            <p:cNvPr id="80" name="object 80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312" y="2138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15925" y="578300"/>
                  </a:lnTo>
                  <a:lnTo>
                    <a:pt x="32571" y="589686"/>
                  </a:lnTo>
                  <a:lnTo>
                    <a:pt x="1996680" y="589686"/>
                  </a:lnTo>
                  <a:lnTo>
                    <a:pt x="2025940" y="560247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32571" y="589686"/>
                  </a:moveTo>
                  <a:lnTo>
                    <a:pt x="4098" y="560552"/>
                  </a:lnTo>
                  <a:lnTo>
                    <a:pt x="0" y="539648"/>
                  </a:lnTo>
                  <a:lnTo>
                    <a:pt x="0" y="54724"/>
                  </a:lnTo>
                  <a:lnTo>
                    <a:pt x="16063" y="15936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08611" y="582847"/>
                  </a:lnTo>
                  <a:lnTo>
                    <a:pt x="1996680" y="589686"/>
                  </a:lnTo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7008024" y="4602494"/>
            <a:ext cx="1191260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Logs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al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SIEM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ts val="790"/>
              </a:lnSpc>
              <a:spcBef>
                <a:spcPts val="795"/>
              </a:spcBef>
            </a:pP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server-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182.log</a:t>
            </a:r>
            <a:r>
              <a:rPr sz="700" spc="-3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en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.188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recibido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705" y="-6347"/>
            <a:ext cx="9156700" cy="762635"/>
            <a:chOff x="-6705" y="-6347"/>
            <a:chExt cx="9156700" cy="762635"/>
          </a:xfrm>
        </p:grpSpPr>
        <p:sp>
          <p:nvSpPr>
            <p:cNvPr id="3" name="object 3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90187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1" y="48809"/>
                  </a:lnTo>
                  <a:lnTo>
                    <a:pt x="4263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4" y="640966"/>
                  </a:lnTo>
                  <a:lnTo>
                    <a:pt x="1067" y="641322"/>
                  </a:lnTo>
                  <a:lnTo>
                    <a:pt x="4165" y="656997"/>
                  </a:lnTo>
                  <a:lnTo>
                    <a:pt x="4227" y="657313"/>
                  </a:lnTo>
                  <a:lnTo>
                    <a:pt x="9343" y="672488"/>
                  </a:lnTo>
                  <a:lnTo>
                    <a:pt x="36582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9019070" y="749515"/>
                  </a:lnTo>
                  <a:lnTo>
                    <a:pt x="9066811" y="740102"/>
                  </a:lnTo>
                  <a:lnTo>
                    <a:pt x="9107320" y="712933"/>
                  </a:lnTo>
                  <a:lnTo>
                    <a:pt x="9134322" y="672695"/>
                  </a:lnTo>
                  <a:lnTo>
                    <a:pt x="9134425" y="672488"/>
                  </a:lnTo>
                  <a:lnTo>
                    <a:pt x="9139613" y="657313"/>
                  </a:lnTo>
                  <a:lnTo>
                    <a:pt x="9139721" y="656997"/>
                  </a:lnTo>
                  <a:lnTo>
                    <a:pt x="9142853" y="641322"/>
                  </a:lnTo>
                  <a:lnTo>
                    <a:pt x="9142924" y="640966"/>
                  </a:lnTo>
                  <a:lnTo>
                    <a:pt x="9143976" y="624954"/>
                  </a:lnTo>
                  <a:lnTo>
                    <a:pt x="9144000" y="624598"/>
                  </a:lnTo>
                  <a:lnTo>
                    <a:pt x="9143631" y="124917"/>
                  </a:lnTo>
                  <a:lnTo>
                    <a:pt x="9134218" y="77177"/>
                  </a:lnTo>
                  <a:lnTo>
                    <a:pt x="9107049" y="36676"/>
                  </a:lnTo>
                  <a:lnTo>
                    <a:pt x="9066604" y="9569"/>
                  </a:lnTo>
                  <a:lnTo>
                    <a:pt x="9035082" y="1075"/>
                  </a:lnTo>
                  <a:lnTo>
                    <a:pt x="9018714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0" y="124917"/>
                  </a:moveTo>
                  <a:lnTo>
                    <a:pt x="1073" y="108549"/>
                  </a:lnTo>
                  <a:lnTo>
                    <a:pt x="4271" y="92517"/>
                  </a:lnTo>
                  <a:lnTo>
                    <a:pt x="25931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9018714" y="0"/>
                  </a:lnTo>
                  <a:lnTo>
                    <a:pt x="9066604" y="9569"/>
                  </a:lnTo>
                  <a:lnTo>
                    <a:pt x="9107049" y="36676"/>
                  </a:lnTo>
                  <a:lnTo>
                    <a:pt x="9134218" y="77177"/>
                  </a:lnTo>
                  <a:lnTo>
                    <a:pt x="9143631" y="124917"/>
                  </a:lnTo>
                  <a:lnTo>
                    <a:pt x="9144000" y="624598"/>
                  </a:lnTo>
                  <a:lnTo>
                    <a:pt x="9142924" y="640966"/>
                  </a:lnTo>
                  <a:lnTo>
                    <a:pt x="9139721" y="656997"/>
                  </a:lnTo>
                  <a:lnTo>
                    <a:pt x="9118057" y="700708"/>
                  </a:lnTo>
                  <a:lnTo>
                    <a:pt x="9081350" y="732955"/>
                  </a:lnTo>
                  <a:lnTo>
                    <a:pt x="9035438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2" y="713205"/>
                  </a:lnTo>
                  <a:lnTo>
                    <a:pt x="9413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51256" y="122063"/>
            <a:ext cx="361886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0" spc="330" dirty="0">
                <a:latin typeface="MingLiU_HKSCS-ExtB"/>
                <a:cs typeface="MingLiU_HKSCS-ExtB"/>
              </a:rPr>
              <a:t>🔍</a:t>
            </a:r>
            <a:r>
              <a:rPr sz="1850" b="0" spc="-409" dirty="0">
                <a:latin typeface="MingLiU_HKSCS-ExtB"/>
                <a:cs typeface="MingLiU_HKSCS-ExtB"/>
              </a:rPr>
              <a:t> </a:t>
            </a:r>
            <a:r>
              <a:rPr sz="1600" spc="-25" dirty="0"/>
              <a:t>VM-</a:t>
            </a:r>
            <a:r>
              <a:rPr sz="1600" dirty="0"/>
              <a:t>2</a:t>
            </a:r>
            <a:r>
              <a:rPr sz="1600" spc="-15" dirty="0"/>
              <a:t> </a:t>
            </a:r>
            <a:r>
              <a:rPr sz="1600" dirty="0"/>
              <a:t>—</a:t>
            </a:r>
            <a:r>
              <a:rPr sz="1600" spc="-20" dirty="0"/>
              <a:t> </a:t>
            </a:r>
            <a:r>
              <a:rPr sz="1600" spc="-10" dirty="0"/>
              <a:t>dns-</a:t>
            </a:r>
            <a:r>
              <a:rPr sz="1600" dirty="0"/>
              <a:t>server</a:t>
            </a:r>
            <a:r>
              <a:rPr sz="1600" spc="335" dirty="0"/>
              <a:t> </a:t>
            </a:r>
            <a:r>
              <a:rPr sz="1600" dirty="0"/>
              <a:t>·</a:t>
            </a:r>
            <a:r>
              <a:rPr sz="1600" spc="345" dirty="0"/>
              <a:t> </a:t>
            </a:r>
            <a:r>
              <a:rPr sz="1600" spc="-10" dirty="0"/>
              <a:t>192.168.100.183</a:t>
            </a:r>
            <a:endParaRPr sz="16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256" y="499937"/>
            <a:ext cx="308927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Servidor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DNS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interno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BIND9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dominio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bancoseguro.local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91374" y="85092"/>
            <a:ext cx="1475740" cy="579755"/>
            <a:chOff x="7491374" y="85092"/>
            <a:chExt cx="1475740" cy="579755"/>
          </a:xfrm>
        </p:grpSpPr>
        <p:sp>
          <p:nvSpPr>
            <p:cNvPr id="8" name="object 8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14079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4098" y="533184"/>
                  </a:lnTo>
                  <a:lnTo>
                    <a:pt x="33757" y="562900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1408315" y="566635"/>
                  </a:lnTo>
                  <a:lnTo>
                    <a:pt x="1446969" y="550710"/>
                  </a:lnTo>
                  <a:lnTo>
                    <a:pt x="1462531" y="519338"/>
                  </a:lnTo>
                  <a:lnTo>
                    <a:pt x="1462572" y="519132"/>
                  </a:lnTo>
                  <a:lnTo>
                    <a:pt x="1463016" y="512279"/>
                  </a:lnTo>
                  <a:lnTo>
                    <a:pt x="1463040" y="511924"/>
                  </a:lnTo>
                  <a:lnTo>
                    <a:pt x="1462671" y="54724"/>
                  </a:lnTo>
                  <a:lnTo>
                    <a:pt x="1446745" y="16063"/>
                  </a:lnTo>
                  <a:lnTo>
                    <a:pt x="1415168" y="466"/>
                  </a:lnTo>
                  <a:lnTo>
                    <a:pt x="1407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407960" y="0"/>
                  </a:lnTo>
                  <a:lnTo>
                    <a:pt x="1446745" y="16063"/>
                  </a:lnTo>
                  <a:lnTo>
                    <a:pt x="1462671" y="54724"/>
                  </a:lnTo>
                  <a:lnTo>
                    <a:pt x="1463040" y="511924"/>
                  </a:lnTo>
                  <a:lnTo>
                    <a:pt x="1462572" y="519132"/>
                  </a:lnTo>
                  <a:lnTo>
                    <a:pt x="1461192" y="526140"/>
                  </a:lnTo>
                  <a:lnTo>
                    <a:pt x="1435671" y="559435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88579" y="247575"/>
            <a:ext cx="680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Gateway:</a:t>
            </a:r>
            <a:r>
              <a:rPr sz="7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192.168.100.182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519" y="787313"/>
            <a:ext cx="2959735" cy="4356100"/>
            <a:chOff x="119519" y="787313"/>
            <a:chExt cx="2959735" cy="43561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787313"/>
              <a:ext cx="2959201" cy="4356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6" y="4216639"/>
                  </a:lnTo>
                  <a:lnTo>
                    <a:pt x="56505" y="4245329"/>
                  </a:lnTo>
                  <a:lnTo>
                    <a:pt x="91440" y="4252315"/>
                  </a:lnTo>
                  <a:lnTo>
                    <a:pt x="2652115" y="4252315"/>
                  </a:lnTo>
                  <a:lnTo>
                    <a:pt x="2697835" y="4240072"/>
                  </a:lnTo>
                  <a:lnTo>
                    <a:pt x="2731325" y="4206595"/>
                  </a:lnTo>
                  <a:lnTo>
                    <a:pt x="2743555" y="4160875"/>
                  </a:lnTo>
                  <a:lnTo>
                    <a:pt x="2743531" y="91439"/>
                  </a:lnTo>
                  <a:lnTo>
                    <a:pt x="2731325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79"/>
                  </a:lnTo>
                  <a:lnTo>
                    <a:pt x="68130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25" y="46075"/>
                  </a:lnTo>
                  <a:lnTo>
                    <a:pt x="2743555" y="91795"/>
                  </a:lnTo>
                  <a:lnTo>
                    <a:pt x="2743555" y="4160875"/>
                  </a:lnTo>
                  <a:lnTo>
                    <a:pt x="2742757" y="4172880"/>
                  </a:lnTo>
                  <a:lnTo>
                    <a:pt x="2740407" y="4184545"/>
                  </a:lnTo>
                  <a:lnTo>
                    <a:pt x="2716876" y="4225634"/>
                  </a:lnTo>
                  <a:lnTo>
                    <a:pt x="2675789" y="4249166"/>
                  </a:lnTo>
                  <a:lnTo>
                    <a:pt x="2652115" y="4252315"/>
                  </a:lnTo>
                  <a:lnTo>
                    <a:pt x="91440" y="4252315"/>
                  </a:lnTo>
                  <a:lnTo>
                    <a:pt x="45719" y="4240072"/>
                  </a:lnTo>
                  <a:lnTo>
                    <a:pt x="12242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1256" y="958873"/>
            <a:ext cx="130683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49568"/>
                </a:solidFill>
                <a:latin typeface="MingLiU_HKSCS-ExtB"/>
                <a:cs typeface="MingLiU_HKSCS-ExtB"/>
              </a:rPr>
              <a:t>📦</a:t>
            </a:r>
            <a:r>
              <a:rPr sz="900" b="1" dirty="0">
                <a:solidFill>
                  <a:srgbClr val="049568"/>
                </a:solidFill>
                <a:latin typeface="Calibri"/>
                <a:cs typeface="Calibri"/>
              </a:rPr>
              <a:t>SERVICIOS</a:t>
            </a:r>
            <a:r>
              <a:rPr sz="900" b="1" spc="175" dirty="0">
                <a:solidFill>
                  <a:srgbClr val="049568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49568"/>
                </a:solidFill>
                <a:latin typeface="Calibri"/>
                <a:cs typeface="Calibri"/>
              </a:rPr>
              <a:t>INSTALADOS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620" y="12894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698" y="1307416"/>
            <a:ext cx="81153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bind9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+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bind9utils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620" y="15637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698" y="1581736"/>
            <a:ext cx="115379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UFW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(22,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53/tcp,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53/udp)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9620" y="18380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2698" y="1856056"/>
            <a:ext cx="93789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rsyslog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→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siem-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audit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6547" y="787313"/>
            <a:ext cx="6475095" cy="4356100"/>
            <a:chOff x="316547" y="787313"/>
            <a:chExt cx="6475095" cy="4356100"/>
          </a:xfrm>
        </p:grpSpPr>
        <p:sp>
          <p:nvSpPr>
            <p:cNvPr id="23" name="object 23"/>
            <p:cNvSpPr/>
            <p:nvPr/>
          </p:nvSpPr>
          <p:spPr>
            <a:xfrm>
              <a:off x="320039" y="2176197"/>
              <a:ext cx="2514600" cy="635"/>
            </a:xfrm>
            <a:custGeom>
              <a:avLst/>
              <a:gdLst/>
              <a:ahLst/>
              <a:cxnLst/>
              <a:rect l="l" t="t" r="r" b="b"/>
              <a:pathLst>
                <a:path w="2514600" h="635">
                  <a:moveTo>
                    <a:pt x="0" y="0"/>
                  </a:moveTo>
                  <a:lnTo>
                    <a:pt x="2514600" y="368"/>
                  </a:lnTo>
                </a:path>
              </a:pathLst>
            </a:custGeom>
            <a:ln w="647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883" y="787313"/>
              <a:ext cx="3782161" cy="435601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0" y="4216639"/>
                  </a:lnTo>
                  <a:lnTo>
                    <a:pt x="56505" y="4245329"/>
                  </a:lnTo>
                  <a:lnTo>
                    <a:pt x="91439" y="4252315"/>
                  </a:lnTo>
                  <a:lnTo>
                    <a:pt x="3475075" y="4252315"/>
                  </a:lnTo>
                  <a:lnTo>
                    <a:pt x="3520795" y="4240072"/>
                  </a:lnTo>
                  <a:lnTo>
                    <a:pt x="3554272" y="4206595"/>
                  </a:lnTo>
                  <a:lnTo>
                    <a:pt x="3566515" y="4160875"/>
                  </a:lnTo>
                  <a:lnTo>
                    <a:pt x="3566491" y="91439"/>
                  </a:lnTo>
                  <a:lnTo>
                    <a:pt x="3554272" y="46075"/>
                  </a:lnTo>
                  <a:lnTo>
                    <a:pt x="3520795" y="12598"/>
                  </a:lnTo>
                  <a:lnTo>
                    <a:pt x="347507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3475075" y="355"/>
                  </a:lnTo>
                  <a:lnTo>
                    <a:pt x="3520795" y="12598"/>
                  </a:lnTo>
                  <a:lnTo>
                    <a:pt x="3554272" y="46075"/>
                  </a:lnTo>
                  <a:lnTo>
                    <a:pt x="3566515" y="91795"/>
                  </a:lnTo>
                  <a:lnTo>
                    <a:pt x="3566515" y="4160875"/>
                  </a:lnTo>
                  <a:lnTo>
                    <a:pt x="3565717" y="4172880"/>
                  </a:lnTo>
                  <a:lnTo>
                    <a:pt x="3563366" y="4184545"/>
                  </a:lnTo>
                  <a:lnTo>
                    <a:pt x="3539829" y="4225634"/>
                  </a:lnTo>
                  <a:lnTo>
                    <a:pt x="3498745" y="4249166"/>
                  </a:lnTo>
                  <a:lnTo>
                    <a:pt x="3475075" y="4252315"/>
                  </a:lnTo>
                  <a:lnTo>
                    <a:pt x="91439" y="4252315"/>
                  </a:lnTo>
                  <a:lnTo>
                    <a:pt x="45719" y="4240072"/>
                  </a:lnTo>
                  <a:lnTo>
                    <a:pt x="12230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51256" y="2293745"/>
            <a:ext cx="112585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49568"/>
                </a:solidFill>
                <a:latin typeface="MingLiU_HKSCS-ExtB"/>
                <a:cs typeface="MingLiU_HKSCS-ExtB"/>
              </a:rPr>
              <a:t>🔧</a:t>
            </a:r>
            <a:r>
              <a:rPr sz="900" b="1" dirty="0">
                <a:solidFill>
                  <a:srgbClr val="049568"/>
                </a:solidFill>
                <a:latin typeface="Calibri"/>
                <a:cs typeface="Calibri"/>
              </a:rPr>
              <a:t>PASOS</a:t>
            </a:r>
            <a:r>
              <a:rPr sz="900" b="1" spc="145" dirty="0">
                <a:solidFill>
                  <a:srgbClr val="049568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49568"/>
                </a:solidFill>
                <a:latin typeface="Calibri"/>
                <a:cs typeface="Calibri"/>
              </a:rPr>
              <a:t>PRINCIPALES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9620" y="255050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9620" y="28896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12698" y="2568500"/>
            <a:ext cx="1765935" cy="494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BIND9: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named.conf.options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(forwarders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8.8.8.8)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OPTIONS=-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bind</a:t>
            </a:r>
            <a:r>
              <a:rPr sz="8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-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4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(deshabilitar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IPv6)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9620" y="31639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2698" y="3181936"/>
            <a:ext cx="15570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Zona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directa: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bancoseguro.local.db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9620" y="3438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2698" y="3456256"/>
            <a:ext cx="13411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Zona</a:t>
            </a:r>
            <a:r>
              <a:rPr sz="8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inversa:</a:t>
            </a:r>
            <a:r>
              <a:rPr sz="8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192.168.100.rev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9620" y="37125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9620" y="392210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2698" y="3730576"/>
            <a:ext cx="1313180" cy="494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8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registros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A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+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3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CNAME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30"/>
              </a:spcBef>
            </a:pP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systemd-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resolved: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Domains=~bancoseguro.local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58985" y="958873"/>
            <a:ext cx="109855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499DFF"/>
                </a:solidFill>
                <a:latin typeface="MingLiU_HKSCS-ExtB"/>
                <a:cs typeface="MingLiU_HKSCS-ExtB"/>
              </a:rPr>
              <a:t>💻</a:t>
            </a:r>
            <a:r>
              <a:rPr sz="900" b="1" spc="10" dirty="0">
                <a:solidFill>
                  <a:srgbClr val="499DFF"/>
                </a:solidFill>
                <a:latin typeface="Calibri"/>
                <a:cs typeface="Calibri"/>
              </a:rPr>
              <a:t>COMANDOS</a:t>
            </a:r>
            <a:r>
              <a:rPr sz="900" b="1" spc="10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9DFF"/>
                </a:solidFill>
                <a:latin typeface="Calibri"/>
                <a:cs typeface="Calibri"/>
              </a:rPr>
              <a:t>CLAVE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04616" y="1294093"/>
            <a:ext cx="210121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Instalar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BIND9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apt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install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-y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bind9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bind9utils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04616" y="1637539"/>
            <a:ext cx="163893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Deshabilitar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IPv6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nano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/etc/default/named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OPTIONS="-u bind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4"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04616" y="2095463"/>
            <a:ext cx="181292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Zona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directa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nano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/etc/bind/zones/</a:t>
            </a:r>
            <a:endParaRPr sz="750">
              <a:latin typeface="Courier New"/>
              <a:cs typeface="Courier New"/>
            </a:endParaRPr>
          </a:p>
          <a:p>
            <a:pPr marL="12700" marR="5080" indent="517525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bancoseguro.local.db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web-dmz</a:t>
            </a:r>
            <a:r>
              <a:rPr sz="750" spc="46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</a:t>
            </a:r>
            <a:r>
              <a:rPr sz="750" spc="45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</a:t>
            </a:r>
            <a:r>
              <a:rPr sz="750" spc="45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192.168.100.184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app-server IN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192.168.100.185 db-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core</a:t>
            </a:r>
            <a:r>
              <a:rPr sz="750" spc="47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</a:t>
            </a:r>
            <a:r>
              <a:rPr sz="750" spc="46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</a:t>
            </a:r>
            <a:r>
              <a:rPr sz="750" spc="46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192.168.100.186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04616" y="2896821"/>
            <a:ext cx="233108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5760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Verificar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sintaxis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6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named-checkconf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4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named-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checkzone</a:t>
            </a:r>
            <a:r>
              <a:rPr sz="750" spc="2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bancoseguro.local</a:t>
            </a:r>
            <a:r>
              <a:rPr sz="750" spc="5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/etc/bind/zones/bancoseguro.local.db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04616" y="3469223"/>
            <a:ext cx="158051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Iniciar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servicio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enable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named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start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named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04616" y="3927134"/>
            <a:ext cx="2273300" cy="59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Resolver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en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todas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las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VMs</a:t>
            </a:r>
            <a:endParaRPr sz="750">
              <a:latin typeface="Courier New"/>
              <a:cs typeface="Courier New"/>
            </a:endParaRPr>
          </a:p>
          <a:p>
            <a:pPr marL="530225" marR="5080" indent="-518159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nano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/etc/systemd/resolved.conf.d/ bancoseguro.conf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DNS=192.168.100.183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Domains=~bancoseguro.local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721564" y="787313"/>
            <a:ext cx="2355850" cy="4356100"/>
            <a:chOff x="6721564" y="787313"/>
            <a:chExt cx="2355850" cy="4356100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1564" y="787313"/>
              <a:ext cx="2355837" cy="435601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2048040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60519"/>
                  </a:lnTo>
                  <a:lnTo>
                    <a:pt x="774" y="4172164"/>
                  </a:lnTo>
                  <a:lnTo>
                    <a:pt x="798" y="4172525"/>
                  </a:lnTo>
                  <a:lnTo>
                    <a:pt x="3076" y="4183829"/>
                  </a:lnTo>
                  <a:lnTo>
                    <a:pt x="3149" y="4184189"/>
                  </a:lnTo>
                  <a:lnTo>
                    <a:pt x="6864" y="4195091"/>
                  </a:lnTo>
                  <a:lnTo>
                    <a:pt x="6986" y="4195449"/>
                  </a:lnTo>
                  <a:lnTo>
                    <a:pt x="12242" y="4206240"/>
                  </a:lnTo>
                  <a:lnTo>
                    <a:pt x="45720" y="4239717"/>
                  </a:lnTo>
                  <a:lnTo>
                    <a:pt x="91440" y="4251959"/>
                  </a:lnTo>
                  <a:lnTo>
                    <a:pt x="2048395" y="4251604"/>
                  </a:lnTo>
                  <a:lnTo>
                    <a:pt x="2094115" y="4239361"/>
                  </a:lnTo>
                  <a:lnTo>
                    <a:pt x="2127605" y="4205884"/>
                  </a:lnTo>
                  <a:lnTo>
                    <a:pt x="2139812" y="4160519"/>
                  </a:lnTo>
                  <a:lnTo>
                    <a:pt x="2139835" y="4160164"/>
                  </a:lnTo>
                  <a:lnTo>
                    <a:pt x="2139480" y="91439"/>
                  </a:lnTo>
                  <a:lnTo>
                    <a:pt x="2127237" y="45719"/>
                  </a:lnTo>
                  <a:lnTo>
                    <a:pt x="2093760" y="12242"/>
                  </a:lnTo>
                  <a:lnTo>
                    <a:pt x="2060045" y="798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048040" y="0"/>
                  </a:lnTo>
                  <a:lnTo>
                    <a:pt x="2093760" y="12242"/>
                  </a:lnTo>
                  <a:lnTo>
                    <a:pt x="2127237" y="45719"/>
                  </a:lnTo>
                  <a:lnTo>
                    <a:pt x="2139480" y="91439"/>
                  </a:lnTo>
                  <a:lnTo>
                    <a:pt x="2139835" y="4160164"/>
                  </a:lnTo>
                  <a:lnTo>
                    <a:pt x="2139037" y="4172164"/>
                  </a:lnTo>
                  <a:lnTo>
                    <a:pt x="2136687" y="4183829"/>
                  </a:lnTo>
                  <a:lnTo>
                    <a:pt x="2113156" y="4224913"/>
                  </a:lnTo>
                  <a:lnTo>
                    <a:pt x="2072070" y="4248450"/>
                  </a:lnTo>
                  <a:lnTo>
                    <a:pt x="91440" y="4251959"/>
                  </a:lnTo>
                  <a:lnTo>
                    <a:pt x="45720" y="4239717"/>
                  </a:lnTo>
                  <a:lnTo>
                    <a:pt x="12242" y="4206240"/>
                  </a:lnTo>
                  <a:lnTo>
                    <a:pt x="0" y="416051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33C6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971665" y="958873"/>
            <a:ext cx="86423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1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900" b="1" spc="-10" dirty="0">
                <a:solidFill>
                  <a:srgbClr val="33C658"/>
                </a:solidFill>
                <a:latin typeface="Calibri"/>
                <a:cs typeface="Calibri"/>
              </a:rPr>
              <a:t>VERIFICACIÓN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851650" y="1255447"/>
            <a:ext cx="2042795" cy="607060"/>
            <a:chOff x="6851650" y="1255447"/>
            <a:chExt cx="2042795" cy="607060"/>
          </a:xfrm>
        </p:grpSpPr>
        <p:sp>
          <p:nvSpPr>
            <p:cNvPr id="51" name="object 51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008024" y="1310654"/>
            <a:ext cx="7854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Zona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local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resuelve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08024" y="1526300"/>
            <a:ext cx="156273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dig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web-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dmz.bancoseguro.local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192.168.100.184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851650" y="1913892"/>
            <a:ext cx="2042795" cy="607060"/>
            <a:chOff x="6851650" y="1913892"/>
            <a:chExt cx="2042795" cy="607060"/>
          </a:xfrm>
        </p:grpSpPr>
        <p:sp>
          <p:nvSpPr>
            <p:cNvPr id="56" name="object 56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3994" y="560234"/>
                  </a:lnTo>
                  <a:lnTo>
                    <a:pt x="4098" y="560550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59"/>
                  </a:lnTo>
                  <a:lnTo>
                    <a:pt x="1975319" y="594004"/>
                  </a:lnTo>
                  <a:lnTo>
                    <a:pt x="2013973" y="578067"/>
                  </a:lnTo>
                  <a:lnTo>
                    <a:pt x="2028119" y="553724"/>
                  </a:lnTo>
                  <a:lnTo>
                    <a:pt x="2028196" y="553496"/>
                  </a:lnTo>
                  <a:lnTo>
                    <a:pt x="2029535" y="546696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24"/>
                  </a:lnTo>
                  <a:lnTo>
                    <a:pt x="2013750" y="16063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63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803"/>
                  </a:lnTo>
                  <a:lnTo>
                    <a:pt x="54724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008024" y="1969098"/>
            <a:ext cx="73977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Zona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raíz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resuelve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08024" y="2184732"/>
            <a:ext cx="113919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dig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bancoseguro.local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192.168.100.184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851650" y="2572336"/>
            <a:ext cx="2042795" cy="607060"/>
            <a:chOff x="6851650" y="2572336"/>
            <a:chExt cx="2042795" cy="607060"/>
          </a:xfrm>
        </p:grpSpPr>
        <p:sp>
          <p:nvSpPr>
            <p:cNvPr id="61" name="object 61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59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30044" y="539280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59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008024" y="2627543"/>
            <a:ext cx="78105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Forwarder</a:t>
            </a:r>
            <a:r>
              <a:rPr sz="750" b="1" spc="4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internet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008024" y="2843176"/>
            <a:ext cx="88836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dig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google.com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142.251.x.x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851650" y="3230767"/>
            <a:ext cx="2042795" cy="607060"/>
            <a:chOff x="6851650" y="3230767"/>
            <a:chExt cx="2042795" cy="607060"/>
          </a:xfrm>
        </p:grpSpPr>
        <p:sp>
          <p:nvSpPr>
            <p:cNvPr id="66" name="object 66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008024" y="3285618"/>
            <a:ext cx="5276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Zona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inversa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008024" y="3501620"/>
            <a:ext cx="119126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dig</a:t>
            </a:r>
            <a:r>
              <a:rPr sz="700" spc="-3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x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192.168.100.184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web-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dmz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851650" y="3888856"/>
            <a:ext cx="2042795" cy="607060"/>
            <a:chOff x="6851650" y="3888856"/>
            <a:chExt cx="2042795" cy="607060"/>
          </a:xfrm>
        </p:grpSpPr>
        <p:sp>
          <p:nvSpPr>
            <p:cNvPr id="71" name="object 71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60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8121" y="553718"/>
                  </a:lnTo>
                  <a:lnTo>
                    <a:pt x="2028196" y="553496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60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7008024" y="3944063"/>
            <a:ext cx="56324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named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activo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008024" y="4160052"/>
            <a:ext cx="119126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systemctl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status</a:t>
            </a:r>
            <a:r>
              <a:rPr sz="700" spc="-7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named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active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(running)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851700" y="4547337"/>
            <a:ext cx="2042795" cy="602615"/>
            <a:chOff x="6851700" y="4547337"/>
            <a:chExt cx="2042795" cy="602615"/>
          </a:xfrm>
        </p:grpSpPr>
        <p:sp>
          <p:nvSpPr>
            <p:cNvPr id="76" name="object 76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312" y="2138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15925" y="578300"/>
                  </a:lnTo>
                  <a:lnTo>
                    <a:pt x="32571" y="589686"/>
                  </a:lnTo>
                  <a:lnTo>
                    <a:pt x="1996680" y="589686"/>
                  </a:lnTo>
                  <a:lnTo>
                    <a:pt x="2025940" y="560247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32571" y="589686"/>
                  </a:moveTo>
                  <a:lnTo>
                    <a:pt x="4098" y="560552"/>
                  </a:lnTo>
                  <a:lnTo>
                    <a:pt x="0" y="539648"/>
                  </a:lnTo>
                  <a:lnTo>
                    <a:pt x="0" y="54724"/>
                  </a:lnTo>
                  <a:lnTo>
                    <a:pt x="16063" y="15936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08611" y="582847"/>
                  </a:lnTo>
                  <a:lnTo>
                    <a:pt x="1996680" y="589686"/>
                  </a:lnTo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7008024" y="4602494"/>
            <a:ext cx="1153795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UFW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configurado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ts val="790"/>
              </a:lnSpc>
              <a:spcBef>
                <a:spcPts val="795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ufw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status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22,53/tcp,53/udp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705" y="-6347"/>
            <a:ext cx="9156700" cy="762635"/>
            <a:chOff x="-6705" y="-6347"/>
            <a:chExt cx="9156700" cy="762635"/>
          </a:xfrm>
        </p:grpSpPr>
        <p:sp>
          <p:nvSpPr>
            <p:cNvPr id="3" name="object 3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90187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1" y="48809"/>
                  </a:lnTo>
                  <a:lnTo>
                    <a:pt x="4263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4" y="640966"/>
                  </a:lnTo>
                  <a:lnTo>
                    <a:pt x="1067" y="641322"/>
                  </a:lnTo>
                  <a:lnTo>
                    <a:pt x="4165" y="656997"/>
                  </a:lnTo>
                  <a:lnTo>
                    <a:pt x="4227" y="657313"/>
                  </a:lnTo>
                  <a:lnTo>
                    <a:pt x="9343" y="672488"/>
                  </a:lnTo>
                  <a:lnTo>
                    <a:pt x="36582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9019070" y="749515"/>
                  </a:lnTo>
                  <a:lnTo>
                    <a:pt x="9066811" y="740102"/>
                  </a:lnTo>
                  <a:lnTo>
                    <a:pt x="9107320" y="712933"/>
                  </a:lnTo>
                  <a:lnTo>
                    <a:pt x="9134322" y="672695"/>
                  </a:lnTo>
                  <a:lnTo>
                    <a:pt x="9134425" y="672488"/>
                  </a:lnTo>
                  <a:lnTo>
                    <a:pt x="9139613" y="657313"/>
                  </a:lnTo>
                  <a:lnTo>
                    <a:pt x="9139721" y="656997"/>
                  </a:lnTo>
                  <a:lnTo>
                    <a:pt x="9142853" y="641322"/>
                  </a:lnTo>
                  <a:lnTo>
                    <a:pt x="9142924" y="640966"/>
                  </a:lnTo>
                  <a:lnTo>
                    <a:pt x="9143976" y="624954"/>
                  </a:lnTo>
                  <a:lnTo>
                    <a:pt x="9144000" y="624598"/>
                  </a:lnTo>
                  <a:lnTo>
                    <a:pt x="9143631" y="124917"/>
                  </a:lnTo>
                  <a:lnTo>
                    <a:pt x="9134218" y="77177"/>
                  </a:lnTo>
                  <a:lnTo>
                    <a:pt x="9107049" y="36676"/>
                  </a:lnTo>
                  <a:lnTo>
                    <a:pt x="9066604" y="9569"/>
                  </a:lnTo>
                  <a:lnTo>
                    <a:pt x="9035082" y="1075"/>
                  </a:lnTo>
                  <a:lnTo>
                    <a:pt x="9018714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0" y="124917"/>
                  </a:moveTo>
                  <a:lnTo>
                    <a:pt x="1073" y="108549"/>
                  </a:lnTo>
                  <a:lnTo>
                    <a:pt x="4271" y="92517"/>
                  </a:lnTo>
                  <a:lnTo>
                    <a:pt x="25931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9018714" y="0"/>
                  </a:lnTo>
                  <a:lnTo>
                    <a:pt x="9066604" y="9569"/>
                  </a:lnTo>
                  <a:lnTo>
                    <a:pt x="9107049" y="36676"/>
                  </a:lnTo>
                  <a:lnTo>
                    <a:pt x="9134218" y="77177"/>
                  </a:lnTo>
                  <a:lnTo>
                    <a:pt x="9143631" y="124917"/>
                  </a:lnTo>
                  <a:lnTo>
                    <a:pt x="9144000" y="624598"/>
                  </a:lnTo>
                  <a:lnTo>
                    <a:pt x="9142924" y="640966"/>
                  </a:lnTo>
                  <a:lnTo>
                    <a:pt x="9139721" y="656997"/>
                  </a:lnTo>
                  <a:lnTo>
                    <a:pt x="9118057" y="700708"/>
                  </a:lnTo>
                  <a:lnTo>
                    <a:pt x="9081350" y="732955"/>
                  </a:lnTo>
                  <a:lnTo>
                    <a:pt x="9035438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2" y="713205"/>
                  </a:lnTo>
                  <a:lnTo>
                    <a:pt x="9413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51256" y="122063"/>
            <a:ext cx="351091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0" spc="330" dirty="0">
                <a:latin typeface="MingLiU_HKSCS-ExtB"/>
                <a:cs typeface="MingLiU_HKSCS-ExtB"/>
              </a:rPr>
              <a:t>🌐</a:t>
            </a:r>
            <a:r>
              <a:rPr sz="1850" b="0" spc="-409" dirty="0">
                <a:latin typeface="MingLiU_HKSCS-ExtB"/>
                <a:cs typeface="MingLiU_HKSCS-ExtB"/>
              </a:rPr>
              <a:t> </a:t>
            </a:r>
            <a:r>
              <a:rPr sz="1600" spc="-25" dirty="0"/>
              <a:t>VM-</a:t>
            </a:r>
            <a:r>
              <a:rPr sz="1600" dirty="0"/>
              <a:t>3 —</a:t>
            </a:r>
            <a:r>
              <a:rPr sz="1600" spc="-15" dirty="0"/>
              <a:t> </a:t>
            </a:r>
            <a:r>
              <a:rPr sz="1600" spc="-20" dirty="0"/>
              <a:t>web-</a:t>
            </a:r>
            <a:r>
              <a:rPr sz="1600" dirty="0"/>
              <a:t>dmz</a:t>
            </a:r>
            <a:r>
              <a:rPr sz="1600" spc="360" dirty="0"/>
              <a:t> </a:t>
            </a:r>
            <a:r>
              <a:rPr sz="1600" dirty="0"/>
              <a:t>·</a:t>
            </a:r>
            <a:r>
              <a:rPr sz="1600" spc="345" dirty="0"/>
              <a:t> </a:t>
            </a:r>
            <a:r>
              <a:rPr sz="1600" spc="-10" dirty="0"/>
              <a:t>192.168.100.184</a:t>
            </a:r>
            <a:endParaRPr sz="16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256" y="499937"/>
            <a:ext cx="45339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Servidor</a:t>
            </a:r>
            <a:r>
              <a:rPr sz="9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público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zona</a:t>
            </a:r>
            <a:r>
              <a:rPr sz="9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DMZ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Nginx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TLS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Portal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bancario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SPA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Proxy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inverso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9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91374" y="85092"/>
            <a:ext cx="1475740" cy="579755"/>
            <a:chOff x="7491374" y="85092"/>
            <a:chExt cx="1475740" cy="579755"/>
          </a:xfrm>
        </p:grpSpPr>
        <p:sp>
          <p:nvSpPr>
            <p:cNvPr id="8" name="object 8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14079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4098" y="533184"/>
                  </a:lnTo>
                  <a:lnTo>
                    <a:pt x="33757" y="562900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1408315" y="566635"/>
                  </a:lnTo>
                  <a:lnTo>
                    <a:pt x="1446969" y="550710"/>
                  </a:lnTo>
                  <a:lnTo>
                    <a:pt x="1462531" y="519338"/>
                  </a:lnTo>
                  <a:lnTo>
                    <a:pt x="1462572" y="519132"/>
                  </a:lnTo>
                  <a:lnTo>
                    <a:pt x="1463016" y="512279"/>
                  </a:lnTo>
                  <a:lnTo>
                    <a:pt x="1463040" y="511924"/>
                  </a:lnTo>
                  <a:lnTo>
                    <a:pt x="1462671" y="54724"/>
                  </a:lnTo>
                  <a:lnTo>
                    <a:pt x="1446745" y="16063"/>
                  </a:lnTo>
                  <a:lnTo>
                    <a:pt x="1415168" y="466"/>
                  </a:lnTo>
                  <a:lnTo>
                    <a:pt x="1407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407960" y="0"/>
                  </a:lnTo>
                  <a:lnTo>
                    <a:pt x="1446745" y="16063"/>
                  </a:lnTo>
                  <a:lnTo>
                    <a:pt x="1462671" y="54724"/>
                  </a:lnTo>
                  <a:lnTo>
                    <a:pt x="1463040" y="511924"/>
                  </a:lnTo>
                  <a:lnTo>
                    <a:pt x="1462572" y="519132"/>
                  </a:lnTo>
                  <a:lnTo>
                    <a:pt x="1461192" y="526140"/>
                  </a:lnTo>
                  <a:lnTo>
                    <a:pt x="1435671" y="559435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88579" y="247575"/>
            <a:ext cx="680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Gateway:</a:t>
            </a:r>
            <a:r>
              <a:rPr sz="7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192.168.100.182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519" y="787313"/>
            <a:ext cx="2959735" cy="4356100"/>
            <a:chOff x="119519" y="787313"/>
            <a:chExt cx="2959735" cy="43561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787313"/>
              <a:ext cx="2959201" cy="4356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6" y="4216639"/>
                  </a:lnTo>
                  <a:lnTo>
                    <a:pt x="56505" y="4245329"/>
                  </a:lnTo>
                  <a:lnTo>
                    <a:pt x="91440" y="4252315"/>
                  </a:lnTo>
                  <a:lnTo>
                    <a:pt x="2652115" y="4252315"/>
                  </a:lnTo>
                  <a:lnTo>
                    <a:pt x="2697835" y="4240072"/>
                  </a:lnTo>
                  <a:lnTo>
                    <a:pt x="2731325" y="4206595"/>
                  </a:lnTo>
                  <a:lnTo>
                    <a:pt x="2743555" y="4160875"/>
                  </a:lnTo>
                  <a:lnTo>
                    <a:pt x="2743531" y="91439"/>
                  </a:lnTo>
                  <a:lnTo>
                    <a:pt x="2731325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79"/>
                  </a:lnTo>
                  <a:lnTo>
                    <a:pt x="68130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25" y="46075"/>
                  </a:lnTo>
                  <a:lnTo>
                    <a:pt x="2743555" y="91795"/>
                  </a:lnTo>
                  <a:lnTo>
                    <a:pt x="2743555" y="4160875"/>
                  </a:lnTo>
                  <a:lnTo>
                    <a:pt x="2742757" y="4172880"/>
                  </a:lnTo>
                  <a:lnTo>
                    <a:pt x="2740407" y="4184545"/>
                  </a:lnTo>
                  <a:lnTo>
                    <a:pt x="2716876" y="4225634"/>
                  </a:lnTo>
                  <a:lnTo>
                    <a:pt x="2675789" y="4249166"/>
                  </a:lnTo>
                  <a:lnTo>
                    <a:pt x="2652115" y="4252315"/>
                  </a:lnTo>
                  <a:lnTo>
                    <a:pt x="91440" y="4252315"/>
                  </a:lnTo>
                  <a:lnTo>
                    <a:pt x="45719" y="4240072"/>
                  </a:lnTo>
                  <a:lnTo>
                    <a:pt x="12242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1256" y="958873"/>
            <a:ext cx="130683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194EFF"/>
                </a:solidFill>
                <a:latin typeface="MingLiU_HKSCS-ExtB"/>
                <a:cs typeface="MingLiU_HKSCS-ExtB"/>
              </a:rPr>
              <a:t>📦</a:t>
            </a:r>
            <a:r>
              <a:rPr sz="900" b="1" dirty="0">
                <a:solidFill>
                  <a:srgbClr val="194EFF"/>
                </a:solidFill>
                <a:latin typeface="Calibri"/>
                <a:cs typeface="Calibri"/>
              </a:rPr>
              <a:t>SERVICIOS</a:t>
            </a:r>
            <a:r>
              <a:rPr sz="900" b="1" spc="175" dirty="0">
                <a:solidFill>
                  <a:srgbClr val="194E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94EFF"/>
                </a:solidFill>
                <a:latin typeface="Calibri"/>
                <a:cs typeface="Calibri"/>
              </a:rPr>
              <a:t>INSTALADOS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620" y="12894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698" y="1307416"/>
            <a:ext cx="97599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Nginx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1.24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OpenSSL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620" y="15637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698" y="1581736"/>
            <a:ext cx="168211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Certificado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TLS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autofirmado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RSA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2048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9620" y="18380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2698" y="1856056"/>
            <a:ext cx="15690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Portal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bancario</a:t>
            </a:r>
            <a:r>
              <a:rPr sz="850" spc="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HTML/CSS/JS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(JWT)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620" y="21123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698" y="2130376"/>
            <a:ext cx="11334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UFW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(22→2222,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80,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443)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9620" y="238670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2698" y="2404696"/>
            <a:ext cx="93789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rsyslog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→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siem-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audit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6547" y="787313"/>
            <a:ext cx="6475095" cy="4356100"/>
            <a:chOff x="316547" y="787313"/>
            <a:chExt cx="6475095" cy="4356100"/>
          </a:xfrm>
        </p:grpSpPr>
        <p:sp>
          <p:nvSpPr>
            <p:cNvPr id="27" name="object 27"/>
            <p:cNvSpPr/>
            <p:nvPr/>
          </p:nvSpPr>
          <p:spPr>
            <a:xfrm>
              <a:off x="320039" y="2724837"/>
              <a:ext cx="2514600" cy="635"/>
            </a:xfrm>
            <a:custGeom>
              <a:avLst/>
              <a:gdLst/>
              <a:ahLst/>
              <a:cxnLst/>
              <a:rect l="l" t="t" r="r" b="b"/>
              <a:pathLst>
                <a:path w="2514600" h="635">
                  <a:moveTo>
                    <a:pt x="0" y="0"/>
                  </a:moveTo>
                  <a:lnTo>
                    <a:pt x="2514600" y="368"/>
                  </a:lnTo>
                </a:path>
              </a:pathLst>
            </a:custGeom>
            <a:ln w="647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883" y="787313"/>
              <a:ext cx="3782161" cy="435601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0" y="4216639"/>
                  </a:lnTo>
                  <a:lnTo>
                    <a:pt x="56505" y="4245329"/>
                  </a:lnTo>
                  <a:lnTo>
                    <a:pt x="91439" y="4252315"/>
                  </a:lnTo>
                  <a:lnTo>
                    <a:pt x="3475075" y="4252315"/>
                  </a:lnTo>
                  <a:lnTo>
                    <a:pt x="3520795" y="4240072"/>
                  </a:lnTo>
                  <a:lnTo>
                    <a:pt x="3554272" y="4206595"/>
                  </a:lnTo>
                  <a:lnTo>
                    <a:pt x="3566515" y="4160875"/>
                  </a:lnTo>
                  <a:lnTo>
                    <a:pt x="3566491" y="91439"/>
                  </a:lnTo>
                  <a:lnTo>
                    <a:pt x="3554272" y="46075"/>
                  </a:lnTo>
                  <a:lnTo>
                    <a:pt x="3520795" y="12598"/>
                  </a:lnTo>
                  <a:lnTo>
                    <a:pt x="347507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3475075" y="355"/>
                  </a:lnTo>
                  <a:lnTo>
                    <a:pt x="3520795" y="12598"/>
                  </a:lnTo>
                  <a:lnTo>
                    <a:pt x="3554272" y="46075"/>
                  </a:lnTo>
                  <a:lnTo>
                    <a:pt x="3566515" y="91795"/>
                  </a:lnTo>
                  <a:lnTo>
                    <a:pt x="3566515" y="4160875"/>
                  </a:lnTo>
                  <a:lnTo>
                    <a:pt x="3565717" y="4172880"/>
                  </a:lnTo>
                  <a:lnTo>
                    <a:pt x="3563366" y="4184545"/>
                  </a:lnTo>
                  <a:lnTo>
                    <a:pt x="3539829" y="4225634"/>
                  </a:lnTo>
                  <a:lnTo>
                    <a:pt x="3498745" y="4249166"/>
                  </a:lnTo>
                  <a:lnTo>
                    <a:pt x="3475075" y="4252315"/>
                  </a:lnTo>
                  <a:lnTo>
                    <a:pt x="91439" y="4252315"/>
                  </a:lnTo>
                  <a:lnTo>
                    <a:pt x="45719" y="4240072"/>
                  </a:lnTo>
                  <a:lnTo>
                    <a:pt x="12230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1256" y="2842385"/>
            <a:ext cx="112585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194EFF"/>
                </a:solidFill>
                <a:latin typeface="MingLiU_HKSCS-ExtB"/>
                <a:cs typeface="MingLiU_HKSCS-ExtB"/>
              </a:rPr>
              <a:t>🔧</a:t>
            </a:r>
            <a:r>
              <a:rPr sz="900" b="1" dirty="0">
                <a:solidFill>
                  <a:srgbClr val="194EFF"/>
                </a:solidFill>
                <a:latin typeface="Calibri"/>
                <a:cs typeface="Calibri"/>
              </a:rPr>
              <a:t>PASOS</a:t>
            </a:r>
            <a:r>
              <a:rPr sz="900" b="1" spc="145" dirty="0">
                <a:solidFill>
                  <a:srgbClr val="194EF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194EFF"/>
                </a:solidFill>
                <a:latin typeface="Calibri"/>
                <a:cs typeface="Calibri"/>
              </a:rPr>
              <a:t>PRINCIPALES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9620" y="309914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9620" y="3438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2698" y="3117140"/>
            <a:ext cx="1906270" cy="494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Certificado: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openssl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req</a:t>
            </a:r>
            <a:r>
              <a:rPr sz="850" spc="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30" dirty="0">
                <a:solidFill>
                  <a:srgbClr val="E7EFFF"/>
                </a:solidFill>
                <a:latin typeface="Calibri"/>
                <a:cs typeface="Calibri"/>
              </a:rPr>
              <a:t>-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x509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-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nodes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-days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365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Nginx: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HTTP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→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HTTPS 301,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TLS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1.2/1.3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9620" y="37125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698" y="3730576"/>
            <a:ext cx="166941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Proxy: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/api/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→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192.168.100.185:3000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9620" y="398690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2698" y="4004896"/>
            <a:ext cx="15671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SPA: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try_files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$uri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$uri/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/index.html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9620" y="42612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2698" y="4279216"/>
            <a:ext cx="173291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before.rules: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bloqueo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ICMP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desde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.187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9620" y="45355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2698" y="4553536"/>
            <a:ext cx="19399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Portal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JWT: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login,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dashboard,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transferencias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58985" y="958873"/>
            <a:ext cx="109855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499DFF"/>
                </a:solidFill>
                <a:latin typeface="MingLiU_HKSCS-ExtB"/>
                <a:cs typeface="MingLiU_HKSCS-ExtB"/>
              </a:rPr>
              <a:t>💻</a:t>
            </a:r>
            <a:r>
              <a:rPr sz="900" b="1" spc="10" dirty="0">
                <a:solidFill>
                  <a:srgbClr val="499DFF"/>
                </a:solidFill>
                <a:latin typeface="Calibri"/>
                <a:cs typeface="Calibri"/>
              </a:rPr>
              <a:t>COMANDOS</a:t>
            </a:r>
            <a:r>
              <a:rPr sz="900" b="1" spc="10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9DFF"/>
                </a:solidFill>
                <a:latin typeface="Calibri"/>
                <a:cs typeface="Calibri"/>
              </a:rPr>
              <a:t>CLAVE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04616" y="1294093"/>
            <a:ext cx="2561590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Generar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certificado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TLS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openssl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req -x509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-nodes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days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365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newkey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rsa:2048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keyout</a:t>
            </a:r>
            <a:r>
              <a:rPr sz="750" spc="3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/etc/ssl/private/bancoseguro.key</a:t>
            </a:r>
            <a:r>
              <a:rPr sz="750" spc="4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out</a:t>
            </a:r>
            <a:r>
              <a:rPr sz="750" spc="3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/etc/ssl/certs/bancoseguro.crt</a:t>
            </a:r>
            <a:r>
              <a:rPr sz="750" spc="3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subj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"/CN=bancoseguro.local"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04616" y="2095463"/>
            <a:ext cx="2561590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3418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Config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Nginx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server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{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listen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443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ssl;</a:t>
            </a:r>
            <a:endParaRPr sz="750">
              <a:latin typeface="Courier New"/>
              <a:cs typeface="Courier New"/>
            </a:endParaRPr>
          </a:p>
          <a:p>
            <a:pPr marL="127000" marR="35052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ssl_certificate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.../bancoseguro.crt;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ssl_protocols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TLSv1.2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TLSv1.3;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location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/api/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{</a:t>
            </a:r>
            <a:endParaRPr sz="750">
              <a:latin typeface="Courier New"/>
              <a:cs typeface="Courier New"/>
            </a:endParaRPr>
          </a:p>
          <a:p>
            <a:pPr marL="24257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proxy_pass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  <a:hlinkClick r:id="rId4"/>
              </a:rPr>
              <a:t>http://192.168.100.185:3000/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;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}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}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04616" y="3240254"/>
            <a:ext cx="209931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Bloqueo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ICMP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cajero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/etc/ufw/before.rules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ufw-before-input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192.168.100.187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-p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icmp -j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DROP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04616" y="3812656"/>
            <a:ext cx="16389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nginx 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t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restart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nginx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721564" y="787313"/>
            <a:ext cx="2355850" cy="4356100"/>
            <a:chOff x="6721564" y="787313"/>
            <a:chExt cx="2355850" cy="4356100"/>
          </a:xfrm>
        </p:grpSpPr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1564" y="787313"/>
              <a:ext cx="2355837" cy="435601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2048040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60519"/>
                  </a:lnTo>
                  <a:lnTo>
                    <a:pt x="774" y="4172164"/>
                  </a:lnTo>
                  <a:lnTo>
                    <a:pt x="798" y="4172525"/>
                  </a:lnTo>
                  <a:lnTo>
                    <a:pt x="3076" y="4183829"/>
                  </a:lnTo>
                  <a:lnTo>
                    <a:pt x="3149" y="4184189"/>
                  </a:lnTo>
                  <a:lnTo>
                    <a:pt x="6864" y="4195091"/>
                  </a:lnTo>
                  <a:lnTo>
                    <a:pt x="6986" y="4195449"/>
                  </a:lnTo>
                  <a:lnTo>
                    <a:pt x="12242" y="4206240"/>
                  </a:lnTo>
                  <a:lnTo>
                    <a:pt x="45720" y="4239717"/>
                  </a:lnTo>
                  <a:lnTo>
                    <a:pt x="91440" y="4251959"/>
                  </a:lnTo>
                  <a:lnTo>
                    <a:pt x="2048395" y="4251604"/>
                  </a:lnTo>
                  <a:lnTo>
                    <a:pt x="2094115" y="4239361"/>
                  </a:lnTo>
                  <a:lnTo>
                    <a:pt x="2127605" y="4205884"/>
                  </a:lnTo>
                  <a:lnTo>
                    <a:pt x="2139812" y="4160519"/>
                  </a:lnTo>
                  <a:lnTo>
                    <a:pt x="2139835" y="4160164"/>
                  </a:lnTo>
                  <a:lnTo>
                    <a:pt x="2139480" y="91439"/>
                  </a:lnTo>
                  <a:lnTo>
                    <a:pt x="2127237" y="45719"/>
                  </a:lnTo>
                  <a:lnTo>
                    <a:pt x="2093760" y="12242"/>
                  </a:lnTo>
                  <a:lnTo>
                    <a:pt x="2060045" y="798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048040" y="0"/>
                  </a:lnTo>
                  <a:lnTo>
                    <a:pt x="2093760" y="12242"/>
                  </a:lnTo>
                  <a:lnTo>
                    <a:pt x="2127237" y="45719"/>
                  </a:lnTo>
                  <a:lnTo>
                    <a:pt x="2139480" y="91439"/>
                  </a:lnTo>
                  <a:lnTo>
                    <a:pt x="2139835" y="4160164"/>
                  </a:lnTo>
                  <a:lnTo>
                    <a:pt x="2139037" y="4172164"/>
                  </a:lnTo>
                  <a:lnTo>
                    <a:pt x="2136687" y="4183829"/>
                  </a:lnTo>
                  <a:lnTo>
                    <a:pt x="2113156" y="4224913"/>
                  </a:lnTo>
                  <a:lnTo>
                    <a:pt x="2072070" y="4248450"/>
                  </a:lnTo>
                  <a:lnTo>
                    <a:pt x="91440" y="4251959"/>
                  </a:lnTo>
                  <a:lnTo>
                    <a:pt x="45720" y="4239717"/>
                  </a:lnTo>
                  <a:lnTo>
                    <a:pt x="12242" y="4206240"/>
                  </a:lnTo>
                  <a:lnTo>
                    <a:pt x="0" y="416051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33C6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971665" y="958873"/>
            <a:ext cx="86423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1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900" b="1" spc="-10" dirty="0">
                <a:solidFill>
                  <a:srgbClr val="33C658"/>
                </a:solidFill>
                <a:latin typeface="Calibri"/>
                <a:cs typeface="Calibri"/>
              </a:rPr>
              <a:t>VERIFICACIÓN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851650" y="1255447"/>
            <a:ext cx="2042795" cy="607060"/>
            <a:chOff x="6851650" y="1255447"/>
            <a:chExt cx="2042795" cy="607060"/>
          </a:xfrm>
        </p:grpSpPr>
        <p:sp>
          <p:nvSpPr>
            <p:cNvPr id="54" name="object 54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008024" y="1310654"/>
            <a:ext cx="8096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Portal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 HTTPS</a:t>
            </a:r>
            <a:r>
              <a:rPr sz="750" b="1" spc="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online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008024" y="1526300"/>
            <a:ext cx="1669414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curl</a:t>
            </a:r>
            <a:r>
              <a:rPr sz="700" spc="-3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k</a:t>
            </a:r>
            <a:r>
              <a:rPr sz="700" spc="-3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  <a:hlinkClick r:id="rId6"/>
              </a:rPr>
              <a:t>https://192.168.100.184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HTML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portal</a:t>
            </a:r>
            <a:r>
              <a:rPr sz="700" spc="-6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851650" y="1913892"/>
            <a:ext cx="2042795" cy="607060"/>
            <a:chOff x="6851650" y="1913892"/>
            <a:chExt cx="2042795" cy="607060"/>
          </a:xfrm>
        </p:grpSpPr>
        <p:sp>
          <p:nvSpPr>
            <p:cNvPr id="59" name="object 59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3994" y="560234"/>
                  </a:lnTo>
                  <a:lnTo>
                    <a:pt x="4098" y="560550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59"/>
                  </a:lnTo>
                  <a:lnTo>
                    <a:pt x="1975319" y="594004"/>
                  </a:lnTo>
                  <a:lnTo>
                    <a:pt x="2013973" y="578067"/>
                  </a:lnTo>
                  <a:lnTo>
                    <a:pt x="2028119" y="553724"/>
                  </a:lnTo>
                  <a:lnTo>
                    <a:pt x="2028196" y="553496"/>
                  </a:lnTo>
                  <a:lnTo>
                    <a:pt x="2029535" y="546696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24"/>
                  </a:lnTo>
                  <a:lnTo>
                    <a:pt x="2013750" y="16063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63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803"/>
                  </a:lnTo>
                  <a:lnTo>
                    <a:pt x="54724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008024" y="1969098"/>
            <a:ext cx="77343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Proxy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API</a:t>
            </a:r>
            <a:r>
              <a:rPr sz="750" b="1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funciona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008024" y="2184732"/>
            <a:ext cx="979169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curl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.../api/login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token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JWT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851650" y="2572336"/>
            <a:ext cx="2042795" cy="607060"/>
            <a:chOff x="6851650" y="2572336"/>
            <a:chExt cx="2042795" cy="607060"/>
          </a:xfrm>
        </p:grpSpPr>
        <p:sp>
          <p:nvSpPr>
            <p:cNvPr id="64" name="object 64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59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30044" y="539280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59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008024" y="2627543"/>
            <a:ext cx="68326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SSH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puerto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2222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008024" y="2843176"/>
            <a:ext cx="103251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ss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tlnp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|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grep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ssh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0.0.0.0:2222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851650" y="3230767"/>
            <a:ext cx="2042795" cy="607060"/>
            <a:chOff x="6851650" y="3230767"/>
            <a:chExt cx="2042795" cy="607060"/>
          </a:xfrm>
        </p:grpSpPr>
        <p:sp>
          <p:nvSpPr>
            <p:cNvPr id="69" name="object 69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7008024" y="3285618"/>
            <a:ext cx="9518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ICMP</a:t>
            </a:r>
            <a:r>
              <a:rPr sz="750" b="1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cajero</a:t>
            </a:r>
            <a:r>
              <a:rPr sz="750" b="1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bloqueado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008024" y="3501620"/>
            <a:ext cx="115379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ping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desde</a:t>
            </a:r>
            <a:r>
              <a:rPr sz="700" spc="-8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.187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100%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packet</a:t>
            </a:r>
            <a:r>
              <a:rPr sz="700" spc="-6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loss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6851650" y="3888856"/>
            <a:ext cx="2042795" cy="607060"/>
            <a:chOff x="6851650" y="3888856"/>
            <a:chExt cx="2042795" cy="607060"/>
          </a:xfrm>
        </p:grpSpPr>
        <p:sp>
          <p:nvSpPr>
            <p:cNvPr id="74" name="object 74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60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8121" y="553718"/>
                  </a:lnTo>
                  <a:lnTo>
                    <a:pt x="2028196" y="553496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60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7008024" y="3944063"/>
            <a:ext cx="81915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Subdominio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público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008024" y="4160052"/>
            <a:ext cx="108585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bancoseguro.rootcode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.com.bo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online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851700" y="4547337"/>
            <a:ext cx="2042795" cy="602615"/>
            <a:chOff x="6851700" y="4547337"/>
            <a:chExt cx="2042795" cy="602615"/>
          </a:xfrm>
        </p:grpSpPr>
        <p:sp>
          <p:nvSpPr>
            <p:cNvPr id="79" name="object 79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312" y="2138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15925" y="578300"/>
                  </a:lnTo>
                  <a:lnTo>
                    <a:pt x="32571" y="589686"/>
                  </a:lnTo>
                  <a:lnTo>
                    <a:pt x="1996680" y="589686"/>
                  </a:lnTo>
                  <a:lnTo>
                    <a:pt x="2025940" y="560247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32571" y="589686"/>
                  </a:moveTo>
                  <a:lnTo>
                    <a:pt x="4098" y="560552"/>
                  </a:lnTo>
                  <a:lnTo>
                    <a:pt x="0" y="539648"/>
                  </a:lnTo>
                  <a:lnTo>
                    <a:pt x="0" y="54724"/>
                  </a:lnTo>
                  <a:lnTo>
                    <a:pt x="16063" y="15936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08611" y="582847"/>
                  </a:lnTo>
                  <a:lnTo>
                    <a:pt x="1996680" y="589686"/>
                  </a:lnTo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7008024" y="4602494"/>
            <a:ext cx="42037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TLS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activo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008024" y="4818140"/>
            <a:ext cx="113919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ssl_protocols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1.2/1.3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configurado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705" y="-6347"/>
            <a:ext cx="9156700" cy="762635"/>
            <a:chOff x="-6705" y="-6347"/>
            <a:chExt cx="9156700" cy="762635"/>
          </a:xfrm>
        </p:grpSpPr>
        <p:sp>
          <p:nvSpPr>
            <p:cNvPr id="3" name="object 3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90187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1" y="48809"/>
                  </a:lnTo>
                  <a:lnTo>
                    <a:pt x="4263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4" y="640966"/>
                  </a:lnTo>
                  <a:lnTo>
                    <a:pt x="1067" y="641322"/>
                  </a:lnTo>
                  <a:lnTo>
                    <a:pt x="4165" y="656997"/>
                  </a:lnTo>
                  <a:lnTo>
                    <a:pt x="4227" y="657313"/>
                  </a:lnTo>
                  <a:lnTo>
                    <a:pt x="9343" y="672488"/>
                  </a:lnTo>
                  <a:lnTo>
                    <a:pt x="36582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9019070" y="749515"/>
                  </a:lnTo>
                  <a:lnTo>
                    <a:pt x="9066811" y="740102"/>
                  </a:lnTo>
                  <a:lnTo>
                    <a:pt x="9107320" y="712933"/>
                  </a:lnTo>
                  <a:lnTo>
                    <a:pt x="9134322" y="672695"/>
                  </a:lnTo>
                  <a:lnTo>
                    <a:pt x="9134425" y="672488"/>
                  </a:lnTo>
                  <a:lnTo>
                    <a:pt x="9139613" y="657313"/>
                  </a:lnTo>
                  <a:lnTo>
                    <a:pt x="9139721" y="656997"/>
                  </a:lnTo>
                  <a:lnTo>
                    <a:pt x="9142853" y="641322"/>
                  </a:lnTo>
                  <a:lnTo>
                    <a:pt x="9142924" y="640966"/>
                  </a:lnTo>
                  <a:lnTo>
                    <a:pt x="9143976" y="624954"/>
                  </a:lnTo>
                  <a:lnTo>
                    <a:pt x="9144000" y="624598"/>
                  </a:lnTo>
                  <a:lnTo>
                    <a:pt x="9143631" y="124917"/>
                  </a:lnTo>
                  <a:lnTo>
                    <a:pt x="9134218" y="77177"/>
                  </a:lnTo>
                  <a:lnTo>
                    <a:pt x="9107049" y="36676"/>
                  </a:lnTo>
                  <a:lnTo>
                    <a:pt x="9066604" y="9569"/>
                  </a:lnTo>
                  <a:lnTo>
                    <a:pt x="9035082" y="1075"/>
                  </a:lnTo>
                  <a:lnTo>
                    <a:pt x="9018714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0" y="124917"/>
                  </a:moveTo>
                  <a:lnTo>
                    <a:pt x="1073" y="108549"/>
                  </a:lnTo>
                  <a:lnTo>
                    <a:pt x="4271" y="92517"/>
                  </a:lnTo>
                  <a:lnTo>
                    <a:pt x="25931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9018714" y="0"/>
                  </a:lnTo>
                  <a:lnTo>
                    <a:pt x="9066604" y="9569"/>
                  </a:lnTo>
                  <a:lnTo>
                    <a:pt x="9107049" y="36676"/>
                  </a:lnTo>
                  <a:lnTo>
                    <a:pt x="9134218" y="77177"/>
                  </a:lnTo>
                  <a:lnTo>
                    <a:pt x="9143631" y="124917"/>
                  </a:lnTo>
                  <a:lnTo>
                    <a:pt x="9144000" y="624598"/>
                  </a:lnTo>
                  <a:lnTo>
                    <a:pt x="9142924" y="640966"/>
                  </a:lnTo>
                  <a:lnTo>
                    <a:pt x="9139721" y="656997"/>
                  </a:lnTo>
                  <a:lnTo>
                    <a:pt x="9118057" y="700708"/>
                  </a:lnTo>
                  <a:lnTo>
                    <a:pt x="9081350" y="732955"/>
                  </a:lnTo>
                  <a:lnTo>
                    <a:pt x="9035438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2" y="713205"/>
                  </a:lnTo>
                  <a:lnTo>
                    <a:pt x="9413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51256" y="122063"/>
            <a:ext cx="3637279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0" spc="330" dirty="0">
                <a:latin typeface="MingLiU_HKSCS-ExtB"/>
                <a:cs typeface="MingLiU_HKSCS-ExtB"/>
              </a:rPr>
              <a:t>⚡</a:t>
            </a:r>
            <a:r>
              <a:rPr sz="1850" b="0" spc="-409" dirty="0">
                <a:latin typeface="MingLiU_HKSCS-ExtB"/>
                <a:cs typeface="MingLiU_HKSCS-ExtB"/>
              </a:rPr>
              <a:t> </a:t>
            </a:r>
            <a:r>
              <a:rPr sz="1600" spc="-25" dirty="0"/>
              <a:t>VM-</a:t>
            </a:r>
            <a:r>
              <a:rPr sz="1600" dirty="0"/>
              <a:t>4</a:t>
            </a:r>
            <a:r>
              <a:rPr sz="1600" spc="-10" dirty="0"/>
              <a:t> </a:t>
            </a:r>
            <a:r>
              <a:rPr sz="1600" dirty="0"/>
              <a:t>—</a:t>
            </a:r>
            <a:r>
              <a:rPr sz="1600" spc="-20" dirty="0"/>
              <a:t> app-</a:t>
            </a:r>
            <a:r>
              <a:rPr sz="1600" dirty="0"/>
              <a:t>server</a:t>
            </a:r>
            <a:r>
              <a:rPr sz="1600" spc="355" dirty="0"/>
              <a:t> </a:t>
            </a:r>
            <a:r>
              <a:rPr sz="1600" dirty="0"/>
              <a:t>·</a:t>
            </a:r>
            <a:r>
              <a:rPr sz="1600" spc="335" dirty="0"/>
              <a:t> </a:t>
            </a:r>
            <a:r>
              <a:rPr sz="1600" spc="-10" dirty="0"/>
              <a:t>192.168.100.185</a:t>
            </a:r>
            <a:endParaRPr sz="16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256" y="499937"/>
            <a:ext cx="39662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Backend</a:t>
            </a:r>
            <a:r>
              <a:rPr sz="9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API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REST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bancaria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Node.js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35" dirty="0">
                <a:solidFill>
                  <a:srgbClr val="FFFFFF"/>
                </a:solidFill>
                <a:latin typeface="Calibri"/>
                <a:cs typeface="Calibri"/>
              </a:rPr>
              <a:t>LTS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Express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JWT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bcrypt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MariaDB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91374" y="85092"/>
            <a:ext cx="1475740" cy="579755"/>
            <a:chOff x="7491374" y="85092"/>
            <a:chExt cx="1475740" cy="579755"/>
          </a:xfrm>
        </p:grpSpPr>
        <p:sp>
          <p:nvSpPr>
            <p:cNvPr id="8" name="object 8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14079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4098" y="533184"/>
                  </a:lnTo>
                  <a:lnTo>
                    <a:pt x="33757" y="562900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1408315" y="566635"/>
                  </a:lnTo>
                  <a:lnTo>
                    <a:pt x="1446969" y="550710"/>
                  </a:lnTo>
                  <a:lnTo>
                    <a:pt x="1462531" y="519338"/>
                  </a:lnTo>
                  <a:lnTo>
                    <a:pt x="1462572" y="519132"/>
                  </a:lnTo>
                  <a:lnTo>
                    <a:pt x="1463016" y="512279"/>
                  </a:lnTo>
                  <a:lnTo>
                    <a:pt x="1463040" y="511924"/>
                  </a:lnTo>
                  <a:lnTo>
                    <a:pt x="1462671" y="54724"/>
                  </a:lnTo>
                  <a:lnTo>
                    <a:pt x="1446745" y="16063"/>
                  </a:lnTo>
                  <a:lnTo>
                    <a:pt x="1415168" y="466"/>
                  </a:lnTo>
                  <a:lnTo>
                    <a:pt x="1407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407960" y="0"/>
                  </a:lnTo>
                  <a:lnTo>
                    <a:pt x="1446745" y="16063"/>
                  </a:lnTo>
                  <a:lnTo>
                    <a:pt x="1462671" y="54724"/>
                  </a:lnTo>
                  <a:lnTo>
                    <a:pt x="1463040" y="511924"/>
                  </a:lnTo>
                  <a:lnTo>
                    <a:pt x="1462572" y="519132"/>
                  </a:lnTo>
                  <a:lnTo>
                    <a:pt x="1461192" y="526140"/>
                  </a:lnTo>
                  <a:lnTo>
                    <a:pt x="1435671" y="559435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88579" y="247575"/>
            <a:ext cx="680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Gateway:</a:t>
            </a:r>
            <a:r>
              <a:rPr sz="7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192.168.100.182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519" y="787313"/>
            <a:ext cx="2959735" cy="4356100"/>
            <a:chOff x="119519" y="787313"/>
            <a:chExt cx="2959735" cy="43561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787313"/>
              <a:ext cx="2959201" cy="4356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6" y="4216639"/>
                  </a:lnTo>
                  <a:lnTo>
                    <a:pt x="56505" y="4245329"/>
                  </a:lnTo>
                  <a:lnTo>
                    <a:pt x="91440" y="4252315"/>
                  </a:lnTo>
                  <a:lnTo>
                    <a:pt x="2652115" y="4252315"/>
                  </a:lnTo>
                  <a:lnTo>
                    <a:pt x="2697835" y="4240072"/>
                  </a:lnTo>
                  <a:lnTo>
                    <a:pt x="2731325" y="4206595"/>
                  </a:lnTo>
                  <a:lnTo>
                    <a:pt x="2743555" y="4160875"/>
                  </a:lnTo>
                  <a:lnTo>
                    <a:pt x="2743531" y="91439"/>
                  </a:lnTo>
                  <a:lnTo>
                    <a:pt x="2731325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79"/>
                  </a:lnTo>
                  <a:lnTo>
                    <a:pt x="68130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25" y="46075"/>
                  </a:lnTo>
                  <a:lnTo>
                    <a:pt x="2743555" y="91795"/>
                  </a:lnTo>
                  <a:lnTo>
                    <a:pt x="2743555" y="4160875"/>
                  </a:lnTo>
                  <a:lnTo>
                    <a:pt x="2742757" y="4172880"/>
                  </a:lnTo>
                  <a:lnTo>
                    <a:pt x="2740407" y="4184545"/>
                  </a:lnTo>
                  <a:lnTo>
                    <a:pt x="2716876" y="4225634"/>
                  </a:lnTo>
                  <a:lnTo>
                    <a:pt x="2675789" y="4249166"/>
                  </a:lnTo>
                  <a:lnTo>
                    <a:pt x="2652115" y="4252315"/>
                  </a:lnTo>
                  <a:lnTo>
                    <a:pt x="91440" y="4252315"/>
                  </a:lnTo>
                  <a:lnTo>
                    <a:pt x="45719" y="4240072"/>
                  </a:lnTo>
                  <a:lnTo>
                    <a:pt x="12242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1256" y="958873"/>
            <a:ext cx="130683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D87605"/>
                </a:solidFill>
                <a:latin typeface="MingLiU_HKSCS-ExtB"/>
                <a:cs typeface="MingLiU_HKSCS-ExtB"/>
              </a:rPr>
              <a:t>📦</a:t>
            </a:r>
            <a:r>
              <a:rPr sz="900" b="1" dirty="0">
                <a:solidFill>
                  <a:srgbClr val="D87605"/>
                </a:solidFill>
                <a:latin typeface="Calibri"/>
                <a:cs typeface="Calibri"/>
              </a:rPr>
              <a:t>SERVICIOS</a:t>
            </a:r>
            <a:r>
              <a:rPr sz="900" b="1" spc="175" dirty="0">
                <a:solidFill>
                  <a:srgbClr val="D87605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D87605"/>
                </a:solidFill>
                <a:latin typeface="Calibri"/>
                <a:cs typeface="Calibri"/>
              </a:rPr>
              <a:t>INSTALADOS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620" y="12894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698" y="1307416"/>
            <a:ext cx="95885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Node.js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20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LTS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+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npm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620" y="15637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698" y="1581736"/>
            <a:ext cx="17881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Express,</a:t>
            </a:r>
            <a:r>
              <a:rPr sz="8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mysql2,</a:t>
            </a:r>
            <a:r>
              <a:rPr sz="850" spc="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bcryptjs,</a:t>
            </a:r>
            <a:r>
              <a:rPr sz="850" spc="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jsonwebtoken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9620" y="18380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2698" y="1856056"/>
            <a:ext cx="5632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cors,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dotenv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620" y="21123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698" y="2130376"/>
            <a:ext cx="157670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Servicio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systemd:</a:t>
            </a:r>
            <a:r>
              <a:rPr sz="8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banco-api.service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9620" y="238670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2698" y="2404696"/>
            <a:ext cx="151130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UFW: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3000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solo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desde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.184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y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.187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6547" y="787313"/>
            <a:ext cx="6475095" cy="4356100"/>
            <a:chOff x="316547" y="787313"/>
            <a:chExt cx="6475095" cy="4356100"/>
          </a:xfrm>
        </p:grpSpPr>
        <p:sp>
          <p:nvSpPr>
            <p:cNvPr id="27" name="object 27"/>
            <p:cNvSpPr/>
            <p:nvPr/>
          </p:nvSpPr>
          <p:spPr>
            <a:xfrm>
              <a:off x="320039" y="2724837"/>
              <a:ext cx="2514600" cy="635"/>
            </a:xfrm>
            <a:custGeom>
              <a:avLst/>
              <a:gdLst/>
              <a:ahLst/>
              <a:cxnLst/>
              <a:rect l="l" t="t" r="r" b="b"/>
              <a:pathLst>
                <a:path w="2514600" h="635">
                  <a:moveTo>
                    <a:pt x="0" y="0"/>
                  </a:moveTo>
                  <a:lnTo>
                    <a:pt x="2514600" y="368"/>
                  </a:lnTo>
                </a:path>
              </a:pathLst>
            </a:custGeom>
            <a:ln w="647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883" y="787313"/>
              <a:ext cx="3782161" cy="435601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0" y="4216639"/>
                  </a:lnTo>
                  <a:lnTo>
                    <a:pt x="56505" y="4245329"/>
                  </a:lnTo>
                  <a:lnTo>
                    <a:pt x="91439" y="4252315"/>
                  </a:lnTo>
                  <a:lnTo>
                    <a:pt x="3475075" y="4252315"/>
                  </a:lnTo>
                  <a:lnTo>
                    <a:pt x="3520795" y="4240072"/>
                  </a:lnTo>
                  <a:lnTo>
                    <a:pt x="3554272" y="4206595"/>
                  </a:lnTo>
                  <a:lnTo>
                    <a:pt x="3566515" y="4160875"/>
                  </a:lnTo>
                  <a:lnTo>
                    <a:pt x="3566491" y="91439"/>
                  </a:lnTo>
                  <a:lnTo>
                    <a:pt x="3554272" y="46075"/>
                  </a:lnTo>
                  <a:lnTo>
                    <a:pt x="3520795" y="12598"/>
                  </a:lnTo>
                  <a:lnTo>
                    <a:pt x="347507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3475075" y="355"/>
                  </a:lnTo>
                  <a:lnTo>
                    <a:pt x="3520795" y="12598"/>
                  </a:lnTo>
                  <a:lnTo>
                    <a:pt x="3554272" y="46075"/>
                  </a:lnTo>
                  <a:lnTo>
                    <a:pt x="3566515" y="91795"/>
                  </a:lnTo>
                  <a:lnTo>
                    <a:pt x="3566515" y="4160875"/>
                  </a:lnTo>
                  <a:lnTo>
                    <a:pt x="3565717" y="4172880"/>
                  </a:lnTo>
                  <a:lnTo>
                    <a:pt x="3563366" y="4184545"/>
                  </a:lnTo>
                  <a:lnTo>
                    <a:pt x="3539829" y="4225634"/>
                  </a:lnTo>
                  <a:lnTo>
                    <a:pt x="3498745" y="4249166"/>
                  </a:lnTo>
                  <a:lnTo>
                    <a:pt x="3475075" y="4252315"/>
                  </a:lnTo>
                  <a:lnTo>
                    <a:pt x="91439" y="4252315"/>
                  </a:lnTo>
                  <a:lnTo>
                    <a:pt x="45719" y="4240072"/>
                  </a:lnTo>
                  <a:lnTo>
                    <a:pt x="12230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1256" y="2842385"/>
            <a:ext cx="112585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D87605"/>
                </a:solidFill>
                <a:latin typeface="MingLiU_HKSCS-ExtB"/>
                <a:cs typeface="MingLiU_HKSCS-ExtB"/>
              </a:rPr>
              <a:t>🔧</a:t>
            </a:r>
            <a:r>
              <a:rPr sz="900" b="1" dirty="0">
                <a:solidFill>
                  <a:srgbClr val="D87605"/>
                </a:solidFill>
                <a:latin typeface="Calibri"/>
                <a:cs typeface="Calibri"/>
              </a:rPr>
              <a:t>PASOS</a:t>
            </a:r>
            <a:r>
              <a:rPr sz="900" b="1" spc="145" dirty="0">
                <a:solidFill>
                  <a:srgbClr val="D87605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D87605"/>
                </a:solidFill>
                <a:latin typeface="Calibri"/>
                <a:cs typeface="Calibri"/>
              </a:rPr>
              <a:t>PRINCIPALES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9620" y="309914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9620" y="3438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12698" y="3117140"/>
            <a:ext cx="1574165" cy="494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npm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install express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mysql2 bcryptjs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jsonwebtoken</a:t>
            </a:r>
            <a:r>
              <a:rPr sz="8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cors</a:t>
            </a:r>
            <a:r>
              <a:rPr sz="8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dotenv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JWT: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sign()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con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expiresIn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8h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9620" y="3697465"/>
            <a:ext cx="64135" cy="3149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9620" y="42612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9620" y="447074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12698" y="3715448"/>
            <a:ext cx="1976120" cy="105791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ct val="105900"/>
              </a:lnSpc>
              <a:spcBef>
                <a:spcPts val="16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bcrypt.compare()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para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verificar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contraseñas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Endpoints: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GET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/,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POST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/login,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GET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/cuentas,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GET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/saldo,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GET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/transacciones,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POST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/transferir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systemd:</a:t>
            </a:r>
            <a:r>
              <a:rPr sz="850" spc="4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Restart=always,</a:t>
            </a:r>
            <a:r>
              <a:rPr sz="850" spc="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User=adming11</a:t>
            </a:r>
            <a:endParaRPr sz="850">
              <a:latin typeface="Calibri"/>
              <a:cs typeface="Calibri"/>
            </a:endParaRPr>
          </a:p>
          <a:p>
            <a:pPr marL="12700" marR="271780">
              <a:lnSpc>
                <a:spcPct val="100000"/>
              </a:lnSpc>
              <a:spcBef>
                <a:spcPts val="63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UFW: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solo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.184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y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.187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pueden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acceder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al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:3000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58985" y="958873"/>
            <a:ext cx="109855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499DFF"/>
                </a:solidFill>
                <a:latin typeface="MingLiU_HKSCS-ExtB"/>
                <a:cs typeface="MingLiU_HKSCS-ExtB"/>
              </a:rPr>
              <a:t>💻</a:t>
            </a:r>
            <a:r>
              <a:rPr sz="900" b="1" spc="10" dirty="0">
                <a:solidFill>
                  <a:srgbClr val="499DFF"/>
                </a:solidFill>
                <a:latin typeface="Calibri"/>
                <a:cs typeface="Calibri"/>
              </a:rPr>
              <a:t>COMANDOS</a:t>
            </a:r>
            <a:r>
              <a:rPr sz="900" b="1" spc="10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9DFF"/>
                </a:solidFill>
                <a:latin typeface="Calibri"/>
                <a:cs typeface="Calibri"/>
              </a:rPr>
              <a:t>CLAVE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04616" y="1294093"/>
            <a:ext cx="221551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Instalar Node.js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20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LTS</a:t>
            </a:r>
            <a:endParaRPr sz="750">
              <a:latin typeface="Courier New"/>
              <a:cs typeface="Courier New"/>
            </a:endParaRPr>
          </a:p>
          <a:p>
            <a:pPr marL="127000" marR="5080" indent="-114935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fsSL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  <a:hlinkClick r:id="rId4"/>
              </a:rPr>
              <a:t>https://deb.nodesource.com/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  <a:hlinkClick r:id="rId4"/>
              </a:rPr>
              <a:t>setup_20.x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|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-E bash </a:t>
            </a:r>
            <a:r>
              <a:rPr sz="750" spc="-6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 apt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install -y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nodejs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04616" y="1866495"/>
            <a:ext cx="2042795" cy="59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Crear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proyecto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mkdir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~/banco-api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&amp;&amp; cd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~/banco-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api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npm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init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y</a:t>
            </a:r>
            <a:endParaRPr sz="750">
              <a:latin typeface="Courier New"/>
              <a:cs typeface="Courier New"/>
            </a:endParaRPr>
          </a:p>
          <a:p>
            <a:pPr marL="127000" marR="6350" indent="-114935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npm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install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express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mysql2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bcryptjs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jsonwebtoken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cors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dotenv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04616" y="2553375"/>
            <a:ext cx="1927225" cy="59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8166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Variables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entorno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nano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.env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DB_HOST=192.168.100.186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JWT_SECRET=BancoSeguro2026$Secret PORT=3000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04616" y="3240254"/>
            <a:ext cx="1868805" cy="82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Servicio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systemd</a:t>
            </a:r>
            <a:endParaRPr sz="750">
              <a:latin typeface="Courier New"/>
              <a:cs typeface="Courier New"/>
            </a:endParaRPr>
          </a:p>
          <a:p>
            <a:pPr marL="530225" marR="118745" indent="-518159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nano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/etc/systemd/system/ banco-api.service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[Service]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ExecStart=/usr/bin/node</a:t>
            </a:r>
            <a:r>
              <a:rPr sz="750" spc="2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index.js Restart=always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User=adming11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04616" y="4156102"/>
            <a:ext cx="181292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enable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banco-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api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systemctl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start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banco-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api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721564" y="787313"/>
            <a:ext cx="2355850" cy="4356100"/>
            <a:chOff x="6721564" y="787313"/>
            <a:chExt cx="2355850" cy="4356100"/>
          </a:xfrm>
        </p:grpSpPr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1564" y="787313"/>
              <a:ext cx="2355837" cy="435601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2048040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60519"/>
                  </a:lnTo>
                  <a:lnTo>
                    <a:pt x="774" y="4172164"/>
                  </a:lnTo>
                  <a:lnTo>
                    <a:pt x="798" y="4172525"/>
                  </a:lnTo>
                  <a:lnTo>
                    <a:pt x="3076" y="4183829"/>
                  </a:lnTo>
                  <a:lnTo>
                    <a:pt x="3149" y="4184189"/>
                  </a:lnTo>
                  <a:lnTo>
                    <a:pt x="6864" y="4195091"/>
                  </a:lnTo>
                  <a:lnTo>
                    <a:pt x="6986" y="4195449"/>
                  </a:lnTo>
                  <a:lnTo>
                    <a:pt x="12242" y="4206240"/>
                  </a:lnTo>
                  <a:lnTo>
                    <a:pt x="45720" y="4239717"/>
                  </a:lnTo>
                  <a:lnTo>
                    <a:pt x="91440" y="4251959"/>
                  </a:lnTo>
                  <a:lnTo>
                    <a:pt x="2048395" y="4251604"/>
                  </a:lnTo>
                  <a:lnTo>
                    <a:pt x="2094115" y="4239361"/>
                  </a:lnTo>
                  <a:lnTo>
                    <a:pt x="2127605" y="4205884"/>
                  </a:lnTo>
                  <a:lnTo>
                    <a:pt x="2139812" y="4160519"/>
                  </a:lnTo>
                  <a:lnTo>
                    <a:pt x="2139835" y="4160164"/>
                  </a:lnTo>
                  <a:lnTo>
                    <a:pt x="2139480" y="91439"/>
                  </a:lnTo>
                  <a:lnTo>
                    <a:pt x="2127237" y="45719"/>
                  </a:lnTo>
                  <a:lnTo>
                    <a:pt x="2093760" y="12242"/>
                  </a:lnTo>
                  <a:lnTo>
                    <a:pt x="2060045" y="798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048040" y="0"/>
                  </a:lnTo>
                  <a:lnTo>
                    <a:pt x="2093760" y="12242"/>
                  </a:lnTo>
                  <a:lnTo>
                    <a:pt x="2127237" y="45719"/>
                  </a:lnTo>
                  <a:lnTo>
                    <a:pt x="2139480" y="91439"/>
                  </a:lnTo>
                  <a:lnTo>
                    <a:pt x="2139835" y="4160164"/>
                  </a:lnTo>
                  <a:lnTo>
                    <a:pt x="2139037" y="4172164"/>
                  </a:lnTo>
                  <a:lnTo>
                    <a:pt x="2136687" y="4183829"/>
                  </a:lnTo>
                  <a:lnTo>
                    <a:pt x="2113156" y="4224913"/>
                  </a:lnTo>
                  <a:lnTo>
                    <a:pt x="2072070" y="4248450"/>
                  </a:lnTo>
                  <a:lnTo>
                    <a:pt x="91440" y="4251959"/>
                  </a:lnTo>
                  <a:lnTo>
                    <a:pt x="45720" y="4239717"/>
                  </a:lnTo>
                  <a:lnTo>
                    <a:pt x="12242" y="4206240"/>
                  </a:lnTo>
                  <a:lnTo>
                    <a:pt x="0" y="416051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33C6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6971665" y="958873"/>
            <a:ext cx="86423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1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900" b="1" spc="-10" dirty="0">
                <a:solidFill>
                  <a:srgbClr val="33C658"/>
                </a:solidFill>
                <a:latin typeface="Calibri"/>
                <a:cs typeface="Calibri"/>
              </a:rPr>
              <a:t>VERIFICACIÓN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851650" y="1255447"/>
            <a:ext cx="2042795" cy="607060"/>
            <a:chOff x="6851650" y="1255447"/>
            <a:chExt cx="2042795" cy="607060"/>
          </a:xfrm>
        </p:grpSpPr>
        <p:sp>
          <p:nvSpPr>
            <p:cNvPr id="51" name="object 51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008024" y="1310654"/>
            <a:ext cx="5556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API</a:t>
            </a:r>
            <a:r>
              <a:rPr sz="750" b="1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responde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08024" y="1526300"/>
            <a:ext cx="172148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curl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  <a:hlinkClick r:id="rId6"/>
              </a:rPr>
              <a:t>http://192.168.100.185:3000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{estado:activo}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851650" y="1913892"/>
            <a:ext cx="2042795" cy="607060"/>
            <a:chOff x="6851650" y="1913892"/>
            <a:chExt cx="2042795" cy="607060"/>
          </a:xfrm>
        </p:grpSpPr>
        <p:sp>
          <p:nvSpPr>
            <p:cNvPr id="56" name="object 56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3994" y="560234"/>
                  </a:lnTo>
                  <a:lnTo>
                    <a:pt x="4098" y="560550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59"/>
                  </a:lnTo>
                  <a:lnTo>
                    <a:pt x="1975319" y="594004"/>
                  </a:lnTo>
                  <a:lnTo>
                    <a:pt x="2013973" y="578067"/>
                  </a:lnTo>
                  <a:lnTo>
                    <a:pt x="2028119" y="553724"/>
                  </a:lnTo>
                  <a:lnTo>
                    <a:pt x="2028196" y="553496"/>
                  </a:lnTo>
                  <a:lnTo>
                    <a:pt x="2029535" y="546696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24"/>
                  </a:lnTo>
                  <a:lnTo>
                    <a:pt x="2013750" y="16063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63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803"/>
                  </a:lnTo>
                  <a:lnTo>
                    <a:pt x="54724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008024" y="1969098"/>
            <a:ext cx="79375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Login</a:t>
            </a:r>
            <a:r>
              <a:rPr sz="750" b="1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JWT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funciona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08024" y="2184732"/>
            <a:ext cx="94170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POST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/login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token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eyJ...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851650" y="2572336"/>
            <a:ext cx="2042795" cy="607060"/>
            <a:chOff x="6851650" y="2572336"/>
            <a:chExt cx="2042795" cy="607060"/>
          </a:xfrm>
        </p:grpSpPr>
        <p:sp>
          <p:nvSpPr>
            <p:cNvPr id="61" name="object 61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59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30044" y="539280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59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7008024" y="2627543"/>
            <a:ext cx="60007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Servicio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activo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008024" y="2843176"/>
            <a:ext cx="140462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systemctl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status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banco-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api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active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(running)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851650" y="3230767"/>
            <a:ext cx="2042795" cy="607060"/>
            <a:chOff x="6851650" y="3230767"/>
            <a:chExt cx="2042795" cy="607060"/>
          </a:xfrm>
        </p:grpSpPr>
        <p:sp>
          <p:nvSpPr>
            <p:cNvPr id="66" name="object 66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008024" y="3285618"/>
            <a:ext cx="67310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UFW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restringido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008024" y="3501620"/>
            <a:ext cx="995044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solo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.184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y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.187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acceden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:3000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6851650" y="3888856"/>
            <a:ext cx="2042795" cy="607060"/>
            <a:chOff x="6851650" y="3888856"/>
            <a:chExt cx="2042795" cy="607060"/>
          </a:xfrm>
        </p:grpSpPr>
        <p:sp>
          <p:nvSpPr>
            <p:cNvPr id="71" name="object 71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60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8121" y="553718"/>
                  </a:lnTo>
                  <a:lnTo>
                    <a:pt x="2028196" y="553496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60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7008024" y="3944063"/>
            <a:ext cx="68326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SSH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puerto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2222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008024" y="4160052"/>
            <a:ext cx="103251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ss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tlnp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|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grep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ssh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0.0.0.0:2222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6851700" y="4547337"/>
            <a:ext cx="2042795" cy="602615"/>
            <a:chOff x="6851700" y="4547337"/>
            <a:chExt cx="2042795" cy="602615"/>
          </a:xfrm>
        </p:grpSpPr>
        <p:sp>
          <p:nvSpPr>
            <p:cNvPr id="76" name="object 76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312" y="2138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15925" y="578300"/>
                  </a:lnTo>
                  <a:lnTo>
                    <a:pt x="32571" y="589686"/>
                  </a:lnTo>
                  <a:lnTo>
                    <a:pt x="1996680" y="589686"/>
                  </a:lnTo>
                  <a:lnTo>
                    <a:pt x="2025940" y="560247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32571" y="589686"/>
                  </a:moveTo>
                  <a:lnTo>
                    <a:pt x="4098" y="560552"/>
                  </a:lnTo>
                  <a:lnTo>
                    <a:pt x="0" y="539648"/>
                  </a:lnTo>
                  <a:lnTo>
                    <a:pt x="0" y="54724"/>
                  </a:lnTo>
                  <a:lnTo>
                    <a:pt x="16063" y="15936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08611" y="582847"/>
                  </a:lnTo>
                  <a:lnTo>
                    <a:pt x="1996680" y="589686"/>
                  </a:lnTo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7008024" y="4602494"/>
            <a:ext cx="55181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Conecta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a</a:t>
            </a:r>
            <a:r>
              <a:rPr sz="750" b="1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BD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008024" y="4818140"/>
            <a:ext cx="124460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DB_HOST=192.168.100.186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conexión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OK</a:t>
            </a:r>
            <a:r>
              <a:rPr sz="700" spc="-3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705" y="-6347"/>
            <a:ext cx="9156700" cy="762635"/>
            <a:chOff x="-6705" y="-6347"/>
            <a:chExt cx="9156700" cy="762635"/>
          </a:xfrm>
        </p:grpSpPr>
        <p:sp>
          <p:nvSpPr>
            <p:cNvPr id="3" name="object 3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90187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1" y="48809"/>
                  </a:lnTo>
                  <a:lnTo>
                    <a:pt x="4263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4" y="640966"/>
                  </a:lnTo>
                  <a:lnTo>
                    <a:pt x="1067" y="641322"/>
                  </a:lnTo>
                  <a:lnTo>
                    <a:pt x="4165" y="656997"/>
                  </a:lnTo>
                  <a:lnTo>
                    <a:pt x="4227" y="657313"/>
                  </a:lnTo>
                  <a:lnTo>
                    <a:pt x="9343" y="672488"/>
                  </a:lnTo>
                  <a:lnTo>
                    <a:pt x="36582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9019070" y="749515"/>
                  </a:lnTo>
                  <a:lnTo>
                    <a:pt x="9066811" y="740102"/>
                  </a:lnTo>
                  <a:lnTo>
                    <a:pt x="9107320" y="712933"/>
                  </a:lnTo>
                  <a:lnTo>
                    <a:pt x="9134322" y="672695"/>
                  </a:lnTo>
                  <a:lnTo>
                    <a:pt x="9134425" y="672488"/>
                  </a:lnTo>
                  <a:lnTo>
                    <a:pt x="9139613" y="657313"/>
                  </a:lnTo>
                  <a:lnTo>
                    <a:pt x="9139721" y="656997"/>
                  </a:lnTo>
                  <a:lnTo>
                    <a:pt x="9142853" y="641322"/>
                  </a:lnTo>
                  <a:lnTo>
                    <a:pt x="9142924" y="640966"/>
                  </a:lnTo>
                  <a:lnTo>
                    <a:pt x="9143976" y="624954"/>
                  </a:lnTo>
                  <a:lnTo>
                    <a:pt x="9144000" y="624598"/>
                  </a:lnTo>
                  <a:lnTo>
                    <a:pt x="9143631" y="124917"/>
                  </a:lnTo>
                  <a:lnTo>
                    <a:pt x="9134218" y="77177"/>
                  </a:lnTo>
                  <a:lnTo>
                    <a:pt x="9107049" y="36676"/>
                  </a:lnTo>
                  <a:lnTo>
                    <a:pt x="9066604" y="9569"/>
                  </a:lnTo>
                  <a:lnTo>
                    <a:pt x="9035082" y="1075"/>
                  </a:lnTo>
                  <a:lnTo>
                    <a:pt x="9018714" y="0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0" y="124917"/>
                  </a:moveTo>
                  <a:lnTo>
                    <a:pt x="1073" y="108549"/>
                  </a:lnTo>
                  <a:lnTo>
                    <a:pt x="4271" y="92517"/>
                  </a:lnTo>
                  <a:lnTo>
                    <a:pt x="25931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9018714" y="0"/>
                  </a:lnTo>
                  <a:lnTo>
                    <a:pt x="9066604" y="9569"/>
                  </a:lnTo>
                  <a:lnTo>
                    <a:pt x="9107049" y="36676"/>
                  </a:lnTo>
                  <a:lnTo>
                    <a:pt x="9134218" y="77177"/>
                  </a:lnTo>
                  <a:lnTo>
                    <a:pt x="9143631" y="124917"/>
                  </a:lnTo>
                  <a:lnTo>
                    <a:pt x="9144000" y="624598"/>
                  </a:lnTo>
                  <a:lnTo>
                    <a:pt x="9142924" y="640966"/>
                  </a:lnTo>
                  <a:lnTo>
                    <a:pt x="9139721" y="656997"/>
                  </a:lnTo>
                  <a:lnTo>
                    <a:pt x="9118057" y="700708"/>
                  </a:lnTo>
                  <a:lnTo>
                    <a:pt x="9081350" y="732955"/>
                  </a:lnTo>
                  <a:lnTo>
                    <a:pt x="9035438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2" y="713205"/>
                  </a:lnTo>
                  <a:lnTo>
                    <a:pt x="9413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51256" y="122063"/>
            <a:ext cx="3378200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0" spc="-760" dirty="0">
                <a:latin typeface="MingLiU_HKSCS-ExtB"/>
                <a:cs typeface="MingLiU_HKSCS-ExtB"/>
              </a:rPr>
              <a:t>🗄️</a:t>
            </a:r>
            <a:r>
              <a:rPr sz="1850" b="0" spc="-409" dirty="0">
                <a:latin typeface="MingLiU_HKSCS-ExtB"/>
                <a:cs typeface="MingLiU_HKSCS-ExtB"/>
              </a:rPr>
              <a:t> </a:t>
            </a:r>
            <a:r>
              <a:rPr sz="1600" spc="-25" dirty="0"/>
              <a:t>VM-</a:t>
            </a:r>
            <a:r>
              <a:rPr sz="1600" dirty="0"/>
              <a:t>5</a:t>
            </a:r>
            <a:r>
              <a:rPr sz="1600" spc="-25" dirty="0"/>
              <a:t> </a:t>
            </a:r>
            <a:r>
              <a:rPr sz="1600" dirty="0"/>
              <a:t>—</a:t>
            </a:r>
            <a:r>
              <a:rPr sz="1600" spc="-20" dirty="0"/>
              <a:t> </a:t>
            </a:r>
            <a:r>
              <a:rPr sz="1600" spc="-10" dirty="0"/>
              <a:t>db-</a:t>
            </a:r>
            <a:r>
              <a:rPr sz="1600" dirty="0"/>
              <a:t>core</a:t>
            </a:r>
            <a:r>
              <a:rPr sz="1600" spc="330" dirty="0"/>
              <a:t> </a:t>
            </a:r>
            <a:r>
              <a:rPr sz="1600" dirty="0"/>
              <a:t>·</a:t>
            </a:r>
            <a:r>
              <a:rPr sz="1600" spc="340" dirty="0"/>
              <a:t> </a:t>
            </a:r>
            <a:r>
              <a:rPr sz="1600" spc="-10" dirty="0"/>
              <a:t>192.168.100.186</a:t>
            </a:r>
            <a:endParaRPr sz="16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256" y="499937"/>
            <a:ext cx="442468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datos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crítica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MariaDB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acceso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restringido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por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IP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cifrado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GPG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diario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91374" y="85092"/>
            <a:ext cx="1475740" cy="579755"/>
            <a:chOff x="7491374" y="85092"/>
            <a:chExt cx="1475740" cy="579755"/>
          </a:xfrm>
        </p:grpSpPr>
        <p:sp>
          <p:nvSpPr>
            <p:cNvPr id="8" name="object 8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14079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4098" y="533184"/>
                  </a:lnTo>
                  <a:lnTo>
                    <a:pt x="33757" y="562900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1408315" y="566635"/>
                  </a:lnTo>
                  <a:lnTo>
                    <a:pt x="1446969" y="550710"/>
                  </a:lnTo>
                  <a:lnTo>
                    <a:pt x="1462531" y="519338"/>
                  </a:lnTo>
                  <a:lnTo>
                    <a:pt x="1462572" y="519132"/>
                  </a:lnTo>
                  <a:lnTo>
                    <a:pt x="1463016" y="512279"/>
                  </a:lnTo>
                  <a:lnTo>
                    <a:pt x="1463040" y="511924"/>
                  </a:lnTo>
                  <a:lnTo>
                    <a:pt x="1462671" y="54724"/>
                  </a:lnTo>
                  <a:lnTo>
                    <a:pt x="1446745" y="16063"/>
                  </a:lnTo>
                  <a:lnTo>
                    <a:pt x="1415168" y="466"/>
                  </a:lnTo>
                  <a:lnTo>
                    <a:pt x="1407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407960" y="0"/>
                  </a:lnTo>
                  <a:lnTo>
                    <a:pt x="1446745" y="16063"/>
                  </a:lnTo>
                  <a:lnTo>
                    <a:pt x="1462671" y="54724"/>
                  </a:lnTo>
                  <a:lnTo>
                    <a:pt x="1463040" y="511924"/>
                  </a:lnTo>
                  <a:lnTo>
                    <a:pt x="1462572" y="519132"/>
                  </a:lnTo>
                  <a:lnTo>
                    <a:pt x="1461192" y="526140"/>
                  </a:lnTo>
                  <a:lnTo>
                    <a:pt x="1435671" y="559435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88579" y="247575"/>
            <a:ext cx="680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Gateway:</a:t>
            </a:r>
            <a:r>
              <a:rPr sz="7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192.168.100.182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519" y="787313"/>
            <a:ext cx="2959735" cy="4356100"/>
            <a:chOff x="119519" y="787313"/>
            <a:chExt cx="2959735" cy="43561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787313"/>
              <a:ext cx="2959201" cy="4356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6" y="4216639"/>
                  </a:lnTo>
                  <a:lnTo>
                    <a:pt x="56505" y="4245329"/>
                  </a:lnTo>
                  <a:lnTo>
                    <a:pt x="91440" y="4252315"/>
                  </a:lnTo>
                  <a:lnTo>
                    <a:pt x="2652115" y="4252315"/>
                  </a:lnTo>
                  <a:lnTo>
                    <a:pt x="2697835" y="4240072"/>
                  </a:lnTo>
                  <a:lnTo>
                    <a:pt x="2731325" y="4206595"/>
                  </a:lnTo>
                  <a:lnTo>
                    <a:pt x="2743555" y="4160875"/>
                  </a:lnTo>
                  <a:lnTo>
                    <a:pt x="2743531" y="91439"/>
                  </a:lnTo>
                  <a:lnTo>
                    <a:pt x="2731325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79"/>
                  </a:lnTo>
                  <a:lnTo>
                    <a:pt x="68130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25" y="46075"/>
                  </a:lnTo>
                  <a:lnTo>
                    <a:pt x="2743555" y="91795"/>
                  </a:lnTo>
                  <a:lnTo>
                    <a:pt x="2743555" y="4160875"/>
                  </a:lnTo>
                  <a:lnTo>
                    <a:pt x="2742757" y="4172880"/>
                  </a:lnTo>
                  <a:lnTo>
                    <a:pt x="2740407" y="4184545"/>
                  </a:lnTo>
                  <a:lnTo>
                    <a:pt x="2716876" y="4225634"/>
                  </a:lnTo>
                  <a:lnTo>
                    <a:pt x="2675789" y="4249166"/>
                  </a:lnTo>
                  <a:lnTo>
                    <a:pt x="2652115" y="4252315"/>
                  </a:lnTo>
                  <a:lnTo>
                    <a:pt x="91440" y="4252315"/>
                  </a:lnTo>
                  <a:lnTo>
                    <a:pt x="45719" y="4240072"/>
                  </a:lnTo>
                  <a:lnTo>
                    <a:pt x="12242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DB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1256" y="958873"/>
            <a:ext cx="130683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DB2525"/>
                </a:solidFill>
                <a:latin typeface="MingLiU_HKSCS-ExtB"/>
                <a:cs typeface="MingLiU_HKSCS-ExtB"/>
              </a:rPr>
              <a:t>📦</a:t>
            </a:r>
            <a:r>
              <a:rPr sz="900" b="1" dirty="0">
                <a:solidFill>
                  <a:srgbClr val="DB2525"/>
                </a:solidFill>
                <a:latin typeface="Calibri"/>
                <a:cs typeface="Calibri"/>
              </a:rPr>
              <a:t>SERVICIOS</a:t>
            </a:r>
            <a:r>
              <a:rPr sz="900" b="1" spc="175" dirty="0">
                <a:solidFill>
                  <a:srgbClr val="DB2525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DB2525"/>
                </a:solidFill>
                <a:latin typeface="Calibri"/>
                <a:cs typeface="Calibri"/>
              </a:rPr>
              <a:t>INSTALADOS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620" y="12894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698" y="1307416"/>
            <a:ext cx="7150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MariaDB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Server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620" y="15637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698" y="1581736"/>
            <a:ext cx="12833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GPG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para cifrado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backups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9620" y="18380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2698" y="1856056"/>
            <a:ext cx="12223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UFW: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3306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solo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desde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.185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620" y="21123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698" y="2130376"/>
            <a:ext cx="93789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rsyslog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→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siem-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audit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9620" y="238670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2698" y="2404696"/>
            <a:ext cx="114109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Crontab: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backup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2:00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AM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6547" y="787313"/>
            <a:ext cx="6475095" cy="4356100"/>
            <a:chOff x="316547" y="787313"/>
            <a:chExt cx="6475095" cy="4356100"/>
          </a:xfrm>
        </p:grpSpPr>
        <p:sp>
          <p:nvSpPr>
            <p:cNvPr id="27" name="object 27"/>
            <p:cNvSpPr/>
            <p:nvPr/>
          </p:nvSpPr>
          <p:spPr>
            <a:xfrm>
              <a:off x="320039" y="2724837"/>
              <a:ext cx="2514600" cy="635"/>
            </a:xfrm>
            <a:custGeom>
              <a:avLst/>
              <a:gdLst/>
              <a:ahLst/>
              <a:cxnLst/>
              <a:rect l="l" t="t" r="r" b="b"/>
              <a:pathLst>
                <a:path w="2514600" h="635">
                  <a:moveTo>
                    <a:pt x="0" y="0"/>
                  </a:moveTo>
                  <a:lnTo>
                    <a:pt x="2514600" y="368"/>
                  </a:lnTo>
                </a:path>
              </a:pathLst>
            </a:custGeom>
            <a:ln w="647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883" y="787313"/>
              <a:ext cx="3782161" cy="435601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0" y="4216639"/>
                  </a:lnTo>
                  <a:lnTo>
                    <a:pt x="56505" y="4245329"/>
                  </a:lnTo>
                  <a:lnTo>
                    <a:pt x="91439" y="4252315"/>
                  </a:lnTo>
                  <a:lnTo>
                    <a:pt x="3475075" y="4252315"/>
                  </a:lnTo>
                  <a:lnTo>
                    <a:pt x="3520795" y="4240072"/>
                  </a:lnTo>
                  <a:lnTo>
                    <a:pt x="3554272" y="4206595"/>
                  </a:lnTo>
                  <a:lnTo>
                    <a:pt x="3566515" y="4160875"/>
                  </a:lnTo>
                  <a:lnTo>
                    <a:pt x="3566491" y="91439"/>
                  </a:lnTo>
                  <a:lnTo>
                    <a:pt x="3554272" y="46075"/>
                  </a:lnTo>
                  <a:lnTo>
                    <a:pt x="3520795" y="12598"/>
                  </a:lnTo>
                  <a:lnTo>
                    <a:pt x="347507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3475075" y="355"/>
                  </a:lnTo>
                  <a:lnTo>
                    <a:pt x="3520795" y="12598"/>
                  </a:lnTo>
                  <a:lnTo>
                    <a:pt x="3554272" y="46075"/>
                  </a:lnTo>
                  <a:lnTo>
                    <a:pt x="3566515" y="91795"/>
                  </a:lnTo>
                  <a:lnTo>
                    <a:pt x="3566515" y="4160875"/>
                  </a:lnTo>
                  <a:lnTo>
                    <a:pt x="3565717" y="4172880"/>
                  </a:lnTo>
                  <a:lnTo>
                    <a:pt x="3563366" y="4184545"/>
                  </a:lnTo>
                  <a:lnTo>
                    <a:pt x="3539829" y="4225634"/>
                  </a:lnTo>
                  <a:lnTo>
                    <a:pt x="3498745" y="4249166"/>
                  </a:lnTo>
                  <a:lnTo>
                    <a:pt x="3475075" y="4252315"/>
                  </a:lnTo>
                  <a:lnTo>
                    <a:pt x="91439" y="4252315"/>
                  </a:lnTo>
                  <a:lnTo>
                    <a:pt x="45719" y="4240072"/>
                  </a:lnTo>
                  <a:lnTo>
                    <a:pt x="12230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1256" y="2842385"/>
            <a:ext cx="112585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DB2525"/>
                </a:solidFill>
                <a:latin typeface="MingLiU_HKSCS-ExtB"/>
                <a:cs typeface="MingLiU_HKSCS-ExtB"/>
              </a:rPr>
              <a:t>🔧</a:t>
            </a:r>
            <a:r>
              <a:rPr sz="900" b="1" dirty="0">
                <a:solidFill>
                  <a:srgbClr val="DB2525"/>
                </a:solidFill>
                <a:latin typeface="Calibri"/>
                <a:cs typeface="Calibri"/>
              </a:rPr>
              <a:t>PASOS</a:t>
            </a:r>
            <a:r>
              <a:rPr sz="900" b="1" spc="145" dirty="0">
                <a:solidFill>
                  <a:srgbClr val="DB2525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DB2525"/>
                </a:solidFill>
                <a:latin typeface="Calibri"/>
                <a:cs typeface="Calibri"/>
              </a:rPr>
              <a:t>PRINCIPALES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9620" y="31639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2698" y="3181936"/>
            <a:ext cx="184658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mysql_secure_installation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(hardening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BD)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9620" y="3438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2698" y="3456256"/>
            <a:ext cx="167576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bind-address=0.0.0.0</a:t>
            </a:r>
            <a:r>
              <a:rPr sz="850" spc="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850" spc="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50-server.cnf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9620" y="37125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9620" y="392210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9620" y="42612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9620" y="447074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2698" y="3730576"/>
            <a:ext cx="2049780" cy="104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CREATE</a:t>
            </a:r>
            <a:r>
              <a:rPr sz="8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USER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'banco2026'@'192.168.100.185'</a:t>
            </a:r>
            <a:endParaRPr sz="850">
              <a:latin typeface="Calibri"/>
              <a:cs typeface="Calibri"/>
            </a:endParaRPr>
          </a:p>
          <a:p>
            <a:pPr marL="12700" marR="228600">
              <a:lnSpc>
                <a:spcPct val="100000"/>
              </a:lnSpc>
              <a:spcBef>
                <a:spcPts val="63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4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tablas: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clientes,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cuentas,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transacciones,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sesiones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3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clientes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prueba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con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bcrypt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hash</a:t>
            </a:r>
            <a:endParaRPr sz="850">
              <a:latin typeface="Calibri"/>
              <a:cs typeface="Calibri"/>
            </a:endParaRPr>
          </a:p>
          <a:p>
            <a:pPr marL="12700" marR="106680">
              <a:lnSpc>
                <a:spcPct val="100000"/>
              </a:lnSpc>
              <a:spcBef>
                <a:spcPts val="63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Script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backup: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mysqldump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gpg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-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-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encrypt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50" dirty="0">
                <a:solidFill>
                  <a:srgbClr val="E7EFFF"/>
                </a:solidFill>
                <a:latin typeface="Calibri"/>
                <a:cs typeface="Calibri"/>
              </a:rPr>
              <a:t>+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rm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.sql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58985" y="958873"/>
            <a:ext cx="109855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499DFF"/>
                </a:solidFill>
                <a:latin typeface="MingLiU_HKSCS-ExtB"/>
                <a:cs typeface="MingLiU_HKSCS-ExtB"/>
              </a:rPr>
              <a:t>💻</a:t>
            </a:r>
            <a:r>
              <a:rPr sz="900" b="1" spc="10" dirty="0">
                <a:solidFill>
                  <a:srgbClr val="499DFF"/>
                </a:solidFill>
                <a:latin typeface="Calibri"/>
                <a:cs typeface="Calibri"/>
              </a:rPr>
              <a:t>COMANDOS</a:t>
            </a:r>
            <a:r>
              <a:rPr sz="900" b="1" spc="10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9DFF"/>
                </a:solidFill>
                <a:latin typeface="Calibri"/>
                <a:cs typeface="Calibri"/>
              </a:rPr>
              <a:t>CLAVE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04616" y="1294093"/>
            <a:ext cx="17545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Seguridad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MariaDB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mysql_secure_installation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04616" y="1637539"/>
            <a:ext cx="181292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Acceso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remoto</a:t>
            </a:r>
            <a:endParaRPr sz="750">
              <a:latin typeface="Courier New"/>
              <a:cs typeface="Courier New"/>
            </a:endParaRPr>
          </a:p>
          <a:p>
            <a:pPr marL="300355" marR="5080" indent="-28829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nano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/etc/mysql/mariadb.conf.d/ 50-server.cnf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bind-address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=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0.0.0.0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04616" y="2209941"/>
            <a:ext cx="2389505" cy="59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Usuario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restringido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por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IP</a:t>
            </a:r>
            <a:endParaRPr sz="750">
              <a:latin typeface="Courier New"/>
              <a:cs typeface="Courier New"/>
            </a:endParaRPr>
          </a:p>
          <a:p>
            <a:pPr marL="127000" marR="5080" indent="-114935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CREATE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USER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'banco2026'@'192.168.100.185'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IDENTIFIED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BY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'banco2026';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GRANT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ALL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ON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banco_db.*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TO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'banco2026'@'192.168.100.185';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04616" y="2896821"/>
            <a:ext cx="2447290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Script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backup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GPG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gpg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gen-key</a:t>
            </a:r>
            <a:r>
              <a:rPr sz="750" spc="47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Banco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Seguro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gpg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export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"Banco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Seguro"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&gt;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/tmp/pub.key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gpg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import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/tmp/pub.key</a:t>
            </a:r>
            <a:endParaRPr sz="750">
              <a:latin typeface="Courier New"/>
              <a:cs typeface="Courier New"/>
            </a:endParaRPr>
          </a:p>
          <a:p>
            <a:pPr marL="12700" marR="467359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sudo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gpg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edit-key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"Banco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Seguro"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trust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→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5 →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quit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04616" y="3698178"/>
            <a:ext cx="2159000" cy="59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3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/usr/local/bin/backup-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banco.sh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mysqldump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u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root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-p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banco_db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&gt;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$FILE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gpg 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recipient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"Banco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Seguro"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" marR="1043940" indent="22987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-encrypt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$FILE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rm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$FILE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04616" y="4385057"/>
            <a:ext cx="2331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Crontab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 AM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diario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0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 *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/usr/local/bin/backup-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banco.sh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721564" y="787313"/>
            <a:ext cx="2355850" cy="4356100"/>
            <a:chOff x="6721564" y="787313"/>
            <a:chExt cx="2355850" cy="4356100"/>
          </a:xfrm>
        </p:grpSpPr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1564" y="787313"/>
              <a:ext cx="2355837" cy="435601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2048040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60519"/>
                  </a:lnTo>
                  <a:lnTo>
                    <a:pt x="774" y="4172164"/>
                  </a:lnTo>
                  <a:lnTo>
                    <a:pt x="798" y="4172525"/>
                  </a:lnTo>
                  <a:lnTo>
                    <a:pt x="3076" y="4183829"/>
                  </a:lnTo>
                  <a:lnTo>
                    <a:pt x="3149" y="4184189"/>
                  </a:lnTo>
                  <a:lnTo>
                    <a:pt x="6864" y="4195091"/>
                  </a:lnTo>
                  <a:lnTo>
                    <a:pt x="6986" y="4195449"/>
                  </a:lnTo>
                  <a:lnTo>
                    <a:pt x="12242" y="4206240"/>
                  </a:lnTo>
                  <a:lnTo>
                    <a:pt x="45720" y="4239717"/>
                  </a:lnTo>
                  <a:lnTo>
                    <a:pt x="91440" y="4251959"/>
                  </a:lnTo>
                  <a:lnTo>
                    <a:pt x="2048395" y="4251604"/>
                  </a:lnTo>
                  <a:lnTo>
                    <a:pt x="2094115" y="4239361"/>
                  </a:lnTo>
                  <a:lnTo>
                    <a:pt x="2127605" y="4205884"/>
                  </a:lnTo>
                  <a:lnTo>
                    <a:pt x="2139812" y="4160519"/>
                  </a:lnTo>
                  <a:lnTo>
                    <a:pt x="2139835" y="4160164"/>
                  </a:lnTo>
                  <a:lnTo>
                    <a:pt x="2139480" y="91439"/>
                  </a:lnTo>
                  <a:lnTo>
                    <a:pt x="2127237" y="45719"/>
                  </a:lnTo>
                  <a:lnTo>
                    <a:pt x="2093760" y="12242"/>
                  </a:lnTo>
                  <a:lnTo>
                    <a:pt x="2060045" y="798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048040" y="0"/>
                  </a:lnTo>
                  <a:lnTo>
                    <a:pt x="2093760" y="12242"/>
                  </a:lnTo>
                  <a:lnTo>
                    <a:pt x="2127237" y="45719"/>
                  </a:lnTo>
                  <a:lnTo>
                    <a:pt x="2139480" y="91439"/>
                  </a:lnTo>
                  <a:lnTo>
                    <a:pt x="2139835" y="4160164"/>
                  </a:lnTo>
                  <a:lnTo>
                    <a:pt x="2139037" y="4172164"/>
                  </a:lnTo>
                  <a:lnTo>
                    <a:pt x="2136687" y="4183829"/>
                  </a:lnTo>
                  <a:lnTo>
                    <a:pt x="2113156" y="4224913"/>
                  </a:lnTo>
                  <a:lnTo>
                    <a:pt x="2072070" y="4248450"/>
                  </a:lnTo>
                  <a:lnTo>
                    <a:pt x="91440" y="4251959"/>
                  </a:lnTo>
                  <a:lnTo>
                    <a:pt x="45720" y="4239717"/>
                  </a:lnTo>
                  <a:lnTo>
                    <a:pt x="12242" y="4206240"/>
                  </a:lnTo>
                  <a:lnTo>
                    <a:pt x="0" y="416051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33C6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971665" y="958873"/>
            <a:ext cx="86423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1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900" b="1" spc="-10" dirty="0">
                <a:solidFill>
                  <a:srgbClr val="33C658"/>
                </a:solidFill>
                <a:latin typeface="Calibri"/>
                <a:cs typeface="Calibri"/>
              </a:rPr>
              <a:t>VERIFICACIÓN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851650" y="1255447"/>
            <a:ext cx="2042795" cy="607060"/>
            <a:chOff x="6851650" y="1255447"/>
            <a:chExt cx="2042795" cy="607060"/>
          </a:xfrm>
        </p:grpSpPr>
        <p:sp>
          <p:nvSpPr>
            <p:cNvPr id="54" name="object 54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008024" y="1310654"/>
            <a:ext cx="6369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MariaDB</a:t>
            </a:r>
            <a:r>
              <a:rPr sz="750" b="1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activo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008024" y="1526300"/>
            <a:ext cx="129794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systemctl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status</a:t>
            </a:r>
            <a:r>
              <a:rPr sz="700" spc="-7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mariadb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active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(running)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851650" y="1913892"/>
            <a:ext cx="2042795" cy="607060"/>
            <a:chOff x="6851650" y="1913892"/>
            <a:chExt cx="2042795" cy="607060"/>
          </a:xfrm>
        </p:grpSpPr>
        <p:sp>
          <p:nvSpPr>
            <p:cNvPr id="59" name="object 59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3994" y="560234"/>
                  </a:lnTo>
                  <a:lnTo>
                    <a:pt x="4098" y="560550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59"/>
                  </a:lnTo>
                  <a:lnTo>
                    <a:pt x="1975319" y="594004"/>
                  </a:lnTo>
                  <a:lnTo>
                    <a:pt x="2013973" y="578067"/>
                  </a:lnTo>
                  <a:lnTo>
                    <a:pt x="2028119" y="553724"/>
                  </a:lnTo>
                  <a:lnTo>
                    <a:pt x="2028196" y="553496"/>
                  </a:lnTo>
                  <a:lnTo>
                    <a:pt x="2029535" y="546696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24"/>
                  </a:lnTo>
                  <a:lnTo>
                    <a:pt x="2013750" y="16063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63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803"/>
                  </a:lnTo>
                  <a:lnTo>
                    <a:pt x="54724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008024" y="1969098"/>
            <a:ext cx="51117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Datos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en</a:t>
            </a:r>
            <a:r>
              <a:rPr sz="750" b="1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BD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008024" y="2184732"/>
            <a:ext cx="156273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SELECT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COUNT(*)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FROM</a:t>
            </a:r>
            <a:r>
              <a:rPr sz="700" spc="-6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clientes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3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851650" y="2572336"/>
            <a:ext cx="2042795" cy="607060"/>
            <a:chOff x="6851650" y="2572336"/>
            <a:chExt cx="2042795" cy="607060"/>
          </a:xfrm>
        </p:grpSpPr>
        <p:sp>
          <p:nvSpPr>
            <p:cNvPr id="64" name="object 64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59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30044" y="539280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59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008024" y="2627543"/>
            <a:ext cx="75819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UFW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bloquea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.187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008024" y="2843176"/>
            <a:ext cx="979169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mysql</a:t>
            </a:r>
            <a:r>
              <a:rPr sz="700" spc="-8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desde</a:t>
            </a:r>
            <a:r>
              <a:rPr sz="700" spc="-8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cajero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ERROR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2002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851650" y="3230767"/>
            <a:ext cx="2042795" cy="607060"/>
            <a:chOff x="6851650" y="3230767"/>
            <a:chExt cx="2042795" cy="607060"/>
          </a:xfrm>
        </p:grpSpPr>
        <p:sp>
          <p:nvSpPr>
            <p:cNvPr id="69" name="object 69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7008024" y="3285618"/>
            <a:ext cx="6121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Backup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cifrado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008024" y="3501620"/>
            <a:ext cx="119126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ls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/var/backups/banco/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6</a:t>
            </a:r>
            <a:r>
              <a:rPr sz="700" spc="-3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archivos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.gpg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6851650" y="3888856"/>
            <a:ext cx="2042795" cy="607060"/>
            <a:chOff x="6851650" y="3888856"/>
            <a:chExt cx="2042795" cy="607060"/>
          </a:xfrm>
        </p:grpSpPr>
        <p:sp>
          <p:nvSpPr>
            <p:cNvPr id="74" name="object 74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60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8121" y="553718"/>
                  </a:lnTo>
                  <a:lnTo>
                    <a:pt x="2028196" y="553496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60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7008024" y="3944063"/>
            <a:ext cx="5683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GPG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funciona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008024" y="4160052"/>
            <a:ext cx="129794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gpg</a:t>
            </a:r>
            <a:r>
              <a:rPr sz="700" spc="-7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decrypt</a:t>
            </a:r>
            <a:r>
              <a:rPr sz="700" spc="-7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backup.gpg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SQL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legible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851700" y="4547337"/>
            <a:ext cx="2042795" cy="602615"/>
            <a:chOff x="6851700" y="4547337"/>
            <a:chExt cx="2042795" cy="602615"/>
          </a:xfrm>
        </p:grpSpPr>
        <p:sp>
          <p:nvSpPr>
            <p:cNvPr id="79" name="object 79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312" y="2138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15925" y="578300"/>
                  </a:lnTo>
                  <a:lnTo>
                    <a:pt x="32571" y="589686"/>
                  </a:lnTo>
                  <a:lnTo>
                    <a:pt x="1996680" y="589686"/>
                  </a:lnTo>
                  <a:lnTo>
                    <a:pt x="2025940" y="560247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32571" y="589686"/>
                  </a:moveTo>
                  <a:lnTo>
                    <a:pt x="4098" y="560552"/>
                  </a:lnTo>
                  <a:lnTo>
                    <a:pt x="0" y="539648"/>
                  </a:lnTo>
                  <a:lnTo>
                    <a:pt x="0" y="54724"/>
                  </a:lnTo>
                  <a:lnTo>
                    <a:pt x="16063" y="15936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08611" y="582847"/>
                  </a:lnTo>
                  <a:lnTo>
                    <a:pt x="1996680" y="589686"/>
                  </a:lnTo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7008024" y="4602494"/>
            <a:ext cx="6045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Crontab</a:t>
            </a:r>
            <a:r>
              <a:rPr sz="750" b="1" spc="-4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activo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008024" y="4818140"/>
            <a:ext cx="78295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crontab</a:t>
            </a:r>
            <a:r>
              <a:rPr sz="700" spc="-3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l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0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2</a:t>
            </a:r>
            <a:r>
              <a:rPr sz="700" spc="-1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*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*</a:t>
            </a:r>
            <a:r>
              <a:rPr sz="700" spc="-1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*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705" y="-6347"/>
            <a:ext cx="9156700" cy="762635"/>
            <a:chOff x="-6705" y="-6347"/>
            <a:chExt cx="9156700" cy="762635"/>
          </a:xfrm>
        </p:grpSpPr>
        <p:sp>
          <p:nvSpPr>
            <p:cNvPr id="3" name="object 3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90187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1" y="48809"/>
                  </a:lnTo>
                  <a:lnTo>
                    <a:pt x="4263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4" y="640966"/>
                  </a:lnTo>
                  <a:lnTo>
                    <a:pt x="1067" y="641322"/>
                  </a:lnTo>
                  <a:lnTo>
                    <a:pt x="4165" y="656997"/>
                  </a:lnTo>
                  <a:lnTo>
                    <a:pt x="4227" y="657313"/>
                  </a:lnTo>
                  <a:lnTo>
                    <a:pt x="9343" y="672488"/>
                  </a:lnTo>
                  <a:lnTo>
                    <a:pt x="36582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9019070" y="749515"/>
                  </a:lnTo>
                  <a:lnTo>
                    <a:pt x="9066811" y="740102"/>
                  </a:lnTo>
                  <a:lnTo>
                    <a:pt x="9107320" y="712933"/>
                  </a:lnTo>
                  <a:lnTo>
                    <a:pt x="9134322" y="672695"/>
                  </a:lnTo>
                  <a:lnTo>
                    <a:pt x="9134425" y="672488"/>
                  </a:lnTo>
                  <a:lnTo>
                    <a:pt x="9139613" y="657313"/>
                  </a:lnTo>
                  <a:lnTo>
                    <a:pt x="9139721" y="656997"/>
                  </a:lnTo>
                  <a:lnTo>
                    <a:pt x="9142853" y="641322"/>
                  </a:lnTo>
                  <a:lnTo>
                    <a:pt x="9142924" y="640966"/>
                  </a:lnTo>
                  <a:lnTo>
                    <a:pt x="9143976" y="624954"/>
                  </a:lnTo>
                  <a:lnTo>
                    <a:pt x="9144000" y="624598"/>
                  </a:lnTo>
                  <a:lnTo>
                    <a:pt x="9143631" y="124917"/>
                  </a:lnTo>
                  <a:lnTo>
                    <a:pt x="9134218" y="77177"/>
                  </a:lnTo>
                  <a:lnTo>
                    <a:pt x="9107049" y="36676"/>
                  </a:lnTo>
                  <a:lnTo>
                    <a:pt x="9066604" y="9569"/>
                  </a:lnTo>
                  <a:lnTo>
                    <a:pt x="9035082" y="1075"/>
                  </a:lnTo>
                  <a:lnTo>
                    <a:pt x="9018714" y="0"/>
                  </a:lnTo>
                  <a:close/>
                </a:path>
              </a:pathLst>
            </a:custGeom>
            <a:solidFill>
              <a:srgbClr val="9233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0" y="124917"/>
                  </a:moveTo>
                  <a:lnTo>
                    <a:pt x="1073" y="108549"/>
                  </a:lnTo>
                  <a:lnTo>
                    <a:pt x="4271" y="92517"/>
                  </a:lnTo>
                  <a:lnTo>
                    <a:pt x="25931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9018714" y="0"/>
                  </a:lnTo>
                  <a:lnTo>
                    <a:pt x="9066604" y="9569"/>
                  </a:lnTo>
                  <a:lnTo>
                    <a:pt x="9107049" y="36676"/>
                  </a:lnTo>
                  <a:lnTo>
                    <a:pt x="9134218" y="77177"/>
                  </a:lnTo>
                  <a:lnTo>
                    <a:pt x="9143631" y="124917"/>
                  </a:lnTo>
                  <a:lnTo>
                    <a:pt x="9144000" y="624598"/>
                  </a:lnTo>
                  <a:lnTo>
                    <a:pt x="9142924" y="640966"/>
                  </a:lnTo>
                  <a:lnTo>
                    <a:pt x="9139721" y="656997"/>
                  </a:lnTo>
                  <a:lnTo>
                    <a:pt x="9118057" y="700708"/>
                  </a:lnTo>
                  <a:lnTo>
                    <a:pt x="9081350" y="732955"/>
                  </a:lnTo>
                  <a:lnTo>
                    <a:pt x="9035438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2" y="713205"/>
                  </a:lnTo>
                  <a:lnTo>
                    <a:pt x="9413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12599">
              <a:solidFill>
                <a:srgbClr val="923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51256" y="122063"/>
            <a:ext cx="402653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0" spc="330" dirty="0">
                <a:latin typeface="MingLiU_HKSCS-ExtB"/>
                <a:cs typeface="MingLiU_HKSCS-ExtB"/>
              </a:rPr>
              <a:t>🏧</a:t>
            </a:r>
            <a:r>
              <a:rPr sz="1850" b="0" spc="-409" dirty="0">
                <a:latin typeface="MingLiU_HKSCS-ExtB"/>
                <a:cs typeface="MingLiU_HKSCS-ExtB"/>
              </a:rPr>
              <a:t> </a:t>
            </a:r>
            <a:r>
              <a:rPr sz="1600" spc="-25" dirty="0"/>
              <a:t>VM-</a:t>
            </a:r>
            <a:r>
              <a:rPr sz="1600" dirty="0"/>
              <a:t>6 —</a:t>
            </a:r>
            <a:r>
              <a:rPr sz="1600" spc="-15" dirty="0"/>
              <a:t> </a:t>
            </a:r>
            <a:r>
              <a:rPr sz="1600" spc="-25" dirty="0"/>
              <a:t>cajero-</a:t>
            </a:r>
            <a:r>
              <a:rPr sz="1600" dirty="0"/>
              <a:t>terminal</a:t>
            </a:r>
            <a:r>
              <a:rPr sz="1600" spc="355" dirty="0"/>
              <a:t> </a:t>
            </a:r>
            <a:r>
              <a:rPr sz="1600" dirty="0"/>
              <a:t>·</a:t>
            </a:r>
            <a:r>
              <a:rPr sz="1600" spc="355" dirty="0"/>
              <a:t> </a:t>
            </a:r>
            <a:r>
              <a:rPr sz="1600" spc="-10" dirty="0"/>
              <a:t>192.168.100.187</a:t>
            </a:r>
            <a:endParaRPr sz="16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256" y="499937"/>
            <a:ext cx="366966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Terminal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cajero</a:t>
            </a:r>
            <a:r>
              <a:rPr sz="95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simulado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—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Verifica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segmentación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bancaria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entre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zonas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91374" y="85092"/>
            <a:ext cx="1475740" cy="579755"/>
            <a:chOff x="7491374" y="85092"/>
            <a:chExt cx="1475740" cy="579755"/>
          </a:xfrm>
        </p:grpSpPr>
        <p:sp>
          <p:nvSpPr>
            <p:cNvPr id="8" name="object 8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14079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4098" y="533184"/>
                  </a:lnTo>
                  <a:lnTo>
                    <a:pt x="33757" y="562900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1408315" y="566635"/>
                  </a:lnTo>
                  <a:lnTo>
                    <a:pt x="1446969" y="550710"/>
                  </a:lnTo>
                  <a:lnTo>
                    <a:pt x="1462531" y="519338"/>
                  </a:lnTo>
                  <a:lnTo>
                    <a:pt x="1462572" y="519132"/>
                  </a:lnTo>
                  <a:lnTo>
                    <a:pt x="1463016" y="512279"/>
                  </a:lnTo>
                  <a:lnTo>
                    <a:pt x="1463040" y="511924"/>
                  </a:lnTo>
                  <a:lnTo>
                    <a:pt x="1462671" y="54724"/>
                  </a:lnTo>
                  <a:lnTo>
                    <a:pt x="1446745" y="16063"/>
                  </a:lnTo>
                  <a:lnTo>
                    <a:pt x="1415168" y="466"/>
                  </a:lnTo>
                  <a:lnTo>
                    <a:pt x="1407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407960" y="0"/>
                  </a:lnTo>
                  <a:lnTo>
                    <a:pt x="1446745" y="16063"/>
                  </a:lnTo>
                  <a:lnTo>
                    <a:pt x="1462671" y="54724"/>
                  </a:lnTo>
                  <a:lnTo>
                    <a:pt x="1463040" y="511924"/>
                  </a:lnTo>
                  <a:lnTo>
                    <a:pt x="1462572" y="519132"/>
                  </a:lnTo>
                  <a:lnTo>
                    <a:pt x="1461192" y="526140"/>
                  </a:lnTo>
                  <a:lnTo>
                    <a:pt x="1435671" y="559435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88579" y="247575"/>
            <a:ext cx="680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Gateway:</a:t>
            </a:r>
            <a:r>
              <a:rPr sz="7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192.168.100.182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519" y="787313"/>
            <a:ext cx="2959735" cy="4356100"/>
            <a:chOff x="119519" y="787313"/>
            <a:chExt cx="2959735" cy="43561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787313"/>
              <a:ext cx="2959201" cy="4356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6" y="4216639"/>
                  </a:lnTo>
                  <a:lnTo>
                    <a:pt x="56505" y="4245329"/>
                  </a:lnTo>
                  <a:lnTo>
                    <a:pt x="91440" y="4252315"/>
                  </a:lnTo>
                  <a:lnTo>
                    <a:pt x="2652115" y="4252315"/>
                  </a:lnTo>
                  <a:lnTo>
                    <a:pt x="2697835" y="4240072"/>
                  </a:lnTo>
                  <a:lnTo>
                    <a:pt x="2731325" y="4206595"/>
                  </a:lnTo>
                  <a:lnTo>
                    <a:pt x="2743555" y="4160875"/>
                  </a:lnTo>
                  <a:lnTo>
                    <a:pt x="2743531" y="91439"/>
                  </a:lnTo>
                  <a:lnTo>
                    <a:pt x="2731325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79"/>
                  </a:lnTo>
                  <a:lnTo>
                    <a:pt x="68130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25" y="46075"/>
                  </a:lnTo>
                  <a:lnTo>
                    <a:pt x="2743555" y="91795"/>
                  </a:lnTo>
                  <a:lnTo>
                    <a:pt x="2743555" y="4160875"/>
                  </a:lnTo>
                  <a:lnTo>
                    <a:pt x="2742757" y="4172880"/>
                  </a:lnTo>
                  <a:lnTo>
                    <a:pt x="2740407" y="4184545"/>
                  </a:lnTo>
                  <a:lnTo>
                    <a:pt x="2716876" y="4225634"/>
                  </a:lnTo>
                  <a:lnTo>
                    <a:pt x="2675789" y="4249166"/>
                  </a:lnTo>
                  <a:lnTo>
                    <a:pt x="2652115" y="4252315"/>
                  </a:lnTo>
                  <a:lnTo>
                    <a:pt x="91440" y="4252315"/>
                  </a:lnTo>
                  <a:lnTo>
                    <a:pt x="45719" y="4240072"/>
                  </a:lnTo>
                  <a:lnTo>
                    <a:pt x="12242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9233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1256" y="958873"/>
            <a:ext cx="130683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9233E9"/>
                </a:solidFill>
                <a:latin typeface="MingLiU_HKSCS-ExtB"/>
                <a:cs typeface="MingLiU_HKSCS-ExtB"/>
              </a:rPr>
              <a:t>📦</a:t>
            </a:r>
            <a:r>
              <a:rPr sz="900" b="1" dirty="0">
                <a:solidFill>
                  <a:srgbClr val="9233E9"/>
                </a:solidFill>
                <a:latin typeface="Calibri"/>
                <a:cs typeface="Calibri"/>
              </a:rPr>
              <a:t>SERVICIOS</a:t>
            </a:r>
            <a:r>
              <a:rPr sz="900" b="1" spc="175" dirty="0">
                <a:solidFill>
                  <a:srgbClr val="9233E9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9233E9"/>
                </a:solidFill>
                <a:latin typeface="Calibri"/>
                <a:cs typeface="Calibri"/>
              </a:rPr>
              <a:t>INSTALADOS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620" y="12894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698" y="1307416"/>
            <a:ext cx="45783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curl,</a:t>
            </a:r>
            <a:r>
              <a:rPr sz="8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wget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620" y="15637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698" y="1581736"/>
            <a:ext cx="6648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mariadb-client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9620" y="18380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2698" y="1856056"/>
            <a:ext cx="16738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UFW: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deny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incoming,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allow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22→2222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620" y="21123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698" y="2130376"/>
            <a:ext cx="93789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rsyslog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→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siem-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audit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6547" y="787313"/>
            <a:ext cx="6475095" cy="4356100"/>
            <a:chOff x="316547" y="787313"/>
            <a:chExt cx="6475095" cy="4356100"/>
          </a:xfrm>
        </p:grpSpPr>
        <p:sp>
          <p:nvSpPr>
            <p:cNvPr id="25" name="object 25"/>
            <p:cNvSpPr/>
            <p:nvPr/>
          </p:nvSpPr>
          <p:spPr>
            <a:xfrm>
              <a:off x="320039" y="2450517"/>
              <a:ext cx="2514600" cy="635"/>
            </a:xfrm>
            <a:custGeom>
              <a:avLst/>
              <a:gdLst/>
              <a:ahLst/>
              <a:cxnLst/>
              <a:rect l="l" t="t" r="r" b="b"/>
              <a:pathLst>
                <a:path w="2514600" h="635">
                  <a:moveTo>
                    <a:pt x="0" y="0"/>
                  </a:moveTo>
                  <a:lnTo>
                    <a:pt x="2514600" y="368"/>
                  </a:lnTo>
                </a:path>
              </a:pathLst>
            </a:custGeom>
            <a:ln w="647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883" y="787313"/>
              <a:ext cx="3782161" cy="435601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0" y="4216639"/>
                  </a:lnTo>
                  <a:lnTo>
                    <a:pt x="56505" y="4245329"/>
                  </a:lnTo>
                  <a:lnTo>
                    <a:pt x="91439" y="4252315"/>
                  </a:lnTo>
                  <a:lnTo>
                    <a:pt x="3475075" y="4252315"/>
                  </a:lnTo>
                  <a:lnTo>
                    <a:pt x="3520795" y="4240072"/>
                  </a:lnTo>
                  <a:lnTo>
                    <a:pt x="3554272" y="4206595"/>
                  </a:lnTo>
                  <a:lnTo>
                    <a:pt x="3566515" y="4160875"/>
                  </a:lnTo>
                  <a:lnTo>
                    <a:pt x="3566491" y="91439"/>
                  </a:lnTo>
                  <a:lnTo>
                    <a:pt x="3554272" y="46075"/>
                  </a:lnTo>
                  <a:lnTo>
                    <a:pt x="3520795" y="12598"/>
                  </a:lnTo>
                  <a:lnTo>
                    <a:pt x="347507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3475075" y="355"/>
                  </a:lnTo>
                  <a:lnTo>
                    <a:pt x="3520795" y="12598"/>
                  </a:lnTo>
                  <a:lnTo>
                    <a:pt x="3554272" y="46075"/>
                  </a:lnTo>
                  <a:lnTo>
                    <a:pt x="3566515" y="91795"/>
                  </a:lnTo>
                  <a:lnTo>
                    <a:pt x="3566515" y="4160875"/>
                  </a:lnTo>
                  <a:lnTo>
                    <a:pt x="3565717" y="4172880"/>
                  </a:lnTo>
                  <a:lnTo>
                    <a:pt x="3563366" y="4184545"/>
                  </a:lnTo>
                  <a:lnTo>
                    <a:pt x="3539829" y="4225634"/>
                  </a:lnTo>
                  <a:lnTo>
                    <a:pt x="3498745" y="4249166"/>
                  </a:lnTo>
                  <a:lnTo>
                    <a:pt x="3475075" y="4252315"/>
                  </a:lnTo>
                  <a:lnTo>
                    <a:pt x="91439" y="4252315"/>
                  </a:lnTo>
                  <a:lnTo>
                    <a:pt x="45719" y="4240072"/>
                  </a:lnTo>
                  <a:lnTo>
                    <a:pt x="12230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51256" y="2568065"/>
            <a:ext cx="112585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9233E9"/>
                </a:solidFill>
                <a:latin typeface="MingLiU_HKSCS-ExtB"/>
                <a:cs typeface="MingLiU_HKSCS-ExtB"/>
              </a:rPr>
              <a:t>🔧</a:t>
            </a:r>
            <a:r>
              <a:rPr sz="900" b="1" dirty="0">
                <a:solidFill>
                  <a:srgbClr val="9233E9"/>
                </a:solidFill>
                <a:latin typeface="Calibri"/>
                <a:cs typeface="Calibri"/>
              </a:rPr>
              <a:t>PASOS</a:t>
            </a:r>
            <a:r>
              <a:rPr sz="900" b="1" spc="145" dirty="0">
                <a:solidFill>
                  <a:srgbClr val="9233E9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9233E9"/>
                </a:solidFill>
                <a:latin typeface="Calibri"/>
                <a:cs typeface="Calibri"/>
              </a:rPr>
              <a:t>PRINCIPALES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9620" y="28896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2698" y="2907616"/>
            <a:ext cx="16351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Netplan:</a:t>
            </a:r>
            <a:r>
              <a:rPr sz="8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gateway</a:t>
            </a:r>
            <a:r>
              <a:rPr sz="8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→</a:t>
            </a:r>
            <a:r>
              <a:rPr sz="850" spc="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router-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fw</a:t>
            </a:r>
            <a:r>
              <a:rPr sz="8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(.182)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9620" y="31639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2698" y="3181936"/>
            <a:ext cx="142875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UFW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mínimo: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solo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SSH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entrante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9620" y="3438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2698" y="3456256"/>
            <a:ext cx="13500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rsyslog</a:t>
            </a:r>
            <a:r>
              <a:rPr sz="8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envía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logs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siem-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audit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9620" y="37125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2698" y="3730576"/>
            <a:ext cx="17221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Verificar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que puede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llegar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app-server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9620" y="398690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2698" y="4004896"/>
            <a:ext cx="1755139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Verificar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que NO puede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llegar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a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db-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core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9620" y="42612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2698" y="4279216"/>
            <a:ext cx="20389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Verificar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que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NO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puede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hacer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ping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a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web-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dmz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58985" y="958873"/>
            <a:ext cx="109855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499DFF"/>
                </a:solidFill>
                <a:latin typeface="MingLiU_HKSCS-ExtB"/>
                <a:cs typeface="MingLiU_HKSCS-ExtB"/>
              </a:rPr>
              <a:t>💻</a:t>
            </a:r>
            <a:r>
              <a:rPr sz="900" b="1" spc="10" dirty="0">
                <a:solidFill>
                  <a:srgbClr val="499DFF"/>
                </a:solidFill>
                <a:latin typeface="Calibri"/>
                <a:cs typeface="Calibri"/>
              </a:rPr>
              <a:t>COMANDOS</a:t>
            </a:r>
            <a:r>
              <a:rPr sz="900" b="1" spc="10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9DFF"/>
                </a:solidFill>
                <a:latin typeface="Calibri"/>
                <a:cs typeface="Calibri"/>
              </a:rPr>
              <a:t>CLAVE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04616" y="1294093"/>
            <a:ext cx="261937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Prueba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PERMITIDA: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Cajero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→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app-server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(API)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  <a:hlinkClick r:id="rId4"/>
              </a:rPr>
              <a:t>http://app-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  <a:hlinkClick r:id="rId4"/>
              </a:rPr>
              <a:t>server.bancoseguro.local:3000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Resultado: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{"servicio":"Banco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Seguro</a:t>
            </a:r>
            <a:r>
              <a:rPr sz="750" spc="2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API"}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04616" y="1866495"/>
            <a:ext cx="2734310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Prueba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PERMITIDA:</a:t>
            </a:r>
            <a:endParaRPr sz="750">
              <a:latin typeface="Courier New"/>
              <a:cs typeface="Courier New"/>
            </a:endParaRPr>
          </a:p>
          <a:p>
            <a:pPr marL="12700" marR="926465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Login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través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del portal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web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k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-X POST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  <a:hlinkClick r:id="rId5"/>
              </a:rPr>
              <a:t>https://web-dmz.bancoseguro.local/api/login</a:t>
            </a:r>
            <a:r>
              <a:rPr sz="750" spc="6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H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"Content-Type:</a:t>
            </a:r>
            <a:r>
              <a:rPr sz="750" spc="2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application/json"</a:t>
            </a:r>
            <a:r>
              <a:rPr sz="750" spc="2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414655" marR="927735" indent="-28829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'{"username":"juan.perez", "password":"password"}'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Resultado: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{"token":"eyJ..."}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04616" y="2896821"/>
            <a:ext cx="2677795" cy="59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Prueba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BLOQUEADA:</a:t>
            </a:r>
            <a:endParaRPr sz="750">
              <a:latin typeface="Courier New"/>
              <a:cs typeface="Courier New"/>
            </a:endParaRPr>
          </a:p>
          <a:p>
            <a:pPr marL="12700" marR="58166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Acceso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directo a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base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datos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mysql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-h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db-core.bancoseguro.local</a:t>
            </a:r>
            <a:r>
              <a:rPr sz="750" spc="2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u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banco2026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banco_db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Resultado: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ERROR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2002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Connection timed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out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04616" y="3583700"/>
            <a:ext cx="169672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Prueba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BLOQUEADA: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Ping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db-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core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ping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3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192.168.100.186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Resultado: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100%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packet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loss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721564" y="787313"/>
            <a:ext cx="2355850" cy="4356100"/>
            <a:chOff x="6721564" y="787313"/>
            <a:chExt cx="2355850" cy="4356100"/>
          </a:xfrm>
        </p:grpSpPr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1564" y="787313"/>
              <a:ext cx="2355837" cy="435601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2048040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60519"/>
                  </a:lnTo>
                  <a:lnTo>
                    <a:pt x="774" y="4172164"/>
                  </a:lnTo>
                  <a:lnTo>
                    <a:pt x="798" y="4172525"/>
                  </a:lnTo>
                  <a:lnTo>
                    <a:pt x="3076" y="4183829"/>
                  </a:lnTo>
                  <a:lnTo>
                    <a:pt x="3149" y="4184189"/>
                  </a:lnTo>
                  <a:lnTo>
                    <a:pt x="6864" y="4195091"/>
                  </a:lnTo>
                  <a:lnTo>
                    <a:pt x="6986" y="4195449"/>
                  </a:lnTo>
                  <a:lnTo>
                    <a:pt x="12242" y="4206240"/>
                  </a:lnTo>
                  <a:lnTo>
                    <a:pt x="45720" y="4239717"/>
                  </a:lnTo>
                  <a:lnTo>
                    <a:pt x="91440" y="4251959"/>
                  </a:lnTo>
                  <a:lnTo>
                    <a:pt x="2048395" y="4251604"/>
                  </a:lnTo>
                  <a:lnTo>
                    <a:pt x="2094115" y="4239361"/>
                  </a:lnTo>
                  <a:lnTo>
                    <a:pt x="2127605" y="4205884"/>
                  </a:lnTo>
                  <a:lnTo>
                    <a:pt x="2139812" y="4160519"/>
                  </a:lnTo>
                  <a:lnTo>
                    <a:pt x="2139835" y="4160164"/>
                  </a:lnTo>
                  <a:lnTo>
                    <a:pt x="2139480" y="91439"/>
                  </a:lnTo>
                  <a:lnTo>
                    <a:pt x="2127237" y="45719"/>
                  </a:lnTo>
                  <a:lnTo>
                    <a:pt x="2093760" y="12242"/>
                  </a:lnTo>
                  <a:lnTo>
                    <a:pt x="2060045" y="798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048040" y="0"/>
                  </a:lnTo>
                  <a:lnTo>
                    <a:pt x="2093760" y="12242"/>
                  </a:lnTo>
                  <a:lnTo>
                    <a:pt x="2127237" y="45719"/>
                  </a:lnTo>
                  <a:lnTo>
                    <a:pt x="2139480" y="91439"/>
                  </a:lnTo>
                  <a:lnTo>
                    <a:pt x="2139835" y="4160164"/>
                  </a:lnTo>
                  <a:lnTo>
                    <a:pt x="2139037" y="4172164"/>
                  </a:lnTo>
                  <a:lnTo>
                    <a:pt x="2136687" y="4183829"/>
                  </a:lnTo>
                  <a:lnTo>
                    <a:pt x="2113156" y="4224913"/>
                  </a:lnTo>
                  <a:lnTo>
                    <a:pt x="2072070" y="4248450"/>
                  </a:lnTo>
                  <a:lnTo>
                    <a:pt x="91440" y="4251959"/>
                  </a:lnTo>
                  <a:lnTo>
                    <a:pt x="45720" y="4239717"/>
                  </a:lnTo>
                  <a:lnTo>
                    <a:pt x="12242" y="4206240"/>
                  </a:lnTo>
                  <a:lnTo>
                    <a:pt x="0" y="416051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33C6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971665" y="958873"/>
            <a:ext cx="86423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1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900" b="1" spc="-10" dirty="0">
                <a:solidFill>
                  <a:srgbClr val="33C658"/>
                </a:solidFill>
                <a:latin typeface="Calibri"/>
                <a:cs typeface="Calibri"/>
              </a:rPr>
              <a:t>VERIFICACIÓN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851650" y="1255447"/>
            <a:ext cx="2042795" cy="607060"/>
            <a:chOff x="6851650" y="1255447"/>
            <a:chExt cx="2042795" cy="607060"/>
          </a:xfrm>
        </p:grpSpPr>
        <p:sp>
          <p:nvSpPr>
            <p:cNvPr id="53" name="object 53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008024" y="1310654"/>
            <a:ext cx="5429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API</a:t>
            </a:r>
            <a:r>
              <a:rPr sz="750" b="1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accesible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08024" y="1526300"/>
            <a:ext cx="108585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curl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app-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server:3000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{activo}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851650" y="1913892"/>
            <a:ext cx="2042795" cy="607060"/>
            <a:chOff x="6851650" y="1913892"/>
            <a:chExt cx="2042795" cy="607060"/>
          </a:xfrm>
        </p:grpSpPr>
        <p:sp>
          <p:nvSpPr>
            <p:cNvPr id="58" name="object 58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3994" y="560234"/>
                  </a:lnTo>
                  <a:lnTo>
                    <a:pt x="4098" y="560550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59"/>
                  </a:lnTo>
                  <a:lnTo>
                    <a:pt x="1975319" y="594004"/>
                  </a:lnTo>
                  <a:lnTo>
                    <a:pt x="2013973" y="578067"/>
                  </a:lnTo>
                  <a:lnTo>
                    <a:pt x="2028119" y="553724"/>
                  </a:lnTo>
                  <a:lnTo>
                    <a:pt x="2028196" y="553496"/>
                  </a:lnTo>
                  <a:lnTo>
                    <a:pt x="2029535" y="546696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24"/>
                  </a:lnTo>
                  <a:lnTo>
                    <a:pt x="2013750" y="16063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63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803"/>
                  </a:lnTo>
                  <a:lnTo>
                    <a:pt x="54724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008024" y="1969098"/>
            <a:ext cx="6045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Login</a:t>
            </a:r>
            <a:r>
              <a:rPr sz="750" b="1" spc="-3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funciona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008024" y="2184732"/>
            <a:ext cx="82105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POST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/api/login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token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JWT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6851650" y="2572336"/>
            <a:ext cx="2042795" cy="607060"/>
            <a:chOff x="6851650" y="2572336"/>
            <a:chExt cx="2042795" cy="607060"/>
          </a:xfrm>
        </p:grpSpPr>
        <p:sp>
          <p:nvSpPr>
            <p:cNvPr id="63" name="object 63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59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30044" y="539280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59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7008024" y="2627543"/>
            <a:ext cx="584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BD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bloqueada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008024" y="2843176"/>
            <a:ext cx="874394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mysql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h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db-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core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ERROR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2002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851650" y="3230767"/>
            <a:ext cx="2042795" cy="607060"/>
            <a:chOff x="6851650" y="3230767"/>
            <a:chExt cx="2042795" cy="607060"/>
          </a:xfrm>
        </p:grpSpPr>
        <p:sp>
          <p:nvSpPr>
            <p:cNvPr id="68" name="object 68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7008024" y="3285618"/>
            <a:ext cx="5867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Ping</a:t>
            </a:r>
            <a:r>
              <a:rPr sz="750" b="1" spc="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web-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dmz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008024" y="3501620"/>
            <a:ext cx="108585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ping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192.168.100.184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100%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loss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851650" y="3888856"/>
            <a:ext cx="2042795" cy="607060"/>
            <a:chOff x="6851650" y="3888856"/>
            <a:chExt cx="2042795" cy="607060"/>
          </a:xfrm>
        </p:grpSpPr>
        <p:sp>
          <p:nvSpPr>
            <p:cNvPr id="73" name="object 73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60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8121" y="553718"/>
                  </a:lnTo>
                  <a:lnTo>
                    <a:pt x="2028196" y="553496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60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7008024" y="3944063"/>
            <a:ext cx="5232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Ping</a:t>
            </a:r>
            <a:r>
              <a:rPr sz="750" b="1" spc="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db-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core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008024" y="4160052"/>
            <a:ext cx="108585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ping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192.168.100.186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100%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loss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6851700" y="4547337"/>
            <a:ext cx="2042795" cy="602615"/>
            <a:chOff x="6851700" y="4547337"/>
            <a:chExt cx="2042795" cy="602615"/>
          </a:xfrm>
        </p:grpSpPr>
        <p:sp>
          <p:nvSpPr>
            <p:cNvPr id="78" name="object 78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312" y="2138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15925" y="578300"/>
                  </a:lnTo>
                  <a:lnTo>
                    <a:pt x="32571" y="589686"/>
                  </a:lnTo>
                  <a:lnTo>
                    <a:pt x="1996680" y="589686"/>
                  </a:lnTo>
                  <a:lnTo>
                    <a:pt x="2025940" y="560247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32571" y="589686"/>
                  </a:moveTo>
                  <a:lnTo>
                    <a:pt x="4098" y="560552"/>
                  </a:lnTo>
                  <a:lnTo>
                    <a:pt x="0" y="539648"/>
                  </a:lnTo>
                  <a:lnTo>
                    <a:pt x="0" y="54724"/>
                  </a:lnTo>
                  <a:lnTo>
                    <a:pt x="16063" y="15936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08611" y="582847"/>
                  </a:lnTo>
                  <a:lnTo>
                    <a:pt x="1996680" y="589686"/>
                  </a:lnTo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7008024" y="4602494"/>
            <a:ext cx="1048385" cy="4578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SSH</a:t>
            </a:r>
            <a:r>
              <a:rPr sz="750" b="1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desde</a:t>
            </a:r>
            <a:r>
              <a:rPr sz="750" b="1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router</a:t>
            </a:r>
            <a:endParaRPr sz="750">
              <a:latin typeface="Calibri"/>
              <a:cs typeface="Calibri"/>
            </a:endParaRPr>
          </a:p>
          <a:p>
            <a:pPr marL="12700">
              <a:lnSpc>
                <a:spcPts val="790"/>
              </a:lnSpc>
              <a:spcBef>
                <a:spcPts val="795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ssh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p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2222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.187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OK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solo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router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705" y="-6347"/>
            <a:ext cx="9156700" cy="762635"/>
            <a:chOff x="-6705" y="-6347"/>
            <a:chExt cx="9156700" cy="762635"/>
          </a:xfrm>
        </p:grpSpPr>
        <p:sp>
          <p:nvSpPr>
            <p:cNvPr id="3" name="object 3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90187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1" y="48809"/>
                  </a:lnTo>
                  <a:lnTo>
                    <a:pt x="4263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4" y="640966"/>
                  </a:lnTo>
                  <a:lnTo>
                    <a:pt x="1067" y="641322"/>
                  </a:lnTo>
                  <a:lnTo>
                    <a:pt x="4165" y="656997"/>
                  </a:lnTo>
                  <a:lnTo>
                    <a:pt x="4227" y="657313"/>
                  </a:lnTo>
                  <a:lnTo>
                    <a:pt x="9343" y="672488"/>
                  </a:lnTo>
                  <a:lnTo>
                    <a:pt x="36582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9019070" y="749515"/>
                  </a:lnTo>
                  <a:lnTo>
                    <a:pt x="9066811" y="740102"/>
                  </a:lnTo>
                  <a:lnTo>
                    <a:pt x="9107320" y="712933"/>
                  </a:lnTo>
                  <a:lnTo>
                    <a:pt x="9134322" y="672695"/>
                  </a:lnTo>
                  <a:lnTo>
                    <a:pt x="9134425" y="672488"/>
                  </a:lnTo>
                  <a:lnTo>
                    <a:pt x="9139613" y="657313"/>
                  </a:lnTo>
                  <a:lnTo>
                    <a:pt x="9139721" y="656997"/>
                  </a:lnTo>
                  <a:lnTo>
                    <a:pt x="9142853" y="641322"/>
                  </a:lnTo>
                  <a:lnTo>
                    <a:pt x="9142924" y="640966"/>
                  </a:lnTo>
                  <a:lnTo>
                    <a:pt x="9143976" y="624954"/>
                  </a:lnTo>
                  <a:lnTo>
                    <a:pt x="9144000" y="624598"/>
                  </a:lnTo>
                  <a:lnTo>
                    <a:pt x="9143631" y="124917"/>
                  </a:lnTo>
                  <a:lnTo>
                    <a:pt x="9134218" y="77177"/>
                  </a:lnTo>
                  <a:lnTo>
                    <a:pt x="9107049" y="36676"/>
                  </a:lnTo>
                  <a:lnTo>
                    <a:pt x="9066604" y="9569"/>
                  </a:lnTo>
                  <a:lnTo>
                    <a:pt x="9035082" y="1075"/>
                  </a:lnTo>
                  <a:lnTo>
                    <a:pt x="9018714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0" y="124917"/>
                  </a:moveTo>
                  <a:lnTo>
                    <a:pt x="1073" y="108549"/>
                  </a:lnTo>
                  <a:lnTo>
                    <a:pt x="4271" y="92517"/>
                  </a:lnTo>
                  <a:lnTo>
                    <a:pt x="25931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9018714" y="0"/>
                  </a:lnTo>
                  <a:lnTo>
                    <a:pt x="9066604" y="9569"/>
                  </a:lnTo>
                  <a:lnTo>
                    <a:pt x="9107049" y="36676"/>
                  </a:lnTo>
                  <a:lnTo>
                    <a:pt x="9134218" y="77177"/>
                  </a:lnTo>
                  <a:lnTo>
                    <a:pt x="9143631" y="124917"/>
                  </a:lnTo>
                  <a:lnTo>
                    <a:pt x="9144000" y="624598"/>
                  </a:lnTo>
                  <a:lnTo>
                    <a:pt x="9142924" y="640966"/>
                  </a:lnTo>
                  <a:lnTo>
                    <a:pt x="9139721" y="656997"/>
                  </a:lnTo>
                  <a:lnTo>
                    <a:pt x="9118057" y="700708"/>
                  </a:lnTo>
                  <a:lnTo>
                    <a:pt x="9081350" y="732955"/>
                  </a:lnTo>
                  <a:lnTo>
                    <a:pt x="9035438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2" y="713205"/>
                  </a:lnTo>
                  <a:lnTo>
                    <a:pt x="9413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51256" y="122063"/>
            <a:ext cx="3630295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0" spc="330" dirty="0">
                <a:latin typeface="MingLiU_HKSCS-ExtB"/>
                <a:cs typeface="MingLiU_HKSCS-ExtB"/>
              </a:rPr>
              <a:t>📊</a:t>
            </a:r>
            <a:r>
              <a:rPr sz="1850" b="0" spc="-409" dirty="0">
                <a:latin typeface="MingLiU_HKSCS-ExtB"/>
                <a:cs typeface="MingLiU_HKSCS-ExtB"/>
              </a:rPr>
              <a:t> </a:t>
            </a:r>
            <a:r>
              <a:rPr sz="1600" spc="-25" dirty="0"/>
              <a:t>VM-</a:t>
            </a:r>
            <a:r>
              <a:rPr sz="1600" dirty="0"/>
              <a:t>7 —</a:t>
            </a:r>
            <a:r>
              <a:rPr sz="1600" spc="-15" dirty="0"/>
              <a:t> </a:t>
            </a:r>
            <a:r>
              <a:rPr sz="1600" spc="-10" dirty="0"/>
              <a:t>siem-</a:t>
            </a:r>
            <a:r>
              <a:rPr sz="1600" dirty="0"/>
              <a:t>audit</a:t>
            </a:r>
            <a:r>
              <a:rPr sz="1600" spc="350" dirty="0"/>
              <a:t> </a:t>
            </a:r>
            <a:r>
              <a:rPr sz="1600" dirty="0"/>
              <a:t>·</a:t>
            </a:r>
            <a:r>
              <a:rPr sz="1600" spc="355" dirty="0"/>
              <a:t> </a:t>
            </a:r>
            <a:r>
              <a:rPr sz="1600" spc="-10" dirty="0"/>
              <a:t>192.168.100.188</a:t>
            </a:r>
            <a:endParaRPr sz="16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256" y="499937"/>
            <a:ext cx="47605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SIEM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centralizado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—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rsyslog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receptor</a:t>
            </a:r>
            <a:r>
              <a:rPr sz="95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Fail2ban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Script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auditoría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automático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 con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reporte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5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fases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91374" y="85092"/>
            <a:ext cx="1475740" cy="579755"/>
            <a:chOff x="7491374" y="85092"/>
            <a:chExt cx="1475740" cy="579755"/>
          </a:xfrm>
        </p:grpSpPr>
        <p:sp>
          <p:nvSpPr>
            <p:cNvPr id="8" name="object 8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14079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4098" y="533184"/>
                  </a:lnTo>
                  <a:lnTo>
                    <a:pt x="33757" y="562900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1408315" y="566635"/>
                  </a:lnTo>
                  <a:lnTo>
                    <a:pt x="1446969" y="550710"/>
                  </a:lnTo>
                  <a:lnTo>
                    <a:pt x="1462531" y="519338"/>
                  </a:lnTo>
                  <a:lnTo>
                    <a:pt x="1462572" y="519132"/>
                  </a:lnTo>
                  <a:lnTo>
                    <a:pt x="1463016" y="512279"/>
                  </a:lnTo>
                  <a:lnTo>
                    <a:pt x="1463040" y="511924"/>
                  </a:lnTo>
                  <a:lnTo>
                    <a:pt x="1462671" y="54724"/>
                  </a:lnTo>
                  <a:lnTo>
                    <a:pt x="1446745" y="16063"/>
                  </a:lnTo>
                  <a:lnTo>
                    <a:pt x="1415168" y="466"/>
                  </a:lnTo>
                  <a:lnTo>
                    <a:pt x="1407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407960" y="0"/>
                  </a:lnTo>
                  <a:lnTo>
                    <a:pt x="1446745" y="16063"/>
                  </a:lnTo>
                  <a:lnTo>
                    <a:pt x="1462671" y="54724"/>
                  </a:lnTo>
                  <a:lnTo>
                    <a:pt x="1463040" y="511924"/>
                  </a:lnTo>
                  <a:lnTo>
                    <a:pt x="1462572" y="519132"/>
                  </a:lnTo>
                  <a:lnTo>
                    <a:pt x="1461192" y="526140"/>
                  </a:lnTo>
                  <a:lnTo>
                    <a:pt x="1435671" y="559435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88579" y="247575"/>
            <a:ext cx="680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Gateway:</a:t>
            </a:r>
            <a:r>
              <a:rPr sz="7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192.168.100.182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519" y="787313"/>
            <a:ext cx="2959735" cy="4356100"/>
            <a:chOff x="119519" y="787313"/>
            <a:chExt cx="2959735" cy="43561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787313"/>
              <a:ext cx="2959201" cy="4356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6" y="4216639"/>
                  </a:lnTo>
                  <a:lnTo>
                    <a:pt x="56505" y="4245329"/>
                  </a:lnTo>
                  <a:lnTo>
                    <a:pt x="91440" y="4252315"/>
                  </a:lnTo>
                  <a:lnTo>
                    <a:pt x="2652115" y="4252315"/>
                  </a:lnTo>
                  <a:lnTo>
                    <a:pt x="2697835" y="4240072"/>
                  </a:lnTo>
                  <a:lnTo>
                    <a:pt x="2731325" y="4206595"/>
                  </a:lnTo>
                  <a:lnTo>
                    <a:pt x="2743555" y="4160875"/>
                  </a:lnTo>
                  <a:lnTo>
                    <a:pt x="2743531" y="91439"/>
                  </a:lnTo>
                  <a:lnTo>
                    <a:pt x="2731325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79"/>
                  </a:lnTo>
                  <a:lnTo>
                    <a:pt x="68130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25" y="46075"/>
                  </a:lnTo>
                  <a:lnTo>
                    <a:pt x="2743555" y="91795"/>
                  </a:lnTo>
                  <a:lnTo>
                    <a:pt x="2743555" y="4160875"/>
                  </a:lnTo>
                  <a:lnTo>
                    <a:pt x="2742757" y="4172880"/>
                  </a:lnTo>
                  <a:lnTo>
                    <a:pt x="2740407" y="4184545"/>
                  </a:lnTo>
                  <a:lnTo>
                    <a:pt x="2716876" y="4225634"/>
                  </a:lnTo>
                  <a:lnTo>
                    <a:pt x="2675789" y="4249166"/>
                  </a:lnTo>
                  <a:lnTo>
                    <a:pt x="2652115" y="4252315"/>
                  </a:lnTo>
                  <a:lnTo>
                    <a:pt x="91440" y="4252315"/>
                  </a:lnTo>
                  <a:lnTo>
                    <a:pt x="45719" y="4240072"/>
                  </a:lnTo>
                  <a:lnTo>
                    <a:pt x="12242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1256" y="958873"/>
            <a:ext cx="130683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790B1"/>
                </a:solidFill>
                <a:latin typeface="MingLiU_HKSCS-ExtB"/>
                <a:cs typeface="MingLiU_HKSCS-ExtB"/>
              </a:rPr>
              <a:t>📦</a:t>
            </a:r>
            <a:r>
              <a:rPr sz="900" b="1" dirty="0">
                <a:solidFill>
                  <a:srgbClr val="0790B1"/>
                </a:solidFill>
                <a:latin typeface="Calibri"/>
                <a:cs typeface="Calibri"/>
              </a:rPr>
              <a:t>SERVICIOS</a:t>
            </a:r>
            <a:r>
              <a:rPr sz="900" b="1" spc="175" dirty="0">
                <a:solidFill>
                  <a:srgbClr val="0790B1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790B1"/>
                </a:solidFill>
                <a:latin typeface="Calibri"/>
                <a:cs typeface="Calibri"/>
              </a:rPr>
              <a:t>INSTALADOS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620" y="12894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698" y="1307416"/>
            <a:ext cx="137858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rsyslog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(servidor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UDP/TCP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514)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620" y="15637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698" y="1581736"/>
            <a:ext cx="3778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fail2ban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9620" y="18380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2698" y="1856056"/>
            <a:ext cx="154305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UFW: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22→2222,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514/udp,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514/tcp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620" y="21123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698" y="2130376"/>
            <a:ext cx="115125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Script:</a:t>
            </a:r>
            <a:r>
              <a:rPr sz="850" spc="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auditoria-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banco.sh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9620" y="238670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2698" y="2404696"/>
            <a:ext cx="145542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Crontab: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* *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* *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*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(presentación)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6547" y="787313"/>
            <a:ext cx="6475095" cy="4356100"/>
            <a:chOff x="316547" y="787313"/>
            <a:chExt cx="6475095" cy="4356100"/>
          </a:xfrm>
        </p:grpSpPr>
        <p:sp>
          <p:nvSpPr>
            <p:cNvPr id="27" name="object 27"/>
            <p:cNvSpPr/>
            <p:nvPr/>
          </p:nvSpPr>
          <p:spPr>
            <a:xfrm>
              <a:off x="320039" y="2724837"/>
              <a:ext cx="2514600" cy="635"/>
            </a:xfrm>
            <a:custGeom>
              <a:avLst/>
              <a:gdLst/>
              <a:ahLst/>
              <a:cxnLst/>
              <a:rect l="l" t="t" r="r" b="b"/>
              <a:pathLst>
                <a:path w="2514600" h="635">
                  <a:moveTo>
                    <a:pt x="0" y="0"/>
                  </a:moveTo>
                  <a:lnTo>
                    <a:pt x="2514600" y="368"/>
                  </a:lnTo>
                </a:path>
              </a:pathLst>
            </a:custGeom>
            <a:ln w="647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883" y="787313"/>
              <a:ext cx="3782161" cy="435601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0" y="4216639"/>
                  </a:lnTo>
                  <a:lnTo>
                    <a:pt x="56505" y="4245329"/>
                  </a:lnTo>
                  <a:lnTo>
                    <a:pt x="91439" y="4252315"/>
                  </a:lnTo>
                  <a:lnTo>
                    <a:pt x="3475075" y="4252315"/>
                  </a:lnTo>
                  <a:lnTo>
                    <a:pt x="3520795" y="4240072"/>
                  </a:lnTo>
                  <a:lnTo>
                    <a:pt x="3554272" y="4206595"/>
                  </a:lnTo>
                  <a:lnTo>
                    <a:pt x="3566515" y="4160875"/>
                  </a:lnTo>
                  <a:lnTo>
                    <a:pt x="3566491" y="91439"/>
                  </a:lnTo>
                  <a:lnTo>
                    <a:pt x="3554272" y="46075"/>
                  </a:lnTo>
                  <a:lnTo>
                    <a:pt x="3520795" y="12598"/>
                  </a:lnTo>
                  <a:lnTo>
                    <a:pt x="347507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3475075" y="355"/>
                  </a:lnTo>
                  <a:lnTo>
                    <a:pt x="3520795" y="12598"/>
                  </a:lnTo>
                  <a:lnTo>
                    <a:pt x="3554272" y="46075"/>
                  </a:lnTo>
                  <a:lnTo>
                    <a:pt x="3566515" y="91795"/>
                  </a:lnTo>
                  <a:lnTo>
                    <a:pt x="3566515" y="4160875"/>
                  </a:lnTo>
                  <a:lnTo>
                    <a:pt x="3565717" y="4172880"/>
                  </a:lnTo>
                  <a:lnTo>
                    <a:pt x="3563366" y="4184545"/>
                  </a:lnTo>
                  <a:lnTo>
                    <a:pt x="3539829" y="4225634"/>
                  </a:lnTo>
                  <a:lnTo>
                    <a:pt x="3498745" y="4249166"/>
                  </a:lnTo>
                  <a:lnTo>
                    <a:pt x="3475075" y="4252315"/>
                  </a:lnTo>
                  <a:lnTo>
                    <a:pt x="91439" y="4252315"/>
                  </a:lnTo>
                  <a:lnTo>
                    <a:pt x="45719" y="4240072"/>
                  </a:lnTo>
                  <a:lnTo>
                    <a:pt x="12230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1256" y="2842385"/>
            <a:ext cx="112585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0790B1"/>
                </a:solidFill>
                <a:latin typeface="MingLiU_HKSCS-ExtB"/>
                <a:cs typeface="MingLiU_HKSCS-ExtB"/>
              </a:rPr>
              <a:t>🔧</a:t>
            </a:r>
            <a:r>
              <a:rPr sz="900" b="1" dirty="0">
                <a:solidFill>
                  <a:srgbClr val="0790B1"/>
                </a:solidFill>
                <a:latin typeface="Calibri"/>
                <a:cs typeface="Calibri"/>
              </a:rPr>
              <a:t>PASOS</a:t>
            </a:r>
            <a:r>
              <a:rPr sz="900" b="1" spc="145" dirty="0">
                <a:solidFill>
                  <a:srgbClr val="0790B1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0790B1"/>
                </a:solidFill>
                <a:latin typeface="Calibri"/>
                <a:cs typeface="Calibri"/>
              </a:rPr>
              <a:t>PRINCIPALES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9620" y="31639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2698" y="3181936"/>
            <a:ext cx="201485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rsyslog: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module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imudp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+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imtcp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puerto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514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9620" y="3438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2698" y="3456256"/>
            <a:ext cx="20231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Template:</a:t>
            </a:r>
            <a:r>
              <a:rPr sz="850" spc="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/var/log/banco/%HOSTNAME%.log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9620" y="37125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2698" y="3730576"/>
            <a:ext cx="15119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Fail2ban monitorea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logs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 5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VMs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9620" y="398690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9620" y="419642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9620" y="447074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2698" y="4004896"/>
            <a:ext cx="1849120" cy="768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Script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genera reporte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auditoría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3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Si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detecta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ataques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genera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doc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incidente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50" dirty="0">
                <a:solidFill>
                  <a:srgbClr val="E7EFFF"/>
                </a:solidFill>
                <a:latin typeface="Calibri"/>
                <a:cs typeface="Calibri"/>
              </a:rPr>
              <a:t>5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fases</a:t>
            </a:r>
            <a:endParaRPr sz="850">
              <a:latin typeface="Calibri"/>
              <a:cs typeface="Calibri"/>
            </a:endParaRPr>
          </a:p>
          <a:p>
            <a:pPr marL="12700" marR="12700">
              <a:lnSpc>
                <a:spcPct val="100000"/>
              </a:lnSpc>
              <a:spcBef>
                <a:spcPts val="12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Crontab: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cada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minuto</a:t>
            </a:r>
            <a:r>
              <a:rPr sz="850" spc="-3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(demo)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/</a:t>
            </a:r>
            <a:r>
              <a:rPr sz="850" spc="-1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cada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hora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(prod)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58985" y="958873"/>
            <a:ext cx="109855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499DFF"/>
                </a:solidFill>
                <a:latin typeface="MingLiU_HKSCS-ExtB"/>
                <a:cs typeface="MingLiU_HKSCS-ExtB"/>
              </a:rPr>
              <a:t>💻</a:t>
            </a:r>
            <a:r>
              <a:rPr sz="900" b="1" spc="10" dirty="0">
                <a:solidFill>
                  <a:srgbClr val="499DFF"/>
                </a:solidFill>
                <a:latin typeface="Calibri"/>
                <a:cs typeface="Calibri"/>
              </a:rPr>
              <a:t>COMANDOS</a:t>
            </a:r>
            <a:r>
              <a:rPr sz="900" b="1" spc="10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9DFF"/>
                </a:solidFill>
                <a:latin typeface="Calibri"/>
                <a:cs typeface="Calibri"/>
              </a:rPr>
              <a:t>CLAVE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04616" y="1294093"/>
            <a:ext cx="175450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944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rsyslog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servidor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/etc/rsyslog.conf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module(load="imudp")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input(type="imudp"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port="514") module(load="imtcp")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input(type="imtcp"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port="514")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04616" y="2095463"/>
            <a:ext cx="192722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Template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por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hostname</a:t>
            </a:r>
            <a:endParaRPr sz="750">
              <a:latin typeface="Courier New"/>
              <a:cs typeface="Courier New"/>
            </a:endParaRPr>
          </a:p>
          <a:p>
            <a:pPr marL="127000" marR="5080" indent="-114935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$template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RemoteLogs, "/var/log/banco/%HOSTNAME%.log"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*.*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?RemoteLogs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04616" y="2667865"/>
            <a:ext cx="2273300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115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Fail2ban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monitorea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logs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remotos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/etc/fail2ban/jail.local</a:t>
            </a:r>
            <a:r>
              <a:rPr sz="750" spc="500" dirty="0">
                <a:solidFill>
                  <a:srgbClr val="00C1A7"/>
                </a:solidFill>
                <a:latin typeface="Courier New"/>
                <a:cs typeface="Courier New"/>
              </a:rPr>
              <a:t> 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[sshd]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port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=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22,2222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logpath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=</a:t>
            </a:r>
            <a:r>
              <a:rPr sz="750" spc="2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/var/log/banco/server-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182.log</a:t>
            </a:r>
            <a:endParaRPr sz="750">
              <a:latin typeface="Courier New"/>
              <a:cs typeface="Courier New"/>
            </a:endParaRPr>
          </a:p>
          <a:p>
            <a:pPr marL="12700" marR="5080" indent="575945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/var/log/banco/server-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184.log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maxretry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=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3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bantime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=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600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204616" y="3698178"/>
            <a:ext cx="25038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Crontab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(presentación: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cada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minuto)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/usr/local/bin/auditoria-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banco.sh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204616" y="4041624"/>
            <a:ext cx="250380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Crontab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(producción: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cada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hora)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0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*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/usr/local/bin/auditoria-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banco.sh</a:t>
            </a:r>
            <a:endParaRPr sz="750">
              <a:latin typeface="Courier New"/>
              <a:cs typeface="Courier New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721564" y="787313"/>
            <a:ext cx="2355850" cy="4356100"/>
            <a:chOff x="6721564" y="787313"/>
            <a:chExt cx="2355850" cy="4356100"/>
          </a:xfrm>
        </p:grpSpPr>
        <p:pic>
          <p:nvPicPr>
            <p:cNvPr id="49" name="object 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1564" y="787313"/>
              <a:ext cx="2355837" cy="435601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2048040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60519"/>
                  </a:lnTo>
                  <a:lnTo>
                    <a:pt x="774" y="4172164"/>
                  </a:lnTo>
                  <a:lnTo>
                    <a:pt x="798" y="4172525"/>
                  </a:lnTo>
                  <a:lnTo>
                    <a:pt x="3076" y="4183829"/>
                  </a:lnTo>
                  <a:lnTo>
                    <a:pt x="3149" y="4184189"/>
                  </a:lnTo>
                  <a:lnTo>
                    <a:pt x="6864" y="4195091"/>
                  </a:lnTo>
                  <a:lnTo>
                    <a:pt x="6986" y="4195449"/>
                  </a:lnTo>
                  <a:lnTo>
                    <a:pt x="12242" y="4206240"/>
                  </a:lnTo>
                  <a:lnTo>
                    <a:pt x="45720" y="4239717"/>
                  </a:lnTo>
                  <a:lnTo>
                    <a:pt x="91440" y="4251959"/>
                  </a:lnTo>
                  <a:lnTo>
                    <a:pt x="2048395" y="4251604"/>
                  </a:lnTo>
                  <a:lnTo>
                    <a:pt x="2094115" y="4239361"/>
                  </a:lnTo>
                  <a:lnTo>
                    <a:pt x="2127605" y="4205884"/>
                  </a:lnTo>
                  <a:lnTo>
                    <a:pt x="2139812" y="4160519"/>
                  </a:lnTo>
                  <a:lnTo>
                    <a:pt x="2139835" y="4160164"/>
                  </a:lnTo>
                  <a:lnTo>
                    <a:pt x="2139480" y="91439"/>
                  </a:lnTo>
                  <a:lnTo>
                    <a:pt x="2127237" y="45719"/>
                  </a:lnTo>
                  <a:lnTo>
                    <a:pt x="2093760" y="12242"/>
                  </a:lnTo>
                  <a:lnTo>
                    <a:pt x="2060045" y="798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048040" y="0"/>
                  </a:lnTo>
                  <a:lnTo>
                    <a:pt x="2093760" y="12242"/>
                  </a:lnTo>
                  <a:lnTo>
                    <a:pt x="2127237" y="45719"/>
                  </a:lnTo>
                  <a:lnTo>
                    <a:pt x="2139480" y="91439"/>
                  </a:lnTo>
                  <a:lnTo>
                    <a:pt x="2139835" y="4160164"/>
                  </a:lnTo>
                  <a:lnTo>
                    <a:pt x="2139037" y="4172164"/>
                  </a:lnTo>
                  <a:lnTo>
                    <a:pt x="2136687" y="4183829"/>
                  </a:lnTo>
                  <a:lnTo>
                    <a:pt x="2113156" y="4224913"/>
                  </a:lnTo>
                  <a:lnTo>
                    <a:pt x="2072070" y="4248450"/>
                  </a:lnTo>
                  <a:lnTo>
                    <a:pt x="91440" y="4251959"/>
                  </a:lnTo>
                  <a:lnTo>
                    <a:pt x="45720" y="4239717"/>
                  </a:lnTo>
                  <a:lnTo>
                    <a:pt x="12242" y="4206240"/>
                  </a:lnTo>
                  <a:lnTo>
                    <a:pt x="0" y="416051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33C6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971665" y="958873"/>
            <a:ext cx="86423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1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900" b="1" spc="-10" dirty="0">
                <a:solidFill>
                  <a:srgbClr val="33C658"/>
                </a:solidFill>
                <a:latin typeface="Calibri"/>
                <a:cs typeface="Calibri"/>
              </a:rPr>
              <a:t>VERIFICACIÓN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851650" y="1255447"/>
            <a:ext cx="2042795" cy="607060"/>
            <a:chOff x="6851650" y="1255447"/>
            <a:chExt cx="2042795" cy="607060"/>
          </a:xfrm>
        </p:grpSpPr>
        <p:sp>
          <p:nvSpPr>
            <p:cNvPr id="54" name="object 54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008024" y="1310654"/>
            <a:ext cx="59245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Logs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de</a:t>
            </a:r>
            <a:r>
              <a:rPr sz="750" b="1" spc="-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7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VMs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008024" y="1526300"/>
            <a:ext cx="110045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ls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/var/log/banco/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server-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182..188</a:t>
            </a:r>
            <a:r>
              <a:rPr sz="700" spc="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851650" y="1913892"/>
            <a:ext cx="2042795" cy="607060"/>
            <a:chOff x="6851650" y="1913892"/>
            <a:chExt cx="2042795" cy="607060"/>
          </a:xfrm>
        </p:grpSpPr>
        <p:sp>
          <p:nvSpPr>
            <p:cNvPr id="59" name="object 59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3994" y="560234"/>
                  </a:lnTo>
                  <a:lnTo>
                    <a:pt x="4098" y="560550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59"/>
                  </a:lnTo>
                  <a:lnTo>
                    <a:pt x="1975319" y="594004"/>
                  </a:lnTo>
                  <a:lnTo>
                    <a:pt x="2013973" y="578067"/>
                  </a:lnTo>
                  <a:lnTo>
                    <a:pt x="2028119" y="553724"/>
                  </a:lnTo>
                  <a:lnTo>
                    <a:pt x="2028196" y="553496"/>
                  </a:lnTo>
                  <a:lnTo>
                    <a:pt x="2029535" y="546696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24"/>
                  </a:lnTo>
                  <a:lnTo>
                    <a:pt x="2013750" y="16063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63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803"/>
                  </a:lnTo>
                  <a:lnTo>
                    <a:pt x="54724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7008024" y="1969098"/>
            <a:ext cx="62103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Fail2ban</a:t>
            </a:r>
            <a:r>
              <a:rPr sz="750" b="1" spc="2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activo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008024" y="2184732"/>
            <a:ext cx="119126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fail2ban-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client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 status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sshd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jail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851650" y="2572336"/>
            <a:ext cx="2042795" cy="607060"/>
            <a:chOff x="6851650" y="2572336"/>
            <a:chExt cx="2042795" cy="607060"/>
          </a:xfrm>
        </p:grpSpPr>
        <p:sp>
          <p:nvSpPr>
            <p:cNvPr id="64" name="object 64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59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30044" y="539280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59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7008024" y="2627543"/>
            <a:ext cx="73533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Ataque</a:t>
            </a:r>
            <a:r>
              <a:rPr sz="750" b="1" spc="-4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detectado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008024" y="2843176"/>
            <a:ext cx="142049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Total</a:t>
            </a:r>
            <a:r>
              <a:rPr sz="700" spc="-10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failed:</a:t>
            </a:r>
            <a:r>
              <a:rPr sz="700" spc="-9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66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Banned: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192.168.100.189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6851650" y="3230767"/>
            <a:ext cx="2042795" cy="607060"/>
            <a:chOff x="6851650" y="3230767"/>
            <a:chExt cx="2042795" cy="607060"/>
          </a:xfrm>
        </p:grpSpPr>
        <p:sp>
          <p:nvSpPr>
            <p:cNvPr id="69" name="object 69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7008024" y="3285618"/>
            <a:ext cx="74041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Reporte</a:t>
            </a:r>
            <a:r>
              <a:rPr sz="750" b="1" spc="-3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generado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008024" y="3501620"/>
            <a:ext cx="119126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5" dirty="0">
                <a:solidFill>
                  <a:srgbClr val="E7EFFF"/>
                </a:solidFill>
                <a:latin typeface="Courier New"/>
                <a:cs typeface="Courier New"/>
              </a:rPr>
              <a:t>auditoria-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YYYYMMDD.txt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generado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6851650" y="3888856"/>
            <a:ext cx="2042795" cy="607060"/>
            <a:chOff x="6851650" y="3888856"/>
            <a:chExt cx="2042795" cy="607060"/>
          </a:xfrm>
        </p:grpSpPr>
        <p:sp>
          <p:nvSpPr>
            <p:cNvPr id="74" name="object 74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60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8121" y="553718"/>
                  </a:lnTo>
                  <a:lnTo>
                    <a:pt x="2028196" y="553496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60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7008024" y="3944063"/>
            <a:ext cx="60134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Incidente</a:t>
            </a:r>
            <a:r>
              <a:rPr sz="750" b="1" spc="-4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auto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008024" y="4160052"/>
            <a:ext cx="82105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5" dirty="0">
                <a:solidFill>
                  <a:srgbClr val="E7EFFF"/>
                </a:solidFill>
                <a:latin typeface="Courier New"/>
                <a:cs typeface="Courier New"/>
              </a:rPr>
              <a:t>incidente-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*.txt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5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fases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6851700" y="4547337"/>
            <a:ext cx="2042795" cy="602615"/>
            <a:chOff x="6851700" y="4547337"/>
            <a:chExt cx="2042795" cy="602615"/>
          </a:xfrm>
        </p:grpSpPr>
        <p:sp>
          <p:nvSpPr>
            <p:cNvPr id="79" name="object 79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312" y="2138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15925" y="578300"/>
                  </a:lnTo>
                  <a:lnTo>
                    <a:pt x="32571" y="589686"/>
                  </a:lnTo>
                  <a:lnTo>
                    <a:pt x="1996680" y="589686"/>
                  </a:lnTo>
                  <a:lnTo>
                    <a:pt x="2025940" y="560247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32571" y="589686"/>
                  </a:moveTo>
                  <a:lnTo>
                    <a:pt x="4098" y="560552"/>
                  </a:lnTo>
                  <a:lnTo>
                    <a:pt x="0" y="539648"/>
                  </a:lnTo>
                  <a:lnTo>
                    <a:pt x="0" y="54724"/>
                  </a:lnTo>
                  <a:lnTo>
                    <a:pt x="16063" y="15936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08611" y="582847"/>
                  </a:lnTo>
                  <a:lnTo>
                    <a:pt x="1996680" y="589686"/>
                  </a:lnTo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7008024" y="4602494"/>
            <a:ext cx="60452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Crontab</a:t>
            </a:r>
            <a:r>
              <a:rPr sz="750" b="1" spc="-4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activo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008024" y="4818140"/>
            <a:ext cx="78295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crontab</a:t>
            </a:r>
            <a:r>
              <a:rPr sz="700" spc="-3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l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*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*</a:t>
            </a:r>
            <a:r>
              <a:rPr sz="700" spc="-1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*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*</a:t>
            </a:r>
            <a:r>
              <a:rPr sz="700" spc="-1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*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705" y="-6347"/>
            <a:ext cx="9156700" cy="762635"/>
            <a:chOff x="-6705" y="-6347"/>
            <a:chExt cx="9156700" cy="762635"/>
          </a:xfrm>
        </p:grpSpPr>
        <p:sp>
          <p:nvSpPr>
            <p:cNvPr id="3" name="object 3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9018714" y="0"/>
                  </a:moveTo>
                  <a:lnTo>
                    <a:pt x="124917" y="0"/>
                  </a:lnTo>
                  <a:lnTo>
                    <a:pt x="108526" y="1075"/>
                  </a:lnTo>
                  <a:lnTo>
                    <a:pt x="62636" y="16560"/>
                  </a:lnTo>
                  <a:lnTo>
                    <a:pt x="25931" y="48809"/>
                  </a:lnTo>
                  <a:lnTo>
                    <a:pt x="4263" y="92562"/>
                  </a:lnTo>
                  <a:lnTo>
                    <a:pt x="0" y="124917"/>
                  </a:lnTo>
                  <a:lnTo>
                    <a:pt x="0" y="624954"/>
                  </a:lnTo>
                  <a:lnTo>
                    <a:pt x="1044" y="640966"/>
                  </a:lnTo>
                  <a:lnTo>
                    <a:pt x="1067" y="641322"/>
                  </a:lnTo>
                  <a:lnTo>
                    <a:pt x="4165" y="656997"/>
                  </a:lnTo>
                  <a:lnTo>
                    <a:pt x="4227" y="657313"/>
                  </a:lnTo>
                  <a:lnTo>
                    <a:pt x="9343" y="672488"/>
                  </a:lnTo>
                  <a:lnTo>
                    <a:pt x="36582" y="713205"/>
                  </a:lnTo>
                  <a:lnTo>
                    <a:pt x="77027" y="740309"/>
                  </a:lnTo>
                  <a:lnTo>
                    <a:pt x="124917" y="749884"/>
                  </a:lnTo>
                  <a:lnTo>
                    <a:pt x="9019070" y="749515"/>
                  </a:lnTo>
                  <a:lnTo>
                    <a:pt x="9066811" y="740102"/>
                  </a:lnTo>
                  <a:lnTo>
                    <a:pt x="9107320" y="712933"/>
                  </a:lnTo>
                  <a:lnTo>
                    <a:pt x="9134322" y="672695"/>
                  </a:lnTo>
                  <a:lnTo>
                    <a:pt x="9134425" y="672488"/>
                  </a:lnTo>
                  <a:lnTo>
                    <a:pt x="9139613" y="657313"/>
                  </a:lnTo>
                  <a:lnTo>
                    <a:pt x="9139721" y="656997"/>
                  </a:lnTo>
                  <a:lnTo>
                    <a:pt x="9142853" y="641322"/>
                  </a:lnTo>
                  <a:lnTo>
                    <a:pt x="9142924" y="640966"/>
                  </a:lnTo>
                  <a:lnTo>
                    <a:pt x="9143976" y="624954"/>
                  </a:lnTo>
                  <a:lnTo>
                    <a:pt x="9144000" y="624598"/>
                  </a:lnTo>
                  <a:lnTo>
                    <a:pt x="9143631" y="124917"/>
                  </a:lnTo>
                  <a:lnTo>
                    <a:pt x="9134218" y="77177"/>
                  </a:lnTo>
                  <a:lnTo>
                    <a:pt x="9107049" y="36676"/>
                  </a:lnTo>
                  <a:lnTo>
                    <a:pt x="9066604" y="9569"/>
                  </a:lnTo>
                  <a:lnTo>
                    <a:pt x="9035082" y="1075"/>
                  </a:lnTo>
                  <a:lnTo>
                    <a:pt x="9018714" y="0"/>
                  </a:lnTo>
                  <a:close/>
                </a:path>
              </a:pathLst>
            </a:custGeom>
            <a:solidFill>
              <a:srgbClr val="6A71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-355" y="2"/>
              <a:ext cx="9144000" cy="749935"/>
            </a:xfrm>
            <a:custGeom>
              <a:avLst/>
              <a:gdLst/>
              <a:ahLst/>
              <a:cxnLst/>
              <a:rect l="l" t="t" r="r" b="b"/>
              <a:pathLst>
                <a:path w="9144000" h="749935">
                  <a:moveTo>
                    <a:pt x="0" y="124917"/>
                  </a:moveTo>
                  <a:lnTo>
                    <a:pt x="1073" y="108549"/>
                  </a:lnTo>
                  <a:lnTo>
                    <a:pt x="4271" y="92517"/>
                  </a:lnTo>
                  <a:lnTo>
                    <a:pt x="25931" y="48809"/>
                  </a:lnTo>
                  <a:lnTo>
                    <a:pt x="62636" y="16560"/>
                  </a:lnTo>
                  <a:lnTo>
                    <a:pt x="108554" y="1069"/>
                  </a:lnTo>
                  <a:lnTo>
                    <a:pt x="124917" y="0"/>
                  </a:lnTo>
                  <a:lnTo>
                    <a:pt x="9018714" y="0"/>
                  </a:lnTo>
                  <a:lnTo>
                    <a:pt x="9066604" y="9569"/>
                  </a:lnTo>
                  <a:lnTo>
                    <a:pt x="9107049" y="36676"/>
                  </a:lnTo>
                  <a:lnTo>
                    <a:pt x="9134218" y="77177"/>
                  </a:lnTo>
                  <a:lnTo>
                    <a:pt x="9143631" y="124917"/>
                  </a:lnTo>
                  <a:lnTo>
                    <a:pt x="9144000" y="624598"/>
                  </a:lnTo>
                  <a:lnTo>
                    <a:pt x="9142924" y="640966"/>
                  </a:lnTo>
                  <a:lnTo>
                    <a:pt x="9139721" y="656997"/>
                  </a:lnTo>
                  <a:lnTo>
                    <a:pt x="9118057" y="700708"/>
                  </a:lnTo>
                  <a:lnTo>
                    <a:pt x="9081350" y="732955"/>
                  </a:lnTo>
                  <a:lnTo>
                    <a:pt x="9035438" y="748448"/>
                  </a:lnTo>
                  <a:lnTo>
                    <a:pt x="124917" y="749884"/>
                  </a:lnTo>
                  <a:lnTo>
                    <a:pt x="77027" y="740309"/>
                  </a:lnTo>
                  <a:lnTo>
                    <a:pt x="36582" y="713205"/>
                  </a:lnTo>
                  <a:lnTo>
                    <a:pt x="9413" y="672695"/>
                  </a:lnTo>
                  <a:lnTo>
                    <a:pt x="0" y="624954"/>
                  </a:lnTo>
                  <a:lnTo>
                    <a:pt x="0" y="124917"/>
                  </a:lnTo>
                  <a:close/>
                </a:path>
              </a:pathLst>
            </a:custGeom>
            <a:ln w="1259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51256" y="122063"/>
            <a:ext cx="3413760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 b="0" spc="-760" dirty="0">
                <a:latin typeface="MingLiU_HKSCS-ExtB"/>
                <a:cs typeface="MingLiU_HKSCS-ExtB"/>
              </a:rPr>
              <a:t>⚔️</a:t>
            </a:r>
            <a:r>
              <a:rPr sz="1850" b="0" spc="-409" dirty="0">
                <a:latin typeface="MingLiU_HKSCS-ExtB"/>
                <a:cs typeface="MingLiU_HKSCS-ExtB"/>
              </a:rPr>
              <a:t> </a:t>
            </a:r>
            <a:r>
              <a:rPr sz="1600" spc="-25" dirty="0"/>
              <a:t>VM-</a:t>
            </a:r>
            <a:r>
              <a:rPr sz="1600" dirty="0"/>
              <a:t>8</a:t>
            </a:r>
            <a:r>
              <a:rPr sz="1600" spc="-60" dirty="0"/>
              <a:t> </a:t>
            </a:r>
            <a:r>
              <a:rPr sz="1600" dirty="0"/>
              <a:t>—</a:t>
            </a:r>
            <a:r>
              <a:rPr sz="1600" spc="-40" dirty="0"/>
              <a:t> </a:t>
            </a:r>
            <a:r>
              <a:rPr sz="1600" dirty="0"/>
              <a:t>attacker</a:t>
            </a:r>
            <a:r>
              <a:rPr sz="1600" spc="300" dirty="0"/>
              <a:t> </a:t>
            </a:r>
            <a:r>
              <a:rPr sz="1600" dirty="0"/>
              <a:t>·</a:t>
            </a:r>
            <a:r>
              <a:rPr sz="1600" spc="305" dirty="0"/>
              <a:t> </a:t>
            </a:r>
            <a:r>
              <a:rPr sz="1600" spc="-10" dirty="0"/>
              <a:t>192.168.100.189</a:t>
            </a:r>
            <a:endParaRPr sz="16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256" y="499937"/>
            <a:ext cx="421005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Máquina</a:t>
            </a:r>
            <a:r>
              <a:rPr sz="95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atacante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simulada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Nmap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Hydra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fuerza</a:t>
            </a:r>
            <a:r>
              <a:rPr sz="95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bruta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SSH</a:t>
            </a:r>
            <a:r>
              <a:rPr sz="95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libri"/>
                <a:cs typeface="Calibri"/>
              </a:rPr>
              <a:t>Reconocimiento </a:t>
            </a:r>
            <a:r>
              <a:rPr sz="950" spc="-25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91374" y="85092"/>
            <a:ext cx="1475740" cy="579755"/>
            <a:chOff x="7491374" y="85092"/>
            <a:chExt cx="1475740" cy="579755"/>
          </a:xfrm>
        </p:grpSpPr>
        <p:sp>
          <p:nvSpPr>
            <p:cNvPr id="8" name="object 8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1407960" y="0"/>
                  </a:moveTo>
                  <a:lnTo>
                    <a:pt x="54711" y="0"/>
                  </a:lnTo>
                  <a:lnTo>
                    <a:pt x="47652" y="466"/>
                  </a:lnTo>
                  <a:lnTo>
                    <a:pt x="11271" y="21422"/>
                  </a:lnTo>
                  <a:lnTo>
                    <a:pt x="0" y="54724"/>
                  </a:lnTo>
                  <a:lnTo>
                    <a:pt x="0" y="512279"/>
                  </a:lnTo>
                  <a:lnTo>
                    <a:pt x="452" y="519132"/>
                  </a:lnTo>
                  <a:lnTo>
                    <a:pt x="466" y="519338"/>
                  </a:lnTo>
                  <a:lnTo>
                    <a:pt x="1799" y="526140"/>
                  </a:lnTo>
                  <a:lnTo>
                    <a:pt x="1843" y="526362"/>
                  </a:lnTo>
                  <a:lnTo>
                    <a:pt x="3997" y="532878"/>
                  </a:lnTo>
                  <a:lnTo>
                    <a:pt x="4098" y="533184"/>
                  </a:lnTo>
                  <a:lnTo>
                    <a:pt x="33757" y="562900"/>
                  </a:lnTo>
                  <a:lnTo>
                    <a:pt x="48008" y="566635"/>
                  </a:lnTo>
                  <a:lnTo>
                    <a:pt x="49037" y="566635"/>
                  </a:lnTo>
                  <a:lnTo>
                    <a:pt x="54711" y="567004"/>
                  </a:lnTo>
                  <a:lnTo>
                    <a:pt x="1408315" y="566635"/>
                  </a:lnTo>
                  <a:lnTo>
                    <a:pt x="1446969" y="550710"/>
                  </a:lnTo>
                  <a:lnTo>
                    <a:pt x="1462531" y="519338"/>
                  </a:lnTo>
                  <a:lnTo>
                    <a:pt x="1462572" y="519132"/>
                  </a:lnTo>
                  <a:lnTo>
                    <a:pt x="1463016" y="512279"/>
                  </a:lnTo>
                  <a:lnTo>
                    <a:pt x="1463040" y="511924"/>
                  </a:lnTo>
                  <a:lnTo>
                    <a:pt x="1462671" y="54724"/>
                  </a:lnTo>
                  <a:lnTo>
                    <a:pt x="1446745" y="16063"/>
                  </a:lnTo>
                  <a:lnTo>
                    <a:pt x="1415168" y="466"/>
                  </a:lnTo>
                  <a:lnTo>
                    <a:pt x="1407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7724" y="91442"/>
              <a:ext cx="1463040" cy="567055"/>
            </a:xfrm>
            <a:custGeom>
              <a:avLst/>
              <a:gdLst/>
              <a:ahLst/>
              <a:cxnLst/>
              <a:rect l="l" t="t" r="r" b="b"/>
              <a:pathLst>
                <a:path w="1463040" h="567055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11" y="0"/>
                  </a:lnTo>
                  <a:lnTo>
                    <a:pt x="1407960" y="0"/>
                  </a:lnTo>
                  <a:lnTo>
                    <a:pt x="1446745" y="16063"/>
                  </a:lnTo>
                  <a:lnTo>
                    <a:pt x="1462671" y="54724"/>
                  </a:lnTo>
                  <a:lnTo>
                    <a:pt x="1463040" y="511924"/>
                  </a:lnTo>
                  <a:lnTo>
                    <a:pt x="1462572" y="519132"/>
                  </a:lnTo>
                  <a:lnTo>
                    <a:pt x="1461192" y="526140"/>
                  </a:lnTo>
                  <a:lnTo>
                    <a:pt x="1435671" y="559435"/>
                  </a:lnTo>
                  <a:lnTo>
                    <a:pt x="54711" y="567004"/>
                  </a:lnTo>
                  <a:lnTo>
                    <a:pt x="15925" y="550933"/>
                  </a:lnTo>
                  <a:lnTo>
                    <a:pt x="0" y="512279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888579" y="247575"/>
            <a:ext cx="6800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45415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Gateway:</a:t>
            </a:r>
            <a:r>
              <a:rPr sz="750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750" spc="-10" dirty="0">
                <a:solidFill>
                  <a:srgbClr val="FFFFFF"/>
                </a:solidFill>
                <a:latin typeface="Calibri"/>
                <a:cs typeface="Calibri"/>
              </a:rPr>
              <a:t>192.168.100.182</a:t>
            </a:r>
            <a:endParaRPr sz="7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9519" y="787313"/>
            <a:ext cx="2959735" cy="4356100"/>
            <a:chOff x="119519" y="787313"/>
            <a:chExt cx="2959735" cy="43561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19" y="787313"/>
              <a:ext cx="2959201" cy="4356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6" y="4216639"/>
                  </a:lnTo>
                  <a:lnTo>
                    <a:pt x="56505" y="4245329"/>
                  </a:lnTo>
                  <a:lnTo>
                    <a:pt x="91440" y="4252315"/>
                  </a:lnTo>
                  <a:lnTo>
                    <a:pt x="2652115" y="4252315"/>
                  </a:lnTo>
                  <a:lnTo>
                    <a:pt x="2697835" y="4240072"/>
                  </a:lnTo>
                  <a:lnTo>
                    <a:pt x="2731325" y="4206595"/>
                  </a:lnTo>
                  <a:lnTo>
                    <a:pt x="2743555" y="4160875"/>
                  </a:lnTo>
                  <a:lnTo>
                    <a:pt x="2743531" y="91439"/>
                  </a:lnTo>
                  <a:lnTo>
                    <a:pt x="2731325" y="46075"/>
                  </a:lnTo>
                  <a:lnTo>
                    <a:pt x="2697835" y="12598"/>
                  </a:lnTo>
                  <a:lnTo>
                    <a:pt x="265211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0520" y="868326"/>
              <a:ext cx="2743835" cy="4252595"/>
            </a:xfrm>
            <a:custGeom>
              <a:avLst/>
              <a:gdLst/>
              <a:ahLst/>
              <a:cxnLst/>
              <a:rect l="l" t="t" r="r" b="b"/>
              <a:pathLst>
                <a:path w="274383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46" y="26679"/>
                  </a:lnTo>
                  <a:lnTo>
                    <a:pt x="68130" y="3148"/>
                  </a:lnTo>
                  <a:lnTo>
                    <a:pt x="91795" y="0"/>
                  </a:lnTo>
                  <a:lnTo>
                    <a:pt x="2652115" y="355"/>
                  </a:lnTo>
                  <a:lnTo>
                    <a:pt x="2697835" y="12598"/>
                  </a:lnTo>
                  <a:lnTo>
                    <a:pt x="2731325" y="46075"/>
                  </a:lnTo>
                  <a:lnTo>
                    <a:pt x="2743555" y="91795"/>
                  </a:lnTo>
                  <a:lnTo>
                    <a:pt x="2743555" y="4160875"/>
                  </a:lnTo>
                  <a:lnTo>
                    <a:pt x="2742757" y="4172880"/>
                  </a:lnTo>
                  <a:lnTo>
                    <a:pt x="2740407" y="4184545"/>
                  </a:lnTo>
                  <a:lnTo>
                    <a:pt x="2716876" y="4225634"/>
                  </a:lnTo>
                  <a:lnTo>
                    <a:pt x="2675789" y="4249166"/>
                  </a:lnTo>
                  <a:lnTo>
                    <a:pt x="2652115" y="4252315"/>
                  </a:lnTo>
                  <a:lnTo>
                    <a:pt x="91440" y="4252315"/>
                  </a:lnTo>
                  <a:lnTo>
                    <a:pt x="45719" y="4240072"/>
                  </a:lnTo>
                  <a:lnTo>
                    <a:pt x="12242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6A71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1256" y="958873"/>
            <a:ext cx="130683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6A717F"/>
                </a:solidFill>
                <a:latin typeface="MingLiU_HKSCS-ExtB"/>
                <a:cs typeface="MingLiU_HKSCS-ExtB"/>
              </a:rPr>
              <a:t>📦</a:t>
            </a:r>
            <a:r>
              <a:rPr sz="900" b="1" dirty="0">
                <a:solidFill>
                  <a:srgbClr val="6A717F"/>
                </a:solidFill>
                <a:latin typeface="Calibri"/>
                <a:cs typeface="Calibri"/>
              </a:rPr>
              <a:t>SERVICIOS</a:t>
            </a:r>
            <a:r>
              <a:rPr sz="900" b="1" spc="17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6A717F"/>
                </a:solidFill>
                <a:latin typeface="Calibri"/>
                <a:cs typeface="Calibri"/>
              </a:rPr>
              <a:t>INSTALADOS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9620" y="12894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2698" y="1307416"/>
            <a:ext cx="48069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hydra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v9.5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620" y="156374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698" y="1581736"/>
            <a:ext cx="492759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nmap</a:t>
            </a:r>
            <a:r>
              <a:rPr sz="850" spc="-4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7.94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9620" y="18380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2698" y="1856056"/>
            <a:ext cx="66484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mariadb-client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9620" y="211238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698" y="2130376"/>
            <a:ext cx="457834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curl,</a:t>
            </a:r>
            <a:r>
              <a:rPr sz="850" spc="-3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wget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9620" y="238670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2698" y="2404696"/>
            <a:ext cx="6007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UFW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mínimo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6547" y="787313"/>
            <a:ext cx="6475095" cy="4356100"/>
            <a:chOff x="316547" y="787313"/>
            <a:chExt cx="6475095" cy="4356100"/>
          </a:xfrm>
        </p:grpSpPr>
        <p:sp>
          <p:nvSpPr>
            <p:cNvPr id="27" name="object 27"/>
            <p:cNvSpPr/>
            <p:nvPr/>
          </p:nvSpPr>
          <p:spPr>
            <a:xfrm>
              <a:off x="320039" y="2724837"/>
              <a:ext cx="2514600" cy="635"/>
            </a:xfrm>
            <a:custGeom>
              <a:avLst/>
              <a:gdLst/>
              <a:ahLst/>
              <a:cxnLst/>
              <a:rect l="l" t="t" r="r" b="b"/>
              <a:pathLst>
                <a:path w="2514600" h="635">
                  <a:moveTo>
                    <a:pt x="0" y="0"/>
                  </a:moveTo>
                  <a:lnTo>
                    <a:pt x="2514600" y="368"/>
                  </a:lnTo>
                </a:path>
              </a:pathLst>
            </a:custGeom>
            <a:ln w="647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08883" y="787313"/>
              <a:ext cx="3782161" cy="435601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91795" y="0"/>
                  </a:moveTo>
                  <a:lnTo>
                    <a:pt x="46075" y="12230"/>
                  </a:lnTo>
                  <a:lnTo>
                    <a:pt x="12598" y="45720"/>
                  </a:lnTo>
                  <a:lnTo>
                    <a:pt x="355" y="91439"/>
                  </a:lnTo>
                  <a:lnTo>
                    <a:pt x="0" y="4160875"/>
                  </a:lnTo>
                  <a:lnTo>
                    <a:pt x="798" y="4172880"/>
                  </a:lnTo>
                  <a:lnTo>
                    <a:pt x="18830" y="4216639"/>
                  </a:lnTo>
                  <a:lnTo>
                    <a:pt x="56505" y="4245329"/>
                  </a:lnTo>
                  <a:lnTo>
                    <a:pt x="91439" y="4252315"/>
                  </a:lnTo>
                  <a:lnTo>
                    <a:pt x="3475075" y="4252315"/>
                  </a:lnTo>
                  <a:lnTo>
                    <a:pt x="3520795" y="4240072"/>
                  </a:lnTo>
                  <a:lnTo>
                    <a:pt x="3554272" y="4206595"/>
                  </a:lnTo>
                  <a:lnTo>
                    <a:pt x="3566515" y="4160875"/>
                  </a:lnTo>
                  <a:lnTo>
                    <a:pt x="3566491" y="91439"/>
                  </a:lnTo>
                  <a:lnTo>
                    <a:pt x="3554272" y="46075"/>
                  </a:lnTo>
                  <a:lnTo>
                    <a:pt x="3520795" y="12598"/>
                  </a:lnTo>
                  <a:lnTo>
                    <a:pt x="3475075" y="355"/>
                  </a:lnTo>
                  <a:lnTo>
                    <a:pt x="9179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89884" y="868326"/>
              <a:ext cx="3566795" cy="4252595"/>
            </a:xfrm>
            <a:custGeom>
              <a:avLst/>
              <a:gdLst/>
              <a:ahLst/>
              <a:cxnLst/>
              <a:rect l="l" t="t" r="r" b="b"/>
              <a:pathLst>
                <a:path w="3566795" h="4252595">
                  <a:moveTo>
                    <a:pt x="355" y="91439"/>
                  </a:moveTo>
                  <a:lnTo>
                    <a:pt x="1154" y="79433"/>
                  </a:lnTo>
                  <a:lnTo>
                    <a:pt x="3505" y="67765"/>
                  </a:lnTo>
                  <a:lnTo>
                    <a:pt x="27036" y="26679"/>
                  </a:lnTo>
                  <a:lnTo>
                    <a:pt x="68121" y="3148"/>
                  </a:lnTo>
                  <a:lnTo>
                    <a:pt x="91795" y="0"/>
                  </a:lnTo>
                  <a:lnTo>
                    <a:pt x="3475075" y="355"/>
                  </a:lnTo>
                  <a:lnTo>
                    <a:pt x="3520795" y="12598"/>
                  </a:lnTo>
                  <a:lnTo>
                    <a:pt x="3554272" y="46075"/>
                  </a:lnTo>
                  <a:lnTo>
                    <a:pt x="3566515" y="91795"/>
                  </a:lnTo>
                  <a:lnTo>
                    <a:pt x="3566515" y="4160875"/>
                  </a:lnTo>
                  <a:lnTo>
                    <a:pt x="3565717" y="4172880"/>
                  </a:lnTo>
                  <a:lnTo>
                    <a:pt x="3563366" y="4184545"/>
                  </a:lnTo>
                  <a:lnTo>
                    <a:pt x="3539829" y="4225634"/>
                  </a:lnTo>
                  <a:lnTo>
                    <a:pt x="3498745" y="4249166"/>
                  </a:lnTo>
                  <a:lnTo>
                    <a:pt x="3475075" y="4252315"/>
                  </a:lnTo>
                  <a:lnTo>
                    <a:pt x="91439" y="4252315"/>
                  </a:lnTo>
                  <a:lnTo>
                    <a:pt x="45719" y="4240072"/>
                  </a:lnTo>
                  <a:lnTo>
                    <a:pt x="12230" y="4206595"/>
                  </a:lnTo>
                  <a:lnTo>
                    <a:pt x="0" y="4160875"/>
                  </a:lnTo>
                  <a:lnTo>
                    <a:pt x="355" y="91439"/>
                  </a:lnTo>
                  <a:close/>
                </a:path>
              </a:pathLst>
            </a:custGeom>
            <a:ln w="12599">
              <a:solidFill>
                <a:srgbClr val="192F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51256" y="2842385"/>
            <a:ext cx="112585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6A717F"/>
                </a:solidFill>
                <a:latin typeface="MingLiU_HKSCS-ExtB"/>
                <a:cs typeface="MingLiU_HKSCS-ExtB"/>
              </a:rPr>
              <a:t>🔧</a:t>
            </a:r>
            <a:r>
              <a:rPr sz="900" b="1" dirty="0">
                <a:solidFill>
                  <a:srgbClr val="6A717F"/>
                </a:solidFill>
                <a:latin typeface="Calibri"/>
                <a:cs typeface="Calibri"/>
              </a:rPr>
              <a:t>PASOS</a:t>
            </a:r>
            <a:r>
              <a:rPr sz="900" b="1" spc="145" dirty="0">
                <a:solidFill>
                  <a:srgbClr val="6A717F"/>
                </a:solidFill>
                <a:latin typeface="Calibri"/>
                <a:cs typeface="Calibri"/>
              </a:rPr>
              <a:t> </a:t>
            </a:r>
            <a:r>
              <a:rPr sz="900" b="1" spc="-10" dirty="0">
                <a:solidFill>
                  <a:srgbClr val="6A717F"/>
                </a:solidFill>
                <a:latin typeface="Calibri"/>
                <a:cs typeface="Calibri"/>
              </a:rPr>
              <a:t>PRINCIPALES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9620" y="309914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69620" y="343826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9620" y="3647785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9620" y="398690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698" y="3117140"/>
            <a:ext cx="2017395" cy="104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Diccionario passwords.txt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con 14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contraseñas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comunes</a:t>
            </a:r>
            <a:endParaRPr sz="850">
              <a:latin typeface="Calibri"/>
              <a:cs typeface="Calibri"/>
            </a:endParaRPr>
          </a:p>
          <a:p>
            <a:pPr marL="12700" marR="307975">
              <a:lnSpc>
                <a:spcPct val="161700"/>
              </a:lnSpc>
            </a:pP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Nmap: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escaneo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de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puertos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y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versiones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Reconocimiento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web: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curl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/admin1 </a:t>
            </a:r>
            <a:r>
              <a:rPr sz="850" spc="-50" dirty="0">
                <a:solidFill>
                  <a:srgbClr val="E7EFFF"/>
                </a:solidFill>
                <a:latin typeface="Calibri"/>
                <a:cs typeface="Calibri"/>
              </a:rPr>
              <a:t>a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/admin50</a:t>
            </a: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Hydra: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fuerza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bruta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SSH</a:t>
            </a:r>
            <a:r>
              <a:rPr sz="850" spc="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contra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E7EFFF"/>
                </a:solidFill>
                <a:latin typeface="Calibri"/>
                <a:cs typeface="Calibri"/>
              </a:rPr>
              <a:t>router-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fw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69620" y="4261220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9620" y="4470744"/>
            <a:ext cx="6413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50" dirty="0">
                <a:solidFill>
                  <a:srgbClr val="E7EFFF"/>
                </a:solidFill>
                <a:latin typeface="Arial MT"/>
                <a:cs typeface="Arial MT"/>
              </a:rPr>
              <a:t>•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2698" y="4279216"/>
            <a:ext cx="1943100" cy="494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Intento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conexión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directa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 a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MariaDB</a:t>
            </a:r>
            <a:endParaRPr sz="85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30"/>
              </a:spcBef>
            </a:pP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Resultado: BLOQUEADO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por</a:t>
            </a:r>
            <a:r>
              <a:rPr sz="850" spc="-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Fail2ban</a:t>
            </a:r>
            <a:r>
              <a:rPr sz="850" spc="5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en</a:t>
            </a:r>
            <a:r>
              <a:rPr sz="850" spc="-1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E7EFFF"/>
                </a:solidFill>
                <a:latin typeface="Calibri"/>
                <a:cs typeface="Calibri"/>
              </a:rPr>
              <a:t>&lt; </a:t>
            </a:r>
            <a:r>
              <a:rPr sz="850" spc="-50" dirty="0">
                <a:solidFill>
                  <a:srgbClr val="E7EFFF"/>
                </a:solidFill>
                <a:latin typeface="Calibri"/>
                <a:cs typeface="Calibri"/>
              </a:rPr>
              <a:t>5</a:t>
            </a:r>
            <a:r>
              <a:rPr sz="850" spc="500" dirty="0">
                <a:solidFill>
                  <a:srgbClr val="E7EFFF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E7EFFF"/>
                </a:solidFill>
                <a:latin typeface="Calibri"/>
                <a:cs typeface="Calibri"/>
              </a:rPr>
              <a:t>min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58985" y="958873"/>
            <a:ext cx="1098550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10" dirty="0">
                <a:solidFill>
                  <a:srgbClr val="499DFF"/>
                </a:solidFill>
                <a:latin typeface="MingLiU_HKSCS-ExtB"/>
                <a:cs typeface="MingLiU_HKSCS-ExtB"/>
              </a:rPr>
              <a:t>💻</a:t>
            </a:r>
            <a:r>
              <a:rPr sz="900" b="1" spc="10" dirty="0">
                <a:solidFill>
                  <a:srgbClr val="499DFF"/>
                </a:solidFill>
                <a:latin typeface="Calibri"/>
                <a:cs typeface="Calibri"/>
              </a:rPr>
              <a:t>COMANDOS</a:t>
            </a:r>
            <a:r>
              <a:rPr sz="900" b="1" spc="105" dirty="0">
                <a:solidFill>
                  <a:srgbClr val="499DFF"/>
                </a:solidFill>
                <a:latin typeface="Calibri"/>
                <a:cs typeface="Calibri"/>
              </a:rPr>
              <a:t> </a:t>
            </a:r>
            <a:r>
              <a:rPr sz="900" b="1" spc="-20" dirty="0">
                <a:solidFill>
                  <a:srgbClr val="499DFF"/>
                </a:solidFill>
                <a:latin typeface="Calibri"/>
                <a:cs typeface="Calibri"/>
              </a:rPr>
              <a:t>CLAVE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04616" y="1294093"/>
            <a:ext cx="2273300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944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Diccionario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contraseñas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nano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~/passwords.txt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123456,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password,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admin,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banco2026...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04616" y="1752017"/>
            <a:ext cx="2042795" cy="59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Paso 1: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Escaneo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Nmap</a:t>
            </a:r>
            <a:endParaRPr sz="750">
              <a:latin typeface="Courier New"/>
              <a:cs typeface="Courier New"/>
            </a:endParaRPr>
          </a:p>
          <a:p>
            <a:pPr marL="127000" marR="408940" indent="-114935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nmap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sV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-p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22,2222,80,443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192.168.100.184</a:t>
            </a:r>
            <a:endParaRPr sz="7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Puerto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22: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filtered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(UFW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bloqueó)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Puerto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2222: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OpenSSH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9.6p1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04616" y="2438897"/>
            <a:ext cx="2042795" cy="941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894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Paso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2: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Reconocimiento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web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for</a:t>
            </a:r>
            <a:r>
              <a:rPr sz="750" spc="-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in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$(seq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 50);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5" dirty="0">
                <a:solidFill>
                  <a:srgbClr val="00C1A7"/>
                </a:solidFill>
                <a:latin typeface="Courier New"/>
                <a:cs typeface="Courier New"/>
              </a:rPr>
              <a:t>do</a:t>
            </a:r>
            <a:endParaRPr sz="75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curl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sk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/dev/null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242570" marR="508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w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"%{http_code}"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  <a:hlinkClick r:id="rId4"/>
              </a:rPr>
              <a:t>https://192.168.100.184/admin$i</a:t>
            </a:r>
            <a:endParaRPr sz="750">
              <a:latin typeface="Courier New"/>
              <a:cs typeface="Courier New"/>
            </a:endParaRPr>
          </a:p>
          <a:p>
            <a:pPr marL="12700" marR="812800" indent="114300">
              <a:lnSpc>
                <a:spcPct val="100000"/>
              </a:lnSpc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echo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" -&gt;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/admin$i"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done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Todos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responden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200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(SPA)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04616" y="3469223"/>
            <a:ext cx="1811020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7165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Paso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3: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Fuerza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bruta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20" dirty="0">
                <a:solidFill>
                  <a:srgbClr val="00C1A7"/>
                </a:solidFill>
                <a:latin typeface="Courier New"/>
                <a:cs typeface="Courier New"/>
              </a:rPr>
              <a:t>Hydra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hydra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-l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adming11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</a:t>
            </a:r>
            <a:endParaRPr sz="750">
              <a:latin typeface="Courier New"/>
              <a:cs typeface="Courier New"/>
            </a:endParaRPr>
          </a:p>
          <a:p>
            <a:pPr marL="127000" marR="5080">
              <a:lnSpc>
                <a:spcPct val="100000"/>
              </a:lnSpc>
            </a:pP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P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~/passwords.txt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\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ssh://192.168.100.182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-t</a:t>
            </a:r>
            <a:r>
              <a:rPr sz="750" spc="2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4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-</a:t>
            </a:r>
            <a:r>
              <a:rPr sz="750" spc="-50" dirty="0">
                <a:solidFill>
                  <a:srgbClr val="00C1A7"/>
                </a:solidFill>
                <a:latin typeface="Courier New"/>
                <a:cs typeface="Courier New"/>
              </a:rPr>
              <a:t>V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04616" y="4041624"/>
            <a:ext cx="2042795" cy="487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Resultado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después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de</a:t>
            </a:r>
            <a:r>
              <a:rPr sz="750" spc="1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13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intentos: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Fail2ban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baneó</a:t>
            </a:r>
            <a:r>
              <a:rPr sz="750" spc="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192.168.100.189</a:t>
            </a:r>
            <a:endParaRPr sz="750">
              <a:latin typeface="Courier New"/>
              <a:cs typeface="Courier New"/>
            </a:endParaRPr>
          </a:p>
          <a:p>
            <a:pPr marL="12700" marR="293370">
              <a:lnSpc>
                <a:spcPts val="900"/>
              </a:lnSpc>
              <a:spcBef>
                <a:spcPts val="30"/>
              </a:spcBef>
            </a:pP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ssh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  <a:hlinkClick r:id="rId5"/>
              </a:rPr>
              <a:t>adming11@192.168.100.182</a:t>
            </a:r>
            <a:r>
              <a:rPr sz="750" spc="-10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# →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Connection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750" dirty="0">
                <a:solidFill>
                  <a:srgbClr val="00C1A7"/>
                </a:solidFill>
                <a:latin typeface="Courier New"/>
                <a:cs typeface="Courier New"/>
              </a:rPr>
              <a:t>refused</a:t>
            </a:r>
            <a:r>
              <a:rPr sz="750" spc="5" dirty="0">
                <a:solidFill>
                  <a:srgbClr val="00C1A7"/>
                </a:solidFill>
                <a:latin typeface="Courier New"/>
                <a:cs typeface="Courier New"/>
              </a:rPr>
              <a:t> </a:t>
            </a:r>
            <a:r>
              <a:rPr sz="850" spc="125" dirty="0">
                <a:solidFill>
                  <a:srgbClr val="00C1A7"/>
                </a:solidFill>
                <a:latin typeface="MingLiU_HKSCS-ExtB"/>
                <a:cs typeface="MingLiU_HKSCS-ExtB"/>
              </a:rPr>
              <a:t>✅</a:t>
            </a:r>
            <a:endParaRPr sz="850">
              <a:latin typeface="MingLiU_HKSCS-ExtB"/>
              <a:cs typeface="MingLiU_HKSCS-ExtB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721564" y="787313"/>
            <a:ext cx="2355850" cy="4356100"/>
            <a:chOff x="6721564" y="787313"/>
            <a:chExt cx="2355850" cy="4356100"/>
          </a:xfrm>
        </p:grpSpPr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1564" y="787313"/>
              <a:ext cx="2355837" cy="435601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2048040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6"/>
                  </a:lnTo>
                  <a:lnTo>
                    <a:pt x="6986" y="56510"/>
                  </a:lnTo>
                  <a:lnTo>
                    <a:pt x="0" y="91439"/>
                  </a:lnTo>
                  <a:lnTo>
                    <a:pt x="0" y="4160519"/>
                  </a:lnTo>
                  <a:lnTo>
                    <a:pt x="774" y="4172164"/>
                  </a:lnTo>
                  <a:lnTo>
                    <a:pt x="798" y="4172525"/>
                  </a:lnTo>
                  <a:lnTo>
                    <a:pt x="3076" y="4183829"/>
                  </a:lnTo>
                  <a:lnTo>
                    <a:pt x="3149" y="4184189"/>
                  </a:lnTo>
                  <a:lnTo>
                    <a:pt x="6864" y="4195091"/>
                  </a:lnTo>
                  <a:lnTo>
                    <a:pt x="6986" y="4195449"/>
                  </a:lnTo>
                  <a:lnTo>
                    <a:pt x="12242" y="4206240"/>
                  </a:lnTo>
                  <a:lnTo>
                    <a:pt x="45720" y="4239717"/>
                  </a:lnTo>
                  <a:lnTo>
                    <a:pt x="91440" y="4251959"/>
                  </a:lnTo>
                  <a:lnTo>
                    <a:pt x="2048395" y="4251604"/>
                  </a:lnTo>
                  <a:lnTo>
                    <a:pt x="2094115" y="4239361"/>
                  </a:lnTo>
                  <a:lnTo>
                    <a:pt x="2127605" y="4205884"/>
                  </a:lnTo>
                  <a:lnTo>
                    <a:pt x="2139812" y="4160519"/>
                  </a:lnTo>
                  <a:lnTo>
                    <a:pt x="2139835" y="4160164"/>
                  </a:lnTo>
                  <a:lnTo>
                    <a:pt x="2139480" y="91439"/>
                  </a:lnTo>
                  <a:lnTo>
                    <a:pt x="2127237" y="45719"/>
                  </a:lnTo>
                  <a:lnTo>
                    <a:pt x="2093760" y="12242"/>
                  </a:lnTo>
                  <a:lnTo>
                    <a:pt x="2060045" y="798"/>
                  </a:lnTo>
                  <a:lnTo>
                    <a:pt x="2048040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802920" y="868682"/>
              <a:ext cx="2139950" cy="4251960"/>
            </a:xfrm>
            <a:custGeom>
              <a:avLst/>
              <a:gdLst/>
              <a:ahLst/>
              <a:cxnLst/>
              <a:rect l="l" t="t" r="r" b="b"/>
              <a:pathLst>
                <a:path w="2139950" h="4251960">
                  <a:moveTo>
                    <a:pt x="0" y="91439"/>
                  </a:moveTo>
                  <a:lnTo>
                    <a:pt x="798" y="79434"/>
                  </a:lnTo>
                  <a:lnTo>
                    <a:pt x="3149" y="67770"/>
                  </a:lnTo>
                  <a:lnTo>
                    <a:pt x="26681" y="26681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048040" y="0"/>
                  </a:lnTo>
                  <a:lnTo>
                    <a:pt x="2093760" y="12242"/>
                  </a:lnTo>
                  <a:lnTo>
                    <a:pt x="2127237" y="45719"/>
                  </a:lnTo>
                  <a:lnTo>
                    <a:pt x="2139480" y="91439"/>
                  </a:lnTo>
                  <a:lnTo>
                    <a:pt x="2139835" y="4160164"/>
                  </a:lnTo>
                  <a:lnTo>
                    <a:pt x="2139037" y="4172164"/>
                  </a:lnTo>
                  <a:lnTo>
                    <a:pt x="2136687" y="4183829"/>
                  </a:lnTo>
                  <a:lnTo>
                    <a:pt x="2113156" y="4224913"/>
                  </a:lnTo>
                  <a:lnTo>
                    <a:pt x="2072070" y="4248450"/>
                  </a:lnTo>
                  <a:lnTo>
                    <a:pt x="91440" y="4251959"/>
                  </a:lnTo>
                  <a:lnTo>
                    <a:pt x="45720" y="4239717"/>
                  </a:lnTo>
                  <a:lnTo>
                    <a:pt x="12242" y="4206240"/>
                  </a:lnTo>
                  <a:lnTo>
                    <a:pt x="0" y="416051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33C6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971665" y="958873"/>
            <a:ext cx="864235" cy="187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spc="-10" dirty="0">
                <a:solidFill>
                  <a:srgbClr val="33C658"/>
                </a:solidFill>
                <a:latin typeface="MingLiU_HKSCS-ExtB"/>
                <a:cs typeface="MingLiU_HKSCS-ExtB"/>
              </a:rPr>
              <a:t>✅</a:t>
            </a:r>
            <a:r>
              <a:rPr sz="900" b="1" spc="-10" dirty="0">
                <a:solidFill>
                  <a:srgbClr val="33C658"/>
                </a:solidFill>
                <a:latin typeface="Calibri"/>
                <a:cs typeface="Calibri"/>
              </a:rPr>
              <a:t>VERIFICACIÓN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851650" y="1255447"/>
            <a:ext cx="2042795" cy="607060"/>
            <a:chOff x="6851650" y="1255447"/>
            <a:chExt cx="2042795" cy="607060"/>
          </a:xfrm>
        </p:grpSpPr>
        <p:sp>
          <p:nvSpPr>
            <p:cNvPr id="52" name="object 52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858000" y="126179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008024" y="1310654"/>
            <a:ext cx="8629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Puerto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22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bloqueado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008024" y="1526300"/>
            <a:ext cx="104838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nmap</a:t>
            </a:r>
            <a:r>
              <a:rPr sz="700" spc="-7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puerto</a:t>
            </a:r>
            <a:r>
              <a:rPr sz="700" spc="-8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22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filtered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(UFW)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851650" y="1913892"/>
            <a:ext cx="2042795" cy="607060"/>
            <a:chOff x="6851650" y="1913892"/>
            <a:chExt cx="2042795" cy="607060"/>
          </a:xfrm>
        </p:grpSpPr>
        <p:sp>
          <p:nvSpPr>
            <p:cNvPr id="57" name="object 57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7" y="21422"/>
                  </a:lnTo>
                  <a:lnTo>
                    <a:pt x="0" y="54724"/>
                  </a:lnTo>
                  <a:lnTo>
                    <a:pt x="0" y="539635"/>
                  </a:lnTo>
                  <a:lnTo>
                    <a:pt x="3994" y="560234"/>
                  </a:lnTo>
                  <a:lnTo>
                    <a:pt x="4098" y="560550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59"/>
                  </a:lnTo>
                  <a:lnTo>
                    <a:pt x="1975319" y="594004"/>
                  </a:lnTo>
                  <a:lnTo>
                    <a:pt x="2013973" y="578067"/>
                  </a:lnTo>
                  <a:lnTo>
                    <a:pt x="2028119" y="553724"/>
                  </a:lnTo>
                  <a:lnTo>
                    <a:pt x="2028196" y="553496"/>
                  </a:lnTo>
                  <a:lnTo>
                    <a:pt x="2029535" y="546696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24"/>
                  </a:lnTo>
                  <a:lnTo>
                    <a:pt x="2013750" y="16063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858000" y="1920242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08"/>
                  </a:lnTo>
                  <a:lnTo>
                    <a:pt x="1843" y="40497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63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803"/>
                  </a:lnTo>
                  <a:lnTo>
                    <a:pt x="54724" y="594359"/>
                  </a:lnTo>
                  <a:lnTo>
                    <a:pt x="15925" y="578296"/>
                  </a:lnTo>
                  <a:lnTo>
                    <a:pt x="0" y="539635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008024" y="1969098"/>
            <a:ext cx="461009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Recon</a:t>
            </a:r>
            <a:r>
              <a:rPr sz="750" b="1" spc="-2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25" dirty="0">
                <a:solidFill>
                  <a:srgbClr val="33C658"/>
                </a:solidFill>
                <a:latin typeface="Calibri"/>
                <a:cs typeface="Calibri"/>
              </a:rPr>
              <a:t>web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008024" y="2184732"/>
            <a:ext cx="125984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curl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/admin1.../admin50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200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(SPA)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no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admin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851650" y="2572336"/>
            <a:ext cx="2042795" cy="607060"/>
            <a:chOff x="6851650" y="2572336"/>
            <a:chExt cx="2042795" cy="607060"/>
          </a:xfrm>
        </p:grpSpPr>
        <p:sp>
          <p:nvSpPr>
            <p:cNvPr id="62" name="object 62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59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30044" y="539280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858000" y="257868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59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008024" y="2627543"/>
            <a:ext cx="71120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Hydra</a:t>
            </a:r>
            <a:r>
              <a:rPr sz="750" b="1" spc="-4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bloqueado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008024" y="2843176"/>
            <a:ext cx="108585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13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intentos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fallidos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Fail2ban</a:t>
            </a:r>
            <a:r>
              <a:rPr sz="700" spc="-4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banea</a:t>
            </a:r>
            <a:r>
              <a:rPr sz="700" spc="-4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6851650" y="3230767"/>
            <a:ext cx="2042795" cy="607060"/>
            <a:chOff x="6851650" y="3230767"/>
            <a:chExt cx="2042795" cy="607060"/>
          </a:xfrm>
        </p:grpSpPr>
        <p:sp>
          <p:nvSpPr>
            <p:cNvPr id="67" name="object 67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278" y="2143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452" y="546496"/>
                  </a:lnTo>
                  <a:lnTo>
                    <a:pt x="466" y="546707"/>
                  </a:lnTo>
                  <a:lnTo>
                    <a:pt x="1799" y="553507"/>
                  </a:lnTo>
                  <a:lnTo>
                    <a:pt x="1843" y="553731"/>
                  </a:lnTo>
                  <a:lnTo>
                    <a:pt x="3997" y="560247"/>
                  </a:lnTo>
                  <a:lnTo>
                    <a:pt x="33757" y="590261"/>
                  </a:lnTo>
                  <a:lnTo>
                    <a:pt x="48071" y="594004"/>
                  </a:lnTo>
                  <a:lnTo>
                    <a:pt x="49219" y="594004"/>
                  </a:lnTo>
                  <a:lnTo>
                    <a:pt x="54724" y="594360"/>
                  </a:lnTo>
                  <a:lnTo>
                    <a:pt x="1975319" y="594004"/>
                  </a:lnTo>
                  <a:lnTo>
                    <a:pt x="2013973" y="578078"/>
                  </a:lnTo>
                  <a:lnTo>
                    <a:pt x="2028121" y="553731"/>
                  </a:lnTo>
                  <a:lnTo>
                    <a:pt x="2028196" y="553507"/>
                  </a:lnTo>
                  <a:lnTo>
                    <a:pt x="2029534" y="546707"/>
                  </a:lnTo>
                  <a:lnTo>
                    <a:pt x="2029576" y="546496"/>
                  </a:lnTo>
                  <a:lnTo>
                    <a:pt x="2030020" y="539648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82172" y="467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858000" y="3237117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24"/>
                  </a:moveTo>
                  <a:lnTo>
                    <a:pt x="466" y="47515"/>
                  </a:lnTo>
                  <a:lnTo>
                    <a:pt x="1843" y="40508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28196" y="553507"/>
                  </a:lnTo>
                  <a:lnTo>
                    <a:pt x="2002675" y="586803"/>
                  </a:lnTo>
                  <a:lnTo>
                    <a:pt x="54724" y="594360"/>
                  </a:lnTo>
                  <a:lnTo>
                    <a:pt x="15925" y="578300"/>
                  </a:lnTo>
                  <a:lnTo>
                    <a:pt x="0" y="539648"/>
                  </a:lnTo>
                  <a:lnTo>
                    <a:pt x="0" y="54724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7008024" y="3285618"/>
            <a:ext cx="60579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SSH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rechazado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008024" y="3501620"/>
            <a:ext cx="1259840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ssh</a:t>
            </a:r>
            <a:r>
              <a:rPr sz="700" spc="1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router-fw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Connection</a:t>
            </a:r>
            <a:r>
              <a:rPr sz="700" spc="-6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refused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6851650" y="3888856"/>
            <a:ext cx="2042795" cy="607060"/>
            <a:chOff x="6851650" y="3888856"/>
            <a:chExt cx="2042795" cy="607060"/>
          </a:xfrm>
        </p:grpSpPr>
        <p:sp>
          <p:nvSpPr>
            <p:cNvPr id="72" name="object 72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1974964" y="0"/>
                  </a:moveTo>
                  <a:lnTo>
                    <a:pt x="54724" y="0"/>
                  </a:lnTo>
                  <a:lnTo>
                    <a:pt x="47663" y="466"/>
                  </a:lnTo>
                  <a:lnTo>
                    <a:pt x="11278" y="21420"/>
                  </a:lnTo>
                  <a:lnTo>
                    <a:pt x="0" y="54711"/>
                  </a:lnTo>
                  <a:lnTo>
                    <a:pt x="0" y="539635"/>
                  </a:lnTo>
                  <a:lnTo>
                    <a:pt x="452" y="546488"/>
                  </a:lnTo>
                  <a:lnTo>
                    <a:pt x="466" y="546694"/>
                  </a:lnTo>
                  <a:lnTo>
                    <a:pt x="1799" y="553496"/>
                  </a:lnTo>
                  <a:lnTo>
                    <a:pt x="1843" y="553718"/>
                  </a:lnTo>
                  <a:lnTo>
                    <a:pt x="3997" y="560234"/>
                  </a:lnTo>
                  <a:lnTo>
                    <a:pt x="33757" y="590255"/>
                  </a:lnTo>
                  <a:lnTo>
                    <a:pt x="48014" y="593991"/>
                  </a:lnTo>
                  <a:lnTo>
                    <a:pt x="49044" y="593991"/>
                  </a:lnTo>
                  <a:lnTo>
                    <a:pt x="54724" y="594360"/>
                  </a:lnTo>
                  <a:lnTo>
                    <a:pt x="1975319" y="593991"/>
                  </a:lnTo>
                  <a:lnTo>
                    <a:pt x="2013973" y="578065"/>
                  </a:lnTo>
                  <a:lnTo>
                    <a:pt x="2028121" y="553718"/>
                  </a:lnTo>
                  <a:lnTo>
                    <a:pt x="2028196" y="553496"/>
                  </a:lnTo>
                  <a:lnTo>
                    <a:pt x="2029535" y="546694"/>
                  </a:lnTo>
                  <a:lnTo>
                    <a:pt x="2029576" y="546488"/>
                  </a:lnTo>
                  <a:lnTo>
                    <a:pt x="2030021" y="539635"/>
                  </a:lnTo>
                  <a:lnTo>
                    <a:pt x="2029675" y="54711"/>
                  </a:lnTo>
                  <a:lnTo>
                    <a:pt x="2013750" y="16059"/>
                  </a:lnTo>
                  <a:lnTo>
                    <a:pt x="1982172" y="466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858000" y="3895206"/>
              <a:ext cx="2030095" cy="594360"/>
            </a:xfrm>
            <a:custGeom>
              <a:avLst/>
              <a:gdLst/>
              <a:ahLst/>
              <a:cxnLst/>
              <a:rect l="l" t="t" r="r" b="b"/>
              <a:pathLst>
                <a:path w="2030095" h="594360">
                  <a:moveTo>
                    <a:pt x="0" y="54711"/>
                  </a:moveTo>
                  <a:lnTo>
                    <a:pt x="466" y="47502"/>
                  </a:lnTo>
                  <a:lnTo>
                    <a:pt x="1843" y="40495"/>
                  </a:lnTo>
                  <a:lnTo>
                    <a:pt x="27355" y="7200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59"/>
                  </a:lnTo>
                  <a:lnTo>
                    <a:pt x="2029675" y="54711"/>
                  </a:lnTo>
                  <a:lnTo>
                    <a:pt x="2030044" y="539280"/>
                  </a:lnTo>
                  <a:lnTo>
                    <a:pt x="2029576" y="546488"/>
                  </a:lnTo>
                  <a:lnTo>
                    <a:pt x="2028196" y="553496"/>
                  </a:lnTo>
                  <a:lnTo>
                    <a:pt x="2002675" y="586790"/>
                  </a:lnTo>
                  <a:lnTo>
                    <a:pt x="54724" y="594360"/>
                  </a:lnTo>
                  <a:lnTo>
                    <a:pt x="15925" y="578289"/>
                  </a:lnTo>
                  <a:lnTo>
                    <a:pt x="0" y="539635"/>
                  </a:lnTo>
                  <a:lnTo>
                    <a:pt x="0" y="54711"/>
                  </a:lnTo>
                  <a:close/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7008024" y="3944063"/>
            <a:ext cx="59690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BD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inaccesible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008024" y="4160052"/>
            <a:ext cx="874394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mysql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-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h</a:t>
            </a:r>
            <a:r>
              <a:rPr sz="700" spc="-3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db-</a:t>
            </a:r>
            <a:r>
              <a:rPr sz="700" spc="-20" dirty="0">
                <a:solidFill>
                  <a:srgbClr val="E7EFFF"/>
                </a:solidFill>
                <a:latin typeface="Courier New"/>
                <a:cs typeface="Courier New"/>
              </a:rPr>
              <a:t>core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ERROR</a:t>
            </a:r>
            <a:r>
              <a:rPr sz="700" spc="-6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2002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0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851700" y="4547337"/>
            <a:ext cx="2042795" cy="602615"/>
            <a:chOff x="6851700" y="4547337"/>
            <a:chExt cx="2042795" cy="602615"/>
          </a:xfrm>
        </p:grpSpPr>
        <p:sp>
          <p:nvSpPr>
            <p:cNvPr id="77" name="object 77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1974964" y="0"/>
                  </a:moveTo>
                  <a:lnTo>
                    <a:pt x="54724" y="0"/>
                  </a:lnTo>
                  <a:lnTo>
                    <a:pt x="47663" y="467"/>
                  </a:lnTo>
                  <a:lnTo>
                    <a:pt x="11312" y="21383"/>
                  </a:lnTo>
                  <a:lnTo>
                    <a:pt x="0" y="54724"/>
                  </a:lnTo>
                  <a:lnTo>
                    <a:pt x="0" y="539648"/>
                  </a:lnTo>
                  <a:lnTo>
                    <a:pt x="15925" y="578300"/>
                  </a:lnTo>
                  <a:lnTo>
                    <a:pt x="32571" y="589686"/>
                  </a:lnTo>
                  <a:lnTo>
                    <a:pt x="1996680" y="589686"/>
                  </a:lnTo>
                  <a:lnTo>
                    <a:pt x="2025940" y="560247"/>
                  </a:lnTo>
                  <a:lnTo>
                    <a:pt x="2030044" y="539280"/>
                  </a:lnTo>
                  <a:lnTo>
                    <a:pt x="2029675" y="54724"/>
                  </a:lnTo>
                  <a:lnTo>
                    <a:pt x="2013750" y="16070"/>
                  </a:lnTo>
                  <a:lnTo>
                    <a:pt x="1974964" y="0"/>
                  </a:lnTo>
                  <a:close/>
                </a:path>
              </a:pathLst>
            </a:custGeom>
            <a:solidFill>
              <a:srgbClr val="0919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858000" y="4553637"/>
              <a:ext cx="2030095" cy="589915"/>
            </a:xfrm>
            <a:custGeom>
              <a:avLst/>
              <a:gdLst/>
              <a:ahLst/>
              <a:cxnLst/>
              <a:rect l="l" t="t" r="r" b="b"/>
              <a:pathLst>
                <a:path w="2030095" h="589914">
                  <a:moveTo>
                    <a:pt x="32571" y="589686"/>
                  </a:moveTo>
                  <a:lnTo>
                    <a:pt x="4098" y="560552"/>
                  </a:lnTo>
                  <a:lnTo>
                    <a:pt x="0" y="539648"/>
                  </a:lnTo>
                  <a:lnTo>
                    <a:pt x="0" y="54724"/>
                  </a:lnTo>
                  <a:lnTo>
                    <a:pt x="16063" y="15936"/>
                  </a:lnTo>
                  <a:lnTo>
                    <a:pt x="54724" y="0"/>
                  </a:lnTo>
                  <a:lnTo>
                    <a:pt x="1974964" y="0"/>
                  </a:lnTo>
                  <a:lnTo>
                    <a:pt x="2013750" y="16070"/>
                  </a:lnTo>
                  <a:lnTo>
                    <a:pt x="2029675" y="54724"/>
                  </a:lnTo>
                  <a:lnTo>
                    <a:pt x="2030044" y="539280"/>
                  </a:lnTo>
                  <a:lnTo>
                    <a:pt x="2029576" y="546496"/>
                  </a:lnTo>
                  <a:lnTo>
                    <a:pt x="2008611" y="582847"/>
                  </a:lnTo>
                  <a:lnTo>
                    <a:pt x="1996680" y="589686"/>
                  </a:lnTo>
                </a:path>
              </a:pathLst>
            </a:custGeom>
            <a:ln w="12599">
              <a:solidFill>
                <a:srgbClr val="193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7008024" y="4602494"/>
            <a:ext cx="60515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Log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dirty="0">
                <a:solidFill>
                  <a:srgbClr val="33C658"/>
                </a:solidFill>
                <a:latin typeface="Calibri"/>
                <a:cs typeface="Calibri"/>
              </a:rPr>
              <a:t>del</a:t>
            </a:r>
            <a:r>
              <a:rPr sz="750" b="1" spc="-15" dirty="0">
                <a:solidFill>
                  <a:srgbClr val="33C658"/>
                </a:solidFill>
                <a:latin typeface="Calibri"/>
                <a:cs typeface="Calibri"/>
              </a:rPr>
              <a:t> </a:t>
            </a:r>
            <a:r>
              <a:rPr sz="750" b="1" spc="-10" dirty="0">
                <a:solidFill>
                  <a:srgbClr val="33C658"/>
                </a:solidFill>
                <a:latin typeface="Calibri"/>
                <a:cs typeface="Calibri"/>
              </a:rPr>
              <a:t>ataque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008024" y="4818140"/>
            <a:ext cx="1100455" cy="24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790"/>
              </a:lnSpc>
              <a:spcBef>
                <a:spcPts val="100"/>
              </a:spcBef>
            </a:pPr>
            <a:r>
              <a:rPr sz="700" spc="-25" dirty="0">
                <a:solidFill>
                  <a:srgbClr val="E7EFFF"/>
                </a:solidFill>
                <a:latin typeface="Courier New"/>
                <a:cs typeface="Courier New"/>
              </a:rPr>
              <a:t>server-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182.log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ts val="910"/>
              </a:lnSpc>
            </a:pP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→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dirty="0">
                <a:solidFill>
                  <a:srgbClr val="E7EFFF"/>
                </a:solidFill>
                <a:latin typeface="Courier New"/>
                <a:cs typeface="Courier New"/>
              </a:rPr>
              <a:t>Failed</a:t>
            </a:r>
            <a:r>
              <a:rPr sz="700" spc="-55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700" spc="-10" dirty="0">
                <a:solidFill>
                  <a:srgbClr val="E7EFFF"/>
                </a:solidFill>
                <a:latin typeface="Courier New"/>
                <a:cs typeface="Courier New"/>
              </a:rPr>
              <a:t>password</a:t>
            </a:r>
            <a:r>
              <a:rPr sz="700" spc="-50" dirty="0">
                <a:solidFill>
                  <a:srgbClr val="E7EFFF"/>
                </a:solidFill>
                <a:latin typeface="Courier New"/>
                <a:cs typeface="Courier New"/>
              </a:rPr>
              <a:t> </a:t>
            </a:r>
            <a:r>
              <a:rPr sz="800" spc="110" dirty="0">
                <a:solidFill>
                  <a:srgbClr val="E7EFFF"/>
                </a:solidFill>
                <a:latin typeface="MingLiU_HKSCS-ExtB"/>
                <a:cs typeface="MingLiU_HKSCS-ExtB"/>
              </a:rPr>
              <a:t>✅</a:t>
            </a:r>
            <a:endParaRPr sz="800">
              <a:latin typeface="MingLiU_HKSCS-ExtB"/>
              <a:cs typeface="MingLiU_HKSCS-ExtB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299" y="-6285"/>
            <a:ext cx="2298700" cy="2298700"/>
            <a:chOff x="-6299" y="-6285"/>
            <a:chExt cx="2298700" cy="2298700"/>
          </a:xfrm>
        </p:grpSpPr>
        <p:sp>
          <p:nvSpPr>
            <p:cNvPr id="3" name="object 3"/>
            <p:cNvSpPr/>
            <p:nvPr/>
          </p:nvSpPr>
          <p:spPr>
            <a:xfrm>
              <a:off x="0" y="14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936344" y="0"/>
                  </a:moveTo>
                  <a:lnTo>
                    <a:pt x="0" y="0"/>
                  </a:lnTo>
                  <a:lnTo>
                    <a:pt x="0" y="1936319"/>
                  </a:lnTo>
                  <a:lnTo>
                    <a:pt x="58620" y="1986187"/>
                  </a:lnTo>
                  <a:lnTo>
                    <a:pt x="99274" y="2017428"/>
                  </a:lnTo>
                  <a:lnTo>
                    <a:pt x="141121" y="2047174"/>
                  </a:lnTo>
                  <a:lnTo>
                    <a:pt x="184123" y="2075386"/>
                  </a:lnTo>
                  <a:lnTo>
                    <a:pt x="228244" y="2102027"/>
                  </a:lnTo>
                  <a:lnTo>
                    <a:pt x="273329" y="2126921"/>
                  </a:lnTo>
                  <a:lnTo>
                    <a:pt x="319223" y="2150059"/>
                  </a:lnTo>
                  <a:lnTo>
                    <a:pt x="365872" y="2171427"/>
                  </a:lnTo>
                  <a:lnTo>
                    <a:pt x="413226" y="2191012"/>
                  </a:lnTo>
                  <a:lnTo>
                    <a:pt x="461231" y="2208798"/>
                  </a:lnTo>
                  <a:lnTo>
                    <a:pt x="509836" y="2224773"/>
                  </a:lnTo>
                  <a:lnTo>
                    <a:pt x="558990" y="2238921"/>
                  </a:lnTo>
                  <a:lnTo>
                    <a:pt x="608640" y="2251228"/>
                  </a:lnTo>
                  <a:lnTo>
                    <a:pt x="658733" y="2261681"/>
                  </a:lnTo>
                  <a:lnTo>
                    <a:pt x="709219" y="2270265"/>
                  </a:lnTo>
                  <a:lnTo>
                    <a:pt x="760045" y="2276967"/>
                  </a:lnTo>
                  <a:lnTo>
                    <a:pt x="811159" y="2281771"/>
                  </a:lnTo>
                  <a:lnTo>
                    <a:pt x="862509" y="2284664"/>
                  </a:lnTo>
                  <a:lnTo>
                    <a:pt x="914044" y="2285631"/>
                  </a:lnTo>
                  <a:lnTo>
                    <a:pt x="965576" y="2284664"/>
                  </a:lnTo>
                  <a:lnTo>
                    <a:pt x="1016924" y="2281771"/>
                  </a:lnTo>
                  <a:lnTo>
                    <a:pt x="1068036" y="2276967"/>
                  </a:lnTo>
                  <a:lnTo>
                    <a:pt x="1118861" y="2270265"/>
                  </a:lnTo>
                  <a:lnTo>
                    <a:pt x="1169346" y="2261681"/>
                  </a:lnTo>
                  <a:lnTo>
                    <a:pt x="1219439" y="2251228"/>
                  </a:lnTo>
                  <a:lnTo>
                    <a:pt x="1269088" y="2238921"/>
                  </a:lnTo>
                  <a:lnTo>
                    <a:pt x="1318242" y="2224773"/>
                  </a:lnTo>
                  <a:lnTo>
                    <a:pt x="1366848" y="2208798"/>
                  </a:lnTo>
                  <a:lnTo>
                    <a:pt x="1414855" y="2191012"/>
                  </a:lnTo>
                  <a:lnTo>
                    <a:pt x="1462209" y="2171427"/>
                  </a:lnTo>
                  <a:lnTo>
                    <a:pt x="1508860" y="2150059"/>
                  </a:lnTo>
                  <a:lnTo>
                    <a:pt x="1554756" y="2126921"/>
                  </a:lnTo>
                  <a:lnTo>
                    <a:pt x="1599844" y="2102027"/>
                  </a:lnTo>
                  <a:lnTo>
                    <a:pt x="1643962" y="2075386"/>
                  </a:lnTo>
                  <a:lnTo>
                    <a:pt x="1686962" y="2047174"/>
                  </a:lnTo>
                  <a:lnTo>
                    <a:pt x="1728808" y="2017428"/>
                  </a:lnTo>
                  <a:lnTo>
                    <a:pt x="1769460" y="1986187"/>
                  </a:lnTo>
                  <a:lnTo>
                    <a:pt x="1808881" y="1953488"/>
                  </a:lnTo>
                  <a:lnTo>
                    <a:pt x="1847033" y="1919368"/>
                  </a:lnTo>
                  <a:lnTo>
                    <a:pt x="1883879" y="1883867"/>
                  </a:lnTo>
                  <a:lnTo>
                    <a:pt x="1919381" y="1847021"/>
                  </a:lnTo>
                  <a:lnTo>
                    <a:pt x="1953500" y="1808868"/>
                  </a:lnTo>
                  <a:lnTo>
                    <a:pt x="1986200" y="1769447"/>
                  </a:lnTo>
                  <a:lnTo>
                    <a:pt x="2017441" y="1728795"/>
                  </a:lnTo>
                  <a:lnTo>
                    <a:pt x="2047187" y="1686950"/>
                  </a:lnTo>
                  <a:lnTo>
                    <a:pt x="2075399" y="1643949"/>
                  </a:lnTo>
                  <a:lnTo>
                    <a:pt x="2102040" y="1599831"/>
                  </a:lnTo>
                  <a:lnTo>
                    <a:pt x="2126933" y="1554743"/>
                  </a:lnTo>
                  <a:lnTo>
                    <a:pt x="2150071" y="1508848"/>
                  </a:lnTo>
                  <a:lnTo>
                    <a:pt x="2171440" y="1462197"/>
                  </a:lnTo>
                  <a:lnTo>
                    <a:pt x="2191024" y="1414842"/>
                  </a:lnTo>
                  <a:lnTo>
                    <a:pt x="2208811" y="1366835"/>
                  </a:lnTo>
                  <a:lnTo>
                    <a:pt x="2224785" y="1318229"/>
                  </a:lnTo>
                  <a:lnTo>
                    <a:pt x="2238933" y="1269076"/>
                  </a:lnTo>
                  <a:lnTo>
                    <a:pt x="2251241" y="1219426"/>
                  </a:lnTo>
                  <a:lnTo>
                    <a:pt x="2261694" y="1169333"/>
                  </a:lnTo>
                  <a:lnTo>
                    <a:pt x="2270278" y="1118848"/>
                  </a:lnTo>
                  <a:lnTo>
                    <a:pt x="2276979" y="1068024"/>
                  </a:lnTo>
                  <a:lnTo>
                    <a:pt x="2281784" y="1016911"/>
                  </a:lnTo>
                  <a:lnTo>
                    <a:pt x="2284676" y="965563"/>
                  </a:lnTo>
                  <a:lnTo>
                    <a:pt x="2285644" y="914031"/>
                  </a:lnTo>
                  <a:lnTo>
                    <a:pt x="2284676" y="862497"/>
                  </a:lnTo>
                  <a:lnTo>
                    <a:pt x="2281784" y="811147"/>
                  </a:lnTo>
                  <a:lnTo>
                    <a:pt x="2276979" y="760032"/>
                  </a:lnTo>
                  <a:lnTo>
                    <a:pt x="2270278" y="709206"/>
                  </a:lnTo>
                  <a:lnTo>
                    <a:pt x="2261694" y="658721"/>
                  </a:lnTo>
                  <a:lnTo>
                    <a:pt x="2251241" y="608627"/>
                  </a:lnTo>
                  <a:lnTo>
                    <a:pt x="2238933" y="558977"/>
                  </a:lnTo>
                  <a:lnTo>
                    <a:pt x="2224785" y="509824"/>
                  </a:lnTo>
                  <a:lnTo>
                    <a:pt x="2208811" y="461218"/>
                  </a:lnTo>
                  <a:lnTo>
                    <a:pt x="2191024" y="413213"/>
                  </a:lnTo>
                  <a:lnTo>
                    <a:pt x="2171440" y="365859"/>
                  </a:lnTo>
                  <a:lnTo>
                    <a:pt x="2150071" y="319210"/>
                  </a:lnTo>
                  <a:lnTo>
                    <a:pt x="2126933" y="273317"/>
                  </a:lnTo>
                  <a:lnTo>
                    <a:pt x="2102040" y="228231"/>
                  </a:lnTo>
                  <a:lnTo>
                    <a:pt x="2075399" y="184111"/>
                  </a:lnTo>
                  <a:lnTo>
                    <a:pt x="2047187" y="141108"/>
                  </a:lnTo>
                  <a:lnTo>
                    <a:pt x="2017441" y="99261"/>
                  </a:lnTo>
                  <a:lnTo>
                    <a:pt x="1986200" y="58607"/>
                  </a:lnTo>
                  <a:lnTo>
                    <a:pt x="1953500" y="19185"/>
                  </a:lnTo>
                  <a:lnTo>
                    <a:pt x="1936344" y="0"/>
                  </a:lnTo>
                  <a:close/>
                </a:path>
              </a:pathLst>
            </a:custGeom>
            <a:solidFill>
              <a:srgbClr val="0C1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4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1936344" y="0"/>
                  </a:moveTo>
                  <a:lnTo>
                    <a:pt x="1986200" y="58607"/>
                  </a:lnTo>
                  <a:lnTo>
                    <a:pt x="2017441" y="99261"/>
                  </a:lnTo>
                  <a:lnTo>
                    <a:pt x="2047187" y="141108"/>
                  </a:lnTo>
                  <a:lnTo>
                    <a:pt x="2075399" y="184111"/>
                  </a:lnTo>
                  <a:lnTo>
                    <a:pt x="2102040" y="228231"/>
                  </a:lnTo>
                  <a:lnTo>
                    <a:pt x="2126933" y="273317"/>
                  </a:lnTo>
                  <a:lnTo>
                    <a:pt x="2150071" y="319210"/>
                  </a:lnTo>
                  <a:lnTo>
                    <a:pt x="2171440" y="365859"/>
                  </a:lnTo>
                  <a:lnTo>
                    <a:pt x="2191024" y="413213"/>
                  </a:lnTo>
                  <a:lnTo>
                    <a:pt x="2208811" y="461218"/>
                  </a:lnTo>
                  <a:lnTo>
                    <a:pt x="2224785" y="509824"/>
                  </a:lnTo>
                  <a:lnTo>
                    <a:pt x="2238933" y="558977"/>
                  </a:lnTo>
                  <a:lnTo>
                    <a:pt x="2251241" y="608627"/>
                  </a:lnTo>
                  <a:lnTo>
                    <a:pt x="2261694" y="658721"/>
                  </a:lnTo>
                  <a:lnTo>
                    <a:pt x="2270278" y="709206"/>
                  </a:lnTo>
                  <a:lnTo>
                    <a:pt x="2276979" y="760032"/>
                  </a:lnTo>
                  <a:lnTo>
                    <a:pt x="2281784" y="811147"/>
                  </a:lnTo>
                  <a:lnTo>
                    <a:pt x="2284676" y="862497"/>
                  </a:lnTo>
                  <a:lnTo>
                    <a:pt x="2285644" y="914031"/>
                  </a:lnTo>
                  <a:lnTo>
                    <a:pt x="2284676" y="965563"/>
                  </a:lnTo>
                  <a:lnTo>
                    <a:pt x="2281784" y="1016911"/>
                  </a:lnTo>
                  <a:lnTo>
                    <a:pt x="2276979" y="1068024"/>
                  </a:lnTo>
                  <a:lnTo>
                    <a:pt x="2270278" y="1118848"/>
                  </a:lnTo>
                  <a:lnTo>
                    <a:pt x="2261694" y="1169333"/>
                  </a:lnTo>
                  <a:lnTo>
                    <a:pt x="2251241" y="1219426"/>
                  </a:lnTo>
                  <a:lnTo>
                    <a:pt x="2238933" y="1269076"/>
                  </a:lnTo>
                  <a:lnTo>
                    <a:pt x="2224785" y="1318229"/>
                  </a:lnTo>
                  <a:lnTo>
                    <a:pt x="2208811" y="1366835"/>
                  </a:lnTo>
                  <a:lnTo>
                    <a:pt x="2191024" y="1414842"/>
                  </a:lnTo>
                  <a:lnTo>
                    <a:pt x="2171440" y="1462197"/>
                  </a:lnTo>
                  <a:lnTo>
                    <a:pt x="2150071" y="1508848"/>
                  </a:lnTo>
                  <a:lnTo>
                    <a:pt x="2126933" y="1554743"/>
                  </a:lnTo>
                  <a:lnTo>
                    <a:pt x="2102040" y="1599831"/>
                  </a:lnTo>
                  <a:lnTo>
                    <a:pt x="2075399" y="1643949"/>
                  </a:lnTo>
                  <a:lnTo>
                    <a:pt x="2047187" y="1686950"/>
                  </a:lnTo>
                  <a:lnTo>
                    <a:pt x="2017441" y="1728795"/>
                  </a:lnTo>
                  <a:lnTo>
                    <a:pt x="1986200" y="1769447"/>
                  </a:lnTo>
                  <a:lnTo>
                    <a:pt x="1953500" y="1808868"/>
                  </a:lnTo>
                  <a:lnTo>
                    <a:pt x="1919381" y="1847021"/>
                  </a:lnTo>
                  <a:lnTo>
                    <a:pt x="1883879" y="1883867"/>
                  </a:lnTo>
                  <a:lnTo>
                    <a:pt x="1847033" y="1919368"/>
                  </a:lnTo>
                  <a:lnTo>
                    <a:pt x="1808881" y="1953488"/>
                  </a:lnTo>
                  <a:lnTo>
                    <a:pt x="1769460" y="1986187"/>
                  </a:lnTo>
                  <a:lnTo>
                    <a:pt x="1728808" y="2017428"/>
                  </a:lnTo>
                  <a:lnTo>
                    <a:pt x="1686962" y="2047174"/>
                  </a:lnTo>
                  <a:lnTo>
                    <a:pt x="1643962" y="2075386"/>
                  </a:lnTo>
                  <a:lnTo>
                    <a:pt x="1599844" y="2102027"/>
                  </a:lnTo>
                  <a:lnTo>
                    <a:pt x="1554756" y="2126921"/>
                  </a:lnTo>
                  <a:lnTo>
                    <a:pt x="1508860" y="2150059"/>
                  </a:lnTo>
                  <a:lnTo>
                    <a:pt x="1462209" y="2171427"/>
                  </a:lnTo>
                  <a:lnTo>
                    <a:pt x="1414855" y="2191012"/>
                  </a:lnTo>
                  <a:lnTo>
                    <a:pt x="1366848" y="2208798"/>
                  </a:lnTo>
                  <a:lnTo>
                    <a:pt x="1318242" y="2224773"/>
                  </a:lnTo>
                  <a:lnTo>
                    <a:pt x="1269088" y="2238921"/>
                  </a:lnTo>
                  <a:lnTo>
                    <a:pt x="1219439" y="2251228"/>
                  </a:lnTo>
                  <a:lnTo>
                    <a:pt x="1169346" y="2261681"/>
                  </a:lnTo>
                  <a:lnTo>
                    <a:pt x="1118861" y="2270265"/>
                  </a:lnTo>
                  <a:lnTo>
                    <a:pt x="1068036" y="2276967"/>
                  </a:lnTo>
                  <a:lnTo>
                    <a:pt x="1016924" y="2281771"/>
                  </a:lnTo>
                  <a:lnTo>
                    <a:pt x="965576" y="2284664"/>
                  </a:lnTo>
                  <a:lnTo>
                    <a:pt x="914044" y="2285631"/>
                  </a:lnTo>
                  <a:lnTo>
                    <a:pt x="862509" y="2284664"/>
                  </a:lnTo>
                  <a:lnTo>
                    <a:pt x="811159" y="2281771"/>
                  </a:lnTo>
                  <a:lnTo>
                    <a:pt x="760045" y="2276967"/>
                  </a:lnTo>
                  <a:lnTo>
                    <a:pt x="709219" y="2270265"/>
                  </a:lnTo>
                  <a:lnTo>
                    <a:pt x="658733" y="2261681"/>
                  </a:lnTo>
                  <a:lnTo>
                    <a:pt x="608640" y="2251228"/>
                  </a:lnTo>
                  <a:lnTo>
                    <a:pt x="558990" y="2238921"/>
                  </a:lnTo>
                  <a:lnTo>
                    <a:pt x="509836" y="2224773"/>
                  </a:lnTo>
                  <a:lnTo>
                    <a:pt x="461231" y="2208798"/>
                  </a:lnTo>
                  <a:lnTo>
                    <a:pt x="413226" y="2191012"/>
                  </a:lnTo>
                  <a:lnTo>
                    <a:pt x="365872" y="2171427"/>
                  </a:lnTo>
                  <a:lnTo>
                    <a:pt x="319223" y="2150059"/>
                  </a:lnTo>
                  <a:lnTo>
                    <a:pt x="273329" y="2126921"/>
                  </a:lnTo>
                  <a:lnTo>
                    <a:pt x="228244" y="2102027"/>
                  </a:lnTo>
                  <a:lnTo>
                    <a:pt x="184123" y="2075386"/>
                  </a:lnTo>
                  <a:lnTo>
                    <a:pt x="141121" y="2047174"/>
                  </a:lnTo>
                  <a:lnTo>
                    <a:pt x="99274" y="2017428"/>
                  </a:lnTo>
                  <a:lnTo>
                    <a:pt x="58620" y="1986187"/>
                  </a:lnTo>
                  <a:lnTo>
                    <a:pt x="19197" y="1953488"/>
                  </a:lnTo>
                  <a:lnTo>
                    <a:pt x="0" y="1936319"/>
                  </a:lnTo>
                </a:path>
              </a:pathLst>
            </a:custGeom>
            <a:ln w="12599">
              <a:solidFill>
                <a:srgbClr val="0C1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76199" y="2369504"/>
            <a:ext cx="8773795" cy="2665730"/>
            <a:chOff x="376199" y="2369504"/>
            <a:chExt cx="8773795" cy="2665730"/>
          </a:xfrm>
        </p:grpSpPr>
        <p:sp>
          <p:nvSpPr>
            <p:cNvPr id="6" name="object 6"/>
            <p:cNvSpPr/>
            <p:nvPr/>
          </p:nvSpPr>
          <p:spPr>
            <a:xfrm>
              <a:off x="7772044" y="3200046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914400" y="0"/>
                  </a:moveTo>
                  <a:lnTo>
                    <a:pt x="866332" y="1259"/>
                  </a:lnTo>
                  <a:lnTo>
                    <a:pt x="818533" y="5021"/>
                  </a:lnTo>
                  <a:lnTo>
                    <a:pt x="771096" y="11263"/>
                  </a:lnTo>
                  <a:lnTo>
                    <a:pt x="724118" y="19961"/>
                  </a:lnTo>
                  <a:lnTo>
                    <a:pt x="677694" y="31091"/>
                  </a:lnTo>
                  <a:lnTo>
                    <a:pt x="631918" y="44629"/>
                  </a:lnTo>
                  <a:lnTo>
                    <a:pt x="586885" y="60551"/>
                  </a:lnTo>
                  <a:lnTo>
                    <a:pt x="542691" y="78835"/>
                  </a:lnTo>
                  <a:lnTo>
                    <a:pt x="499431" y="99455"/>
                  </a:lnTo>
                  <a:lnTo>
                    <a:pt x="457200" y="122389"/>
                  </a:lnTo>
                  <a:lnTo>
                    <a:pt x="416225" y="147522"/>
                  </a:lnTo>
                  <a:lnTo>
                    <a:pt x="376725" y="174700"/>
                  </a:lnTo>
                  <a:lnTo>
                    <a:pt x="338772" y="203852"/>
                  </a:lnTo>
                  <a:lnTo>
                    <a:pt x="302438" y="234906"/>
                  </a:lnTo>
                  <a:lnTo>
                    <a:pt x="267792" y="267792"/>
                  </a:lnTo>
                  <a:lnTo>
                    <a:pt x="234906" y="302438"/>
                  </a:lnTo>
                  <a:lnTo>
                    <a:pt x="203852" y="338772"/>
                  </a:lnTo>
                  <a:lnTo>
                    <a:pt x="174700" y="376725"/>
                  </a:lnTo>
                  <a:lnTo>
                    <a:pt x="147522" y="416225"/>
                  </a:lnTo>
                  <a:lnTo>
                    <a:pt x="122389" y="457200"/>
                  </a:lnTo>
                  <a:lnTo>
                    <a:pt x="99455" y="499431"/>
                  </a:lnTo>
                  <a:lnTo>
                    <a:pt x="78835" y="542691"/>
                  </a:lnTo>
                  <a:lnTo>
                    <a:pt x="60551" y="586885"/>
                  </a:lnTo>
                  <a:lnTo>
                    <a:pt x="44629" y="631918"/>
                  </a:lnTo>
                  <a:lnTo>
                    <a:pt x="31091" y="677694"/>
                  </a:lnTo>
                  <a:lnTo>
                    <a:pt x="19961" y="724118"/>
                  </a:lnTo>
                  <a:lnTo>
                    <a:pt x="11263" y="771096"/>
                  </a:lnTo>
                  <a:lnTo>
                    <a:pt x="5021" y="818533"/>
                  </a:lnTo>
                  <a:lnTo>
                    <a:pt x="1259" y="866332"/>
                  </a:lnTo>
                  <a:lnTo>
                    <a:pt x="0" y="914400"/>
                  </a:lnTo>
                  <a:lnTo>
                    <a:pt x="1259" y="962464"/>
                  </a:lnTo>
                  <a:lnTo>
                    <a:pt x="5021" y="1010260"/>
                  </a:lnTo>
                  <a:lnTo>
                    <a:pt x="11263" y="1057695"/>
                  </a:lnTo>
                  <a:lnTo>
                    <a:pt x="19961" y="1104672"/>
                  </a:lnTo>
                  <a:lnTo>
                    <a:pt x="31091" y="1151096"/>
                  </a:lnTo>
                  <a:lnTo>
                    <a:pt x="44629" y="1196872"/>
                  </a:lnTo>
                  <a:lnTo>
                    <a:pt x="60551" y="1241906"/>
                  </a:lnTo>
                  <a:lnTo>
                    <a:pt x="78835" y="1286102"/>
                  </a:lnTo>
                  <a:lnTo>
                    <a:pt x="99455" y="1329365"/>
                  </a:lnTo>
                  <a:lnTo>
                    <a:pt x="122389" y="1371600"/>
                  </a:lnTo>
                  <a:lnTo>
                    <a:pt x="147522" y="1412571"/>
                  </a:lnTo>
                  <a:lnTo>
                    <a:pt x="174700" y="1452069"/>
                  </a:lnTo>
                  <a:lnTo>
                    <a:pt x="203852" y="1490021"/>
                  </a:lnTo>
                  <a:lnTo>
                    <a:pt x="234906" y="1526355"/>
                  </a:lnTo>
                  <a:lnTo>
                    <a:pt x="267792" y="1561001"/>
                  </a:lnTo>
                  <a:lnTo>
                    <a:pt x="302438" y="1593886"/>
                  </a:lnTo>
                  <a:lnTo>
                    <a:pt x="338772" y="1624940"/>
                  </a:lnTo>
                  <a:lnTo>
                    <a:pt x="376725" y="1654091"/>
                  </a:lnTo>
                  <a:lnTo>
                    <a:pt x="416225" y="1681267"/>
                  </a:lnTo>
                  <a:lnTo>
                    <a:pt x="457200" y="1706397"/>
                  </a:lnTo>
                  <a:lnTo>
                    <a:pt x="499431" y="1729331"/>
                  </a:lnTo>
                  <a:lnTo>
                    <a:pt x="542691" y="1749953"/>
                  </a:lnTo>
                  <a:lnTo>
                    <a:pt x="586885" y="1768238"/>
                  </a:lnTo>
                  <a:lnTo>
                    <a:pt x="631918" y="1784162"/>
                  </a:lnTo>
                  <a:lnTo>
                    <a:pt x="677694" y="1797702"/>
                  </a:lnTo>
                  <a:lnTo>
                    <a:pt x="724118" y="1808833"/>
                  </a:lnTo>
                  <a:lnTo>
                    <a:pt x="771096" y="1817533"/>
                  </a:lnTo>
                  <a:lnTo>
                    <a:pt x="818533" y="1823776"/>
                  </a:lnTo>
                  <a:lnTo>
                    <a:pt x="866332" y="1827540"/>
                  </a:lnTo>
                  <a:lnTo>
                    <a:pt x="914400" y="1828800"/>
                  </a:lnTo>
                  <a:lnTo>
                    <a:pt x="962464" y="1827540"/>
                  </a:lnTo>
                  <a:lnTo>
                    <a:pt x="1010260" y="1823776"/>
                  </a:lnTo>
                  <a:lnTo>
                    <a:pt x="1057695" y="1817533"/>
                  </a:lnTo>
                  <a:lnTo>
                    <a:pt x="1104672" y="1808833"/>
                  </a:lnTo>
                  <a:lnTo>
                    <a:pt x="1151096" y="1797702"/>
                  </a:lnTo>
                  <a:lnTo>
                    <a:pt x="1196872" y="1784162"/>
                  </a:lnTo>
                  <a:lnTo>
                    <a:pt x="1241906" y="1768238"/>
                  </a:lnTo>
                  <a:lnTo>
                    <a:pt x="1286102" y="1749953"/>
                  </a:lnTo>
                  <a:lnTo>
                    <a:pt x="1329365" y="1729331"/>
                  </a:lnTo>
                  <a:lnTo>
                    <a:pt x="1371587" y="1706397"/>
                  </a:lnTo>
                  <a:lnTo>
                    <a:pt x="1371587" y="122389"/>
                  </a:lnTo>
                  <a:lnTo>
                    <a:pt x="1329365" y="99455"/>
                  </a:lnTo>
                  <a:lnTo>
                    <a:pt x="1286102" y="78835"/>
                  </a:lnTo>
                  <a:lnTo>
                    <a:pt x="1241906" y="60551"/>
                  </a:lnTo>
                  <a:lnTo>
                    <a:pt x="1196872" y="44629"/>
                  </a:lnTo>
                  <a:lnTo>
                    <a:pt x="1151096" y="31091"/>
                  </a:lnTo>
                  <a:lnTo>
                    <a:pt x="1104672" y="19961"/>
                  </a:lnTo>
                  <a:lnTo>
                    <a:pt x="1057695" y="11263"/>
                  </a:lnTo>
                  <a:lnTo>
                    <a:pt x="1010260" y="5021"/>
                  </a:lnTo>
                  <a:lnTo>
                    <a:pt x="962464" y="1259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C1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72044" y="3200046"/>
              <a:ext cx="1371600" cy="1828800"/>
            </a:xfrm>
            <a:custGeom>
              <a:avLst/>
              <a:gdLst/>
              <a:ahLst/>
              <a:cxnLst/>
              <a:rect l="l" t="t" r="r" b="b"/>
              <a:pathLst>
                <a:path w="1371600" h="1828800">
                  <a:moveTo>
                    <a:pt x="1371587" y="1706397"/>
                  </a:moveTo>
                  <a:lnTo>
                    <a:pt x="1329365" y="1729331"/>
                  </a:lnTo>
                  <a:lnTo>
                    <a:pt x="1286102" y="1749953"/>
                  </a:lnTo>
                  <a:lnTo>
                    <a:pt x="1241906" y="1768238"/>
                  </a:lnTo>
                  <a:lnTo>
                    <a:pt x="1196872" y="1784162"/>
                  </a:lnTo>
                  <a:lnTo>
                    <a:pt x="1151096" y="1797702"/>
                  </a:lnTo>
                  <a:lnTo>
                    <a:pt x="1104672" y="1808833"/>
                  </a:lnTo>
                  <a:lnTo>
                    <a:pt x="1057695" y="1817533"/>
                  </a:lnTo>
                  <a:lnTo>
                    <a:pt x="1010260" y="1823776"/>
                  </a:lnTo>
                  <a:lnTo>
                    <a:pt x="962464" y="1827540"/>
                  </a:lnTo>
                  <a:lnTo>
                    <a:pt x="914400" y="1828800"/>
                  </a:lnTo>
                  <a:lnTo>
                    <a:pt x="866332" y="1827540"/>
                  </a:lnTo>
                  <a:lnTo>
                    <a:pt x="818533" y="1823776"/>
                  </a:lnTo>
                  <a:lnTo>
                    <a:pt x="771096" y="1817533"/>
                  </a:lnTo>
                  <a:lnTo>
                    <a:pt x="724118" y="1808833"/>
                  </a:lnTo>
                  <a:lnTo>
                    <a:pt x="677694" y="1797702"/>
                  </a:lnTo>
                  <a:lnTo>
                    <a:pt x="631918" y="1784162"/>
                  </a:lnTo>
                  <a:lnTo>
                    <a:pt x="586885" y="1768238"/>
                  </a:lnTo>
                  <a:lnTo>
                    <a:pt x="542691" y="1749953"/>
                  </a:lnTo>
                  <a:lnTo>
                    <a:pt x="499431" y="1729331"/>
                  </a:lnTo>
                  <a:lnTo>
                    <a:pt x="457200" y="1706397"/>
                  </a:lnTo>
                  <a:lnTo>
                    <a:pt x="416225" y="1681267"/>
                  </a:lnTo>
                  <a:lnTo>
                    <a:pt x="376725" y="1654091"/>
                  </a:lnTo>
                  <a:lnTo>
                    <a:pt x="338772" y="1624940"/>
                  </a:lnTo>
                  <a:lnTo>
                    <a:pt x="302438" y="1593886"/>
                  </a:lnTo>
                  <a:lnTo>
                    <a:pt x="267792" y="1561001"/>
                  </a:lnTo>
                  <a:lnTo>
                    <a:pt x="234906" y="1526355"/>
                  </a:lnTo>
                  <a:lnTo>
                    <a:pt x="203852" y="1490021"/>
                  </a:lnTo>
                  <a:lnTo>
                    <a:pt x="174700" y="1452069"/>
                  </a:lnTo>
                  <a:lnTo>
                    <a:pt x="147522" y="1412571"/>
                  </a:lnTo>
                  <a:lnTo>
                    <a:pt x="122389" y="1371600"/>
                  </a:lnTo>
                  <a:lnTo>
                    <a:pt x="99455" y="1329365"/>
                  </a:lnTo>
                  <a:lnTo>
                    <a:pt x="78835" y="1286102"/>
                  </a:lnTo>
                  <a:lnTo>
                    <a:pt x="60551" y="1241906"/>
                  </a:lnTo>
                  <a:lnTo>
                    <a:pt x="44629" y="1196872"/>
                  </a:lnTo>
                  <a:lnTo>
                    <a:pt x="31091" y="1151096"/>
                  </a:lnTo>
                  <a:lnTo>
                    <a:pt x="19961" y="1104672"/>
                  </a:lnTo>
                  <a:lnTo>
                    <a:pt x="11263" y="1057695"/>
                  </a:lnTo>
                  <a:lnTo>
                    <a:pt x="5021" y="1010260"/>
                  </a:lnTo>
                  <a:lnTo>
                    <a:pt x="1259" y="962464"/>
                  </a:lnTo>
                  <a:lnTo>
                    <a:pt x="0" y="914400"/>
                  </a:lnTo>
                  <a:lnTo>
                    <a:pt x="1259" y="866332"/>
                  </a:lnTo>
                  <a:lnTo>
                    <a:pt x="5021" y="818533"/>
                  </a:lnTo>
                  <a:lnTo>
                    <a:pt x="11263" y="771096"/>
                  </a:lnTo>
                  <a:lnTo>
                    <a:pt x="19961" y="724118"/>
                  </a:lnTo>
                  <a:lnTo>
                    <a:pt x="31091" y="677694"/>
                  </a:lnTo>
                  <a:lnTo>
                    <a:pt x="44629" y="631918"/>
                  </a:lnTo>
                  <a:lnTo>
                    <a:pt x="60551" y="586885"/>
                  </a:lnTo>
                  <a:lnTo>
                    <a:pt x="78835" y="542691"/>
                  </a:lnTo>
                  <a:lnTo>
                    <a:pt x="99455" y="499431"/>
                  </a:lnTo>
                  <a:lnTo>
                    <a:pt x="122389" y="457200"/>
                  </a:lnTo>
                  <a:lnTo>
                    <a:pt x="147522" y="416225"/>
                  </a:lnTo>
                  <a:lnTo>
                    <a:pt x="174700" y="376725"/>
                  </a:lnTo>
                  <a:lnTo>
                    <a:pt x="203852" y="338772"/>
                  </a:lnTo>
                  <a:lnTo>
                    <a:pt x="234906" y="302438"/>
                  </a:lnTo>
                  <a:lnTo>
                    <a:pt x="267792" y="267792"/>
                  </a:lnTo>
                  <a:lnTo>
                    <a:pt x="302438" y="234906"/>
                  </a:lnTo>
                  <a:lnTo>
                    <a:pt x="338772" y="203852"/>
                  </a:lnTo>
                  <a:lnTo>
                    <a:pt x="376725" y="174700"/>
                  </a:lnTo>
                  <a:lnTo>
                    <a:pt x="416225" y="147522"/>
                  </a:lnTo>
                  <a:lnTo>
                    <a:pt x="457200" y="122389"/>
                  </a:lnTo>
                  <a:lnTo>
                    <a:pt x="499431" y="99455"/>
                  </a:lnTo>
                  <a:lnTo>
                    <a:pt x="542691" y="78835"/>
                  </a:lnTo>
                  <a:lnTo>
                    <a:pt x="586885" y="60551"/>
                  </a:lnTo>
                  <a:lnTo>
                    <a:pt x="631918" y="44629"/>
                  </a:lnTo>
                  <a:lnTo>
                    <a:pt x="677694" y="31091"/>
                  </a:lnTo>
                  <a:lnTo>
                    <a:pt x="724118" y="19961"/>
                  </a:lnTo>
                  <a:lnTo>
                    <a:pt x="771096" y="11263"/>
                  </a:lnTo>
                  <a:lnTo>
                    <a:pt x="818533" y="5021"/>
                  </a:lnTo>
                  <a:lnTo>
                    <a:pt x="866332" y="1259"/>
                  </a:lnTo>
                  <a:lnTo>
                    <a:pt x="914400" y="0"/>
                  </a:lnTo>
                  <a:lnTo>
                    <a:pt x="962464" y="1259"/>
                  </a:lnTo>
                  <a:lnTo>
                    <a:pt x="1010260" y="5021"/>
                  </a:lnTo>
                  <a:lnTo>
                    <a:pt x="1057695" y="11263"/>
                  </a:lnTo>
                  <a:lnTo>
                    <a:pt x="1104672" y="19961"/>
                  </a:lnTo>
                  <a:lnTo>
                    <a:pt x="1151096" y="31091"/>
                  </a:lnTo>
                  <a:lnTo>
                    <a:pt x="1196872" y="44629"/>
                  </a:lnTo>
                  <a:lnTo>
                    <a:pt x="1241906" y="60551"/>
                  </a:lnTo>
                  <a:lnTo>
                    <a:pt x="1286102" y="78835"/>
                  </a:lnTo>
                  <a:lnTo>
                    <a:pt x="1329365" y="99455"/>
                  </a:lnTo>
                  <a:lnTo>
                    <a:pt x="1371587" y="122389"/>
                  </a:lnTo>
                </a:path>
              </a:pathLst>
            </a:custGeom>
            <a:ln w="12599">
              <a:solidFill>
                <a:srgbClr val="0C1A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199" y="2369504"/>
              <a:ext cx="2849041" cy="13583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57199" y="2450517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80" h="1143000">
                  <a:moveTo>
                    <a:pt x="2541955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69"/>
                  </a:lnTo>
                  <a:lnTo>
                    <a:pt x="91440" y="1143000"/>
                  </a:lnTo>
                  <a:lnTo>
                    <a:pt x="2541955" y="1143000"/>
                  </a:lnTo>
                  <a:lnTo>
                    <a:pt x="2587675" y="1130769"/>
                  </a:lnTo>
                  <a:lnTo>
                    <a:pt x="2621165" y="1097280"/>
                  </a:lnTo>
                  <a:lnTo>
                    <a:pt x="2633395" y="1051560"/>
                  </a:lnTo>
                  <a:lnTo>
                    <a:pt x="2633395" y="91439"/>
                  </a:lnTo>
                  <a:lnTo>
                    <a:pt x="2621165" y="45719"/>
                  </a:lnTo>
                  <a:lnTo>
                    <a:pt x="2587675" y="12242"/>
                  </a:lnTo>
                  <a:lnTo>
                    <a:pt x="254195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199" y="2450517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80" h="1143000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541955" y="0"/>
                  </a:lnTo>
                  <a:lnTo>
                    <a:pt x="2587675" y="12242"/>
                  </a:lnTo>
                  <a:lnTo>
                    <a:pt x="2621165" y="45719"/>
                  </a:lnTo>
                  <a:lnTo>
                    <a:pt x="2633395" y="91439"/>
                  </a:lnTo>
                  <a:lnTo>
                    <a:pt x="2633395" y="1051560"/>
                  </a:lnTo>
                  <a:lnTo>
                    <a:pt x="2632597" y="1063566"/>
                  </a:lnTo>
                  <a:lnTo>
                    <a:pt x="2630247" y="1075234"/>
                  </a:lnTo>
                  <a:lnTo>
                    <a:pt x="2606716" y="1116320"/>
                  </a:lnTo>
                  <a:lnTo>
                    <a:pt x="2565630" y="1139851"/>
                  </a:lnTo>
                  <a:lnTo>
                    <a:pt x="2541955" y="1143000"/>
                  </a:lnTo>
                  <a:lnTo>
                    <a:pt x="91440" y="1143000"/>
                  </a:lnTo>
                  <a:lnTo>
                    <a:pt x="45720" y="1130769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7004" y="2743202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007"/>
                  </a:lnTo>
                  <a:lnTo>
                    <a:pt x="118795" y="31673"/>
                  </a:lnTo>
                  <a:lnTo>
                    <a:pt x="69562" y="69434"/>
                  </a:lnTo>
                  <a:lnTo>
                    <a:pt x="31673" y="118795"/>
                  </a:lnTo>
                  <a:lnTo>
                    <a:pt x="8140" y="176037"/>
                  </a:lnTo>
                  <a:lnTo>
                    <a:pt x="0" y="237604"/>
                  </a:lnTo>
                  <a:lnTo>
                    <a:pt x="2062" y="268719"/>
                  </a:lnTo>
                  <a:lnTo>
                    <a:pt x="18066" y="328521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1"/>
                  </a:lnTo>
                  <a:lnTo>
                    <a:pt x="473488" y="268719"/>
                  </a:lnTo>
                  <a:lnTo>
                    <a:pt x="475551" y="237604"/>
                  </a:lnTo>
                  <a:lnTo>
                    <a:pt x="473488" y="206481"/>
                  </a:lnTo>
                  <a:lnTo>
                    <a:pt x="457484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194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7004" y="2743202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604"/>
                  </a:moveTo>
                  <a:lnTo>
                    <a:pt x="2062" y="206481"/>
                  </a:lnTo>
                  <a:lnTo>
                    <a:pt x="8140" y="176037"/>
                  </a:lnTo>
                  <a:lnTo>
                    <a:pt x="31673" y="118795"/>
                  </a:lnTo>
                  <a:lnTo>
                    <a:pt x="69562" y="69434"/>
                  </a:lnTo>
                  <a:lnTo>
                    <a:pt x="118795" y="31673"/>
                  </a:lnTo>
                  <a:lnTo>
                    <a:pt x="176349" y="8007"/>
                  </a:lnTo>
                  <a:lnTo>
                    <a:pt x="237959" y="0"/>
                  </a:lnTo>
                  <a:lnTo>
                    <a:pt x="299248" y="8007"/>
                  </a:lnTo>
                  <a:lnTo>
                    <a:pt x="356755" y="31673"/>
                  </a:lnTo>
                  <a:lnTo>
                    <a:pt x="405988" y="69434"/>
                  </a:lnTo>
                  <a:lnTo>
                    <a:pt x="443877" y="118795"/>
                  </a:lnTo>
                  <a:lnTo>
                    <a:pt x="467410" y="176037"/>
                  </a:lnTo>
                  <a:lnTo>
                    <a:pt x="475551" y="237604"/>
                  </a:lnTo>
                  <a:lnTo>
                    <a:pt x="473488" y="268719"/>
                  </a:lnTo>
                  <a:lnTo>
                    <a:pt x="467410" y="299159"/>
                  </a:lnTo>
                  <a:lnTo>
                    <a:pt x="443877" y="356400"/>
                  </a:lnTo>
                  <a:lnTo>
                    <a:pt x="405988" y="405766"/>
                  </a:lnTo>
                  <a:lnTo>
                    <a:pt x="356755" y="443522"/>
                  </a:lnTo>
                  <a:lnTo>
                    <a:pt x="299248" y="467372"/>
                  </a:lnTo>
                  <a:lnTo>
                    <a:pt x="237959" y="475564"/>
                  </a:lnTo>
                  <a:lnTo>
                    <a:pt x="176349" y="467372"/>
                  </a:lnTo>
                  <a:lnTo>
                    <a:pt x="118795" y="443522"/>
                  </a:lnTo>
                  <a:lnTo>
                    <a:pt x="69562" y="405766"/>
                  </a:lnTo>
                  <a:lnTo>
                    <a:pt x="31673" y="356400"/>
                  </a:lnTo>
                  <a:lnTo>
                    <a:pt x="8140" y="299159"/>
                  </a:lnTo>
                  <a:lnTo>
                    <a:pt x="2062" y="268719"/>
                  </a:lnTo>
                  <a:lnTo>
                    <a:pt x="0" y="237604"/>
                  </a:lnTo>
                  <a:close/>
                </a:path>
              </a:pathLst>
            </a:custGeom>
            <a:ln w="12599">
              <a:solidFill>
                <a:srgbClr val="194E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63301" y="362137"/>
            <a:ext cx="897255" cy="922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850" spc="940" dirty="0">
                <a:latin typeface="MingLiU_HKSCS-ExtB"/>
                <a:cs typeface="MingLiU_HKSCS-ExtB"/>
              </a:rPr>
              <a:t>🎬</a:t>
            </a:r>
            <a:endParaRPr sz="5850">
              <a:latin typeface="MingLiU_HKSCS-ExtB"/>
              <a:cs typeface="MingLiU_HKSCS-ExtB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2311095" y="1369341"/>
            <a:ext cx="4514850" cy="81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spc="250" dirty="0"/>
              <a:t>DEMOSTRACIÓN</a:t>
            </a:r>
            <a:r>
              <a:rPr sz="2800" spc="615" dirty="0"/>
              <a:t> </a:t>
            </a:r>
            <a:r>
              <a:rPr sz="2800" spc="140" dirty="0"/>
              <a:t>EN</a:t>
            </a:r>
            <a:r>
              <a:rPr sz="2800" spc="620" dirty="0"/>
              <a:t> </a:t>
            </a:r>
            <a:r>
              <a:rPr sz="2800" spc="180" dirty="0"/>
              <a:t>VIVO</a:t>
            </a:r>
            <a:endParaRPr sz="2800"/>
          </a:p>
          <a:p>
            <a:pPr marL="2540" algn="ctr">
              <a:lnSpc>
                <a:spcPct val="100000"/>
              </a:lnSpc>
              <a:spcBef>
                <a:spcPts val="1190"/>
              </a:spcBef>
            </a:pPr>
            <a:r>
              <a:rPr sz="1400" spc="-10" dirty="0">
                <a:solidFill>
                  <a:srgbClr val="499DFF"/>
                </a:solidFill>
                <a:hlinkClick r:id="rId3"/>
              </a:rPr>
              <a:t>https://bancoseguro.rootcode.com.bo</a:t>
            </a:r>
            <a:endParaRPr sz="1400"/>
          </a:p>
        </p:txBody>
      </p:sp>
      <p:sp>
        <p:nvSpPr>
          <p:cNvPr id="15" name="object 15"/>
          <p:cNvSpPr txBox="1"/>
          <p:nvPr/>
        </p:nvSpPr>
        <p:spPr>
          <a:xfrm>
            <a:off x="750493" y="2869097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9296" y="2662823"/>
            <a:ext cx="8280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Portal</a:t>
            </a:r>
            <a:r>
              <a:rPr sz="10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Bancario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29296" y="3099856"/>
            <a:ext cx="161480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Login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→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Dashboard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→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Transferencia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65119" y="2369504"/>
            <a:ext cx="2849245" cy="1358900"/>
            <a:chOff x="3165119" y="2369504"/>
            <a:chExt cx="2849245" cy="135890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119" y="2369504"/>
              <a:ext cx="2849041" cy="135830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46119" y="2450517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79" h="1143000">
                  <a:moveTo>
                    <a:pt x="2541955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19" y="1130769"/>
                  </a:lnTo>
                  <a:lnTo>
                    <a:pt x="91440" y="1143000"/>
                  </a:lnTo>
                  <a:lnTo>
                    <a:pt x="2541955" y="1143000"/>
                  </a:lnTo>
                  <a:lnTo>
                    <a:pt x="2587675" y="1130769"/>
                  </a:lnTo>
                  <a:lnTo>
                    <a:pt x="2621165" y="1097280"/>
                  </a:lnTo>
                  <a:lnTo>
                    <a:pt x="2633395" y="1051560"/>
                  </a:lnTo>
                  <a:lnTo>
                    <a:pt x="2633395" y="91439"/>
                  </a:lnTo>
                  <a:lnTo>
                    <a:pt x="2621165" y="45719"/>
                  </a:lnTo>
                  <a:lnTo>
                    <a:pt x="2587675" y="12242"/>
                  </a:lnTo>
                  <a:lnTo>
                    <a:pt x="254195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46119" y="2450517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79" h="1143000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40" y="0"/>
                  </a:lnTo>
                  <a:lnTo>
                    <a:pt x="2541955" y="0"/>
                  </a:lnTo>
                  <a:lnTo>
                    <a:pt x="2587675" y="12242"/>
                  </a:lnTo>
                  <a:lnTo>
                    <a:pt x="2621165" y="45719"/>
                  </a:lnTo>
                  <a:lnTo>
                    <a:pt x="2633395" y="91439"/>
                  </a:lnTo>
                  <a:lnTo>
                    <a:pt x="2633395" y="1051560"/>
                  </a:lnTo>
                  <a:lnTo>
                    <a:pt x="2632597" y="1063566"/>
                  </a:lnTo>
                  <a:lnTo>
                    <a:pt x="2630247" y="1075234"/>
                  </a:lnTo>
                  <a:lnTo>
                    <a:pt x="2606716" y="1116320"/>
                  </a:lnTo>
                  <a:lnTo>
                    <a:pt x="2565630" y="1139851"/>
                  </a:lnTo>
                  <a:lnTo>
                    <a:pt x="2541955" y="1143000"/>
                  </a:lnTo>
                  <a:lnTo>
                    <a:pt x="91440" y="1143000"/>
                  </a:lnTo>
                  <a:lnTo>
                    <a:pt x="45719" y="1130769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55924" y="2743202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959" y="0"/>
                  </a:moveTo>
                  <a:lnTo>
                    <a:pt x="176349" y="8007"/>
                  </a:lnTo>
                  <a:lnTo>
                    <a:pt x="118795" y="31673"/>
                  </a:lnTo>
                  <a:lnTo>
                    <a:pt x="69562" y="69434"/>
                  </a:lnTo>
                  <a:lnTo>
                    <a:pt x="31673" y="118795"/>
                  </a:lnTo>
                  <a:lnTo>
                    <a:pt x="8140" y="176037"/>
                  </a:lnTo>
                  <a:lnTo>
                    <a:pt x="0" y="237604"/>
                  </a:lnTo>
                  <a:lnTo>
                    <a:pt x="2062" y="268719"/>
                  </a:lnTo>
                  <a:lnTo>
                    <a:pt x="18066" y="328521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1"/>
                  </a:lnTo>
                  <a:lnTo>
                    <a:pt x="473488" y="268719"/>
                  </a:lnTo>
                  <a:lnTo>
                    <a:pt x="475551" y="237604"/>
                  </a:lnTo>
                  <a:lnTo>
                    <a:pt x="473488" y="206481"/>
                  </a:lnTo>
                  <a:lnTo>
                    <a:pt x="457484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495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55924" y="2743202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604"/>
                  </a:moveTo>
                  <a:lnTo>
                    <a:pt x="2062" y="206481"/>
                  </a:lnTo>
                  <a:lnTo>
                    <a:pt x="8140" y="176037"/>
                  </a:lnTo>
                  <a:lnTo>
                    <a:pt x="31673" y="118795"/>
                  </a:lnTo>
                  <a:lnTo>
                    <a:pt x="69562" y="69434"/>
                  </a:lnTo>
                  <a:lnTo>
                    <a:pt x="118795" y="31673"/>
                  </a:lnTo>
                  <a:lnTo>
                    <a:pt x="176349" y="8007"/>
                  </a:lnTo>
                  <a:lnTo>
                    <a:pt x="237959" y="0"/>
                  </a:lnTo>
                  <a:lnTo>
                    <a:pt x="299248" y="8007"/>
                  </a:lnTo>
                  <a:lnTo>
                    <a:pt x="356755" y="31673"/>
                  </a:lnTo>
                  <a:lnTo>
                    <a:pt x="405988" y="69434"/>
                  </a:lnTo>
                  <a:lnTo>
                    <a:pt x="443877" y="118795"/>
                  </a:lnTo>
                  <a:lnTo>
                    <a:pt x="467410" y="176037"/>
                  </a:lnTo>
                  <a:lnTo>
                    <a:pt x="475551" y="237604"/>
                  </a:lnTo>
                  <a:lnTo>
                    <a:pt x="473488" y="268719"/>
                  </a:lnTo>
                  <a:lnTo>
                    <a:pt x="467410" y="299159"/>
                  </a:lnTo>
                  <a:lnTo>
                    <a:pt x="443877" y="356400"/>
                  </a:lnTo>
                  <a:lnTo>
                    <a:pt x="405988" y="405766"/>
                  </a:lnTo>
                  <a:lnTo>
                    <a:pt x="356755" y="443522"/>
                  </a:lnTo>
                  <a:lnTo>
                    <a:pt x="299248" y="467372"/>
                  </a:lnTo>
                  <a:lnTo>
                    <a:pt x="237959" y="475564"/>
                  </a:lnTo>
                  <a:lnTo>
                    <a:pt x="176349" y="467372"/>
                  </a:lnTo>
                  <a:lnTo>
                    <a:pt x="118795" y="443522"/>
                  </a:lnTo>
                  <a:lnTo>
                    <a:pt x="69562" y="405766"/>
                  </a:lnTo>
                  <a:lnTo>
                    <a:pt x="31673" y="356400"/>
                  </a:lnTo>
                  <a:lnTo>
                    <a:pt x="8140" y="299159"/>
                  </a:lnTo>
                  <a:lnTo>
                    <a:pt x="2062" y="268719"/>
                  </a:lnTo>
                  <a:lnTo>
                    <a:pt x="0" y="237604"/>
                  </a:lnTo>
                  <a:close/>
                </a:path>
              </a:pathLst>
            </a:custGeom>
            <a:ln w="12599">
              <a:solidFill>
                <a:srgbClr val="0495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539413" y="2869097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18216" y="2662823"/>
            <a:ext cx="7677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Segmentación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18216" y="3099856"/>
            <a:ext cx="15125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Cajero</a:t>
            </a:r>
            <a:r>
              <a:rPr sz="8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no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llega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a</a:t>
            </a:r>
            <a:r>
              <a:rPr sz="850" spc="-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BD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directamente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954039" y="2369504"/>
            <a:ext cx="2849245" cy="1358900"/>
            <a:chOff x="5954039" y="2369504"/>
            <a:chExt cx="2849245" cy="135890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039" y="2369504"/>
              <a:ext cx="2849041" cy="135830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035039" y="2450517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79" h="1143000">
                  <a:moveTo>
                    <a:pt x="2541955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43"/>
                  </a:lnTo>
                  <a:lnTo>
                    <a:pt x="6986" y="56512"/>
                  </a:lnTo>
                  <a:lnTo>
                    <a:pt x="0" y="91439"/>
                  </a:lnTo>
                  <a:lnTo>
                    <a:pt x="0" y="1051560"/>
                  </a:lnTo>
                  <a:lnTo>
                    <a:pt x="12242" y="1097280"/>
                  </a:lnTo>
                  <a:lnTo>
                    <a:pt x="45720" y="1130769"/>
                  </a:lnTo>
                  <a:lnTo>
                    <a:pt x="91439" y="1143000"/>
                  </a:lnTo>
                  <a:lnTo>
                    <a:pt x="2541955" y="1143000"/>
                  </a:lnTo>
                  <a:lnTo>
                    <a:pt x="2587675" y="1130769"/>
                  </a:lnTo>
                  <a:lnTo>
                    <a:pt x="2621165" y="1097280"/>
                  </a:lnTo>
                  <a:lnTo>
                    <a:pt x="2633395" y="1051560"/>
                  </a:lnTo>
                  <a:lnTo>
                    <a:pt x="2633395" y="91439"/>
                  </a:lnTo>
                  <a:lnTo>
                    <a:pt x="2621165" y="45719"/>
                  </a:lnTo>
                  <a:lnTo>
                    <a:pt x="2587675" y="12242"/>
                  </a:lnTo>
                  <a:lnTo>
                    <a:pt x="254195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35039" y="2450517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79" h="1143000">
                  <a:moveTo>
                    <a:pt x="0" y="91439"/>
                  </a:moveTo>
                  <a:lnTo>
                    <a:pt x="798" y="79440"/>
                  </a:lnTo>
                  <a:lnTo>
                    <a:pt x="3149" y="67775"/>
                  </a:lnTo>
                  <a:lnTo>
                    <a:pt x="26681" y="26690"/>
                  </a:lnTo>
                  <a:lnTo>
                    <a:pt x="67770" y="3149"/>
                  </a:lnTo>
                  <a:lnTo>
                    <a:pt x="91439" y="0"/>
                  </a:lnTo>
                  <a:lnTo>
                    <a:pt x="2541955" y="0"/>
                  </a:lnTo>
                  <a:lnTo>
                    <a:pt x="2587675" y="12242"/>
                  </a:lnTo>
                  <a:lnTo>
                    <a:pt x="2621165" y="45719"/>
                  </a:lnTo>
                  <a:lnTo>
                    <a:pt x="2633395" y="91439"/>
                  </a:lnTo>
                  <a:lnTo>
                    <a:pt x="2633395" y="1051560"/>
                  </a:lnTo>
                  <a:lnTo>
                    <a:pt x="2632597" y="1063566"/>
                  </a:lnTo>
                  <a:lnTo>
                    <a:pt x="2630247" y="1075234"/>
                  </a:lnTo>
                  <a:lnTo>
                    <a:pt x="2606716" y="1116320"/>
                  </a:lnTo>
                  <a:lnTo>
                    <a:pt x="2565630" y="1139851"/>
                  </a:lnTo>
                  <a:lnTo>
                    <a:pt x="2541955" y="1143000"/>
                  </a:lnTo>
                  <a:lnTo>
                    <a:pt x="91439" y="1143000"/>
                  </a:lnTo>
                  <a:lnTo>
                    <a:pt x="45720" y="1130769"/>
                  </a:lnTo>
                  <a:lnTo>
                    <a:pt x="12242" y="1097280"/>
                  </a:lnTo>
                  <a:lnTo>
                    <a:pt x="0" y="1051560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44844" y="2743202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007"/>
                  </a:lnTo>
                  <a:lnTo>
                    <a:pt x="118795" y="31673"/>
                  </a:lnTo>
                  <a:lnTo>
                    <a:pt x="69562" y="69434"/>
                  </a:lnTo>
                  <a:lnTo>
                    <a:pt x="31673" y="118795"/>
                  </a:lnTo>
                  <a:lnTo>
                    <a:pt x="8140" y="176037"/>
                  </a:lnTo>
                  <a:lnTo>
                    <a:pt x="0" y="237604"/>
                  </a:lnTo>
                  <a:lnTo>
                    <a:pt x="2062" y="268719"/>
                  </a:lnTo>
                  <a:lnTo>
                    <a:pt x="18066" y="328521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1"/>
                  </a:lnTo>
                  <a:lnTo>
                    <a:pt x="473488" y="268719"/>
                  </a:lnTo>
                  <a:lnTo>
                    <a:pt x="475551" y="237604"/>
                  </a:lnTo>
                  <a:lnTo>
                    <a:pt x="473488" y="206481"/>
                  </a:lnTo>
                  <a:lnTo>
                    <a:pt x="457484" y="146675"/>
                  </a:lnTo>
                  <a:lnTo>
                    <a:pt x="426519" y="92781"/>
                  </a:lnTo>
                  <a:lnTo>
                    <a:pt x="382621" y="48987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FF3A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44844" y="2743202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604"/>
                  </a:moveTo>
                  <a:lnTo>
                    <a:pt x="2062" y="206481"/>
                  </a:lnTo>
                  <a:lnTo>
                    <a:pt x="8140" y="176037"/>
                  </a:lnTo>
                  <a:lnTo>
                    <a:pt x="31673" y="118795"/>
                  </a:lnTo>
                  <a:lnTo>
                    <a:pt x="69562" y="69434"/>
                  </a:lnTo>
                  <a:lnTo>
                    <a:pt x="118795" y="31673"/>
                  </a:lnTo>
                  <a:lnTo>
                    <a:pt x="176349" y="8007"/>
                  </a:lnTo>
                  <a:lnTo>
                    <a:pt x="237959" y="0"/>
                  </a:lnTo>
                  <a:lnTo>
                    <a:pt x="299248" y="8007"/>
                  </a:lnTo>
                  <a:lnTo>
                    <a:pt x="356755" y="31673"/>
                  </a:lnTo>
                  <a:lnTo>
                    <a:pt x="405988" y="69434"/>
                  </a:lnTo>
                  <a:lnTo>
                    <a:pt x="443877" y="118795"/>
                  </a:lnTo>
                  <a:lnTo>
                    <a:pt x="467410" y="176037"/>
                  </a:lnTo>
                  <a:lnTo>
                    <a:pt x="475551" y="237604"/>
                  </a:lnTo>
                  <a:lnTo>
                    <a:pt x="473488" y="268719"/>
                  </a:lnTo>
                  <a:lnTo>
                    <a:pt x="467410" y="299159"/>
                  </a:lnTo>
                  <a:lnTo>
                    <a:pt x="443877" y="356400"/>
                  </a:lnTo>
                  <a:lnTo>
                    <a:pt x="405988" y="405766"/>
                  </a:lnTo>
                  <a:lnTo>
                    <a:pt x="356755" y="443522"/>
                  </a:lnTo>
                  <a:lnTo>
                    <a:pt x="299248" y="467372"/>
                  </a:lnTo>
                  <a:lnTo>
                    <a:pt x="237959" y="475564"/>
                  </a:lnTo>
                  <a:lnTo>
                    <a:pt x="176349" y="467372"/>
                  </a:lnTo>
                  <a:lnTo>
                    <a:pt x="118795" y="443522"/>
                  </a:lnTo>
                  <a:lnTo>
                    <a:pt x="69562" y="405766"/>
                  </a:lnTo>
                  <a:lnTo>
                    <a:pt x="31673" y="356400"/>
                  </a:lnTo>
                  <a:lnTo>
                    <a:pt x="8140" y="299159"/>
                  </a:lnTo>
                  <a:lnTo>
                    <a:pt x="2062" y="268719"/>
                  </a:lnTo>
                  <a:lnTo>
                    <a:pt x="0" y="237604"/>
                  </a:lnTo>
                  <a:close/>
                </a:path>
              </a:pathLst>
            </a:custGeom>
            <a:ln w="12599">
              <a:solidFill>
                <a:srgbClr val="FF3A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328333" y="2869097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807136" y="2662823"/>
            <a:ext cx="7423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Ataque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Hydra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07136" y="3099856"/>
            <a:ext cx="149606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Fuerza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bruta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→</a:t>
            </a:r>
            <a:r>
              <a:rPr sz="850" spc="-2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Fail2ban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banea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8799A9"/>
                </a:solidFill>
                <a:latin typeface="Calibri"/>
                <a:cs typeface="Calibri"/>
              </a:rPr>
              <a:t>IP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76199" y="3631312"/>
            <a:ext cx="2849245" cy="1358900"/>
            <a:chOff x="376199" y="3631312"/>
            <a:chExt cx="2849245" cy="135890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199" y="3631312"/>
              <a:ext cx="2849041" cy="135829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457199" y="3712326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80" h="1143000">
                  <a:moveTo>
                    <a:pt x="2541955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59"/>
                  </a:lnTo>
                  <a:lnTo>
                    <a:pt x="12242" y="1097279"/>
                  </a:lnTo>
                  <a:lnTo>
                    <a:pt x="45720" y="1130757"/>
                  </a:lnTo>
                  <a:lnTo>
                    <a:pt x="91440" y="1142999"/>
                  </a:lnTo>
                  <a:lnTo>
                    <a:pt x="2541955" y="1142999"/>
                  </a:lnTo>
                  <a:lnTo>
                    <a:pt x="2587675" y="1130757"/>
                  </a:lnTo>
                  <a:lnTo>
                    <a:pt x="2621165" y="1097279"/>
                  </a:lnTo>
                  <a:lnTo>
                    <a:pt x="2633395" y="1051559"/>
                  </a:lnTo>
                  <a:lnTo>
                    <a:pt x="2633395" y="91439"/>
                  </a:lnTo>
                  <a:lnTo>
                    <a:pt x="2621165" y="45719"/>
                  </a:lnTo>
                  <a:lnTo>
                    <a:pt x="2587675" y="12230"/>
                  </a:lnTo>
                  <a:lnTo>
                    <a:pt x="254195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7199" y="3712326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80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40" y="0"/>
                  </a:lnTo>
                  <a:lnTo>
                    <a:pt x="2541955" y="0"/>
                  </a:lnTo>
                  <a:lnTo>
                    <a:pt x="2587675" y="12230"/>
                  </a:lnTo>
                  <a:lnTo>
                    <a:pt x="2621165" y="45719"/>
                  </a:lnTo>
                  <a:lnTo>
                    <a:pt x="2633395" y="91439"/>
                  </a:lnTo>
                  <a:lnTo>
                    <a:pt x="2633395" y="1051559"/>
                  </a:lnTo>
                  <a:lnTo>
                    <a:pt x="2632597" y="1063559"/>
                  </a:lnTo>
                  <a:lnTo>
                    <a:pt x="2630247" y="1075224"/>
                  </a:lnTo>
                  <a:lnTo>
                    <a:pt x="2606716" y="1116309"/>
                  </a:lnTo>
                  <a:lnTo>
                    <a:pt x="2565630" y="1139850"/>
                  </a:lnTo>
                  <a:lnTo>
                    <a:pt x="2541955" y="1142999"/>
                  </a:lnTo>
                  <a:lnTo>
                    <a:pt x="91440" y="1142999"/>
                  </a:lnTo>
                  <a:lnTo>
                    <a:pt x="45720" y="1130757"/>
                  </a:lnTo>
                  <a:lnTo>
                    <a:pt x="12242" y="1097279"/>
                  </a:lnTo>
                  <a:lnTo>
                    <a:pt x="0" y="105155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7004" y="4004997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013"/>
                  </a:lnTo>
                  <a:lnTo>
                    <a:pt x="118795" y="31686"/>
                  </a:lnTo>
                  <a:lnTo>
                    <a:pt x="69562" y="69442"/>
                  </a:lnTo>
                  <a:lnTo>
                    <a:pt x="31673" y="118808"/>
                  </a:lnTo>
                  <a:lnTo>
                    <a:pt x="8140" y="176044"/>
                  </a:lnTo>
                  <a:lnTo>
                    <a:pt x="0" y="237604"/>
                  </a:lnTo>
                  <a:lnTo>
                    <a:pt x="2062" y="268721"/>
                  </a:lnTo>
                  <a:lnTo>
                    <a:pt x="18066" y="328526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6"/>
                  </a:lnTo>
                  <a:lnTo>
                    <a:pt x="473488" y="268721"/>
                  </a:lnTo>
                  <a:lnTo>
                    <a:pt x="475551" y="237604"/>
                  </a:lnTo>
                  <a:lnTo>
                    <a:pt x="473488" y="206487"/>
                  </a:lnTo>
                  <a:lnTo>
                    <a:pt x="457484" y="146682"/>
                  </a:lnTo>
                  <a:lnTo>
                    <a:pt x="426519" y="92792"/>
                  </a:lnTo>
                  <a:lnTo>
                    <a:pt x="382621" y="48994"/>
                  </a:lnTo>
                  <a:lnTo>
                    <a:pt x="328676" y="17927"/>
                  </a:lnTo>
                  <a:lnTo>
                    <a:pt x="268875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079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7004" y="4004997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604"/>
                  </a:moveTo>
                  <a:lnTo>
                    <a:pt x="2062" y="206487"/>
                  </a:lnTo>
                  <a:lnTo>
                    <a:pt x="8140" y="176044"/>
                  </a:lnTo>
                  <a:lnTo>
                    <a:pt x="31673" y="118808"/>
                  </a:lnTo>
                  <a:lnTo>
                    <a:pt x="69562" y="69442"/>
                  </a:lnTo>
                  <a:lnTo>
                    <a:pt x="118795" y="31686"/>
                  </a:lnTo>
                  <a:lnTo>
                    <a:pt x="176349" y="8013"/>
                  </a:lnTo>
                  <a:lnTo>
                    <a:pt x="237959" y="0"/>
                  </a:lnTo>
                  <a:lnTo>
                    <a:pt x="299248" y="8013"/>
                  </a:lnTo>
                  <a:lnTo>
                    <a:pt x="356755" y="31686"/>
                  </a:lnTo>
                  <a:lnTo>
                    <a:pt x="405988" y="69442"/>
                  </a:lnTo>
                  <a:lnTo>
                    <a:pt x="443877" y="118808"/>
                  </a:lnTo>
                  <a:lnTo>
                    <a:pt x="467410" y="176044"/>
                  </a:lnTo>
                  <a:lnTo>
                    <a:pt x="475551" y="237604"/>
                  </a:lnTo>
                  <a:lnTo>
                    <a:pt x="473488" y="268721"/>
                  </a:lnTo>
                  <a:lnTo>
                    <a:pt x="467410" y="299164"/>
                  </a:lnTo>
                  <a:lnTo>
                    <a:pt x="443877" y="356400"/>
                  </a:lnTo>
                  <a:lnTo>
                    <a:pt x="405988" y="405766"/>
                  </a:lnTo>
                  <a:lnTo>
                    <a:pt x="356755" y="443522"/>
                  </a:lnTo>
                  <a:lnTo>
                    <a:pt x="299248" y="467372"/>
                  </a:lnTo>
                  <a:lnTo>
                    <a:pt x="237959" y="475564"/>
                  </a:lnTo>
                  <a:lnTo>
                    <a:pt x="176349" y="467372"/>
                  </a:lnTo>
                  <a:lnTo>
                    <a:pt x="118795" y="443522"/>
                  </a:lnTo>
                  <a:lnTo>
                    <a:pt x="69562" y="405766"/>
                  </a:lnTo>
                  <a:lnTo>
                    <a:pt x="31673" y="356400"/>
                  </a:lnTo>
                  <a:lnTo>
                    <a:pt x="8140" y="299164"/>
                  </a:lnTo>
                  <a:lnTo>
                    <a:pt x="2062" y="268721"/>
                  </a:lnTo>
                  <a:lnTo>
                    <a:pt x="0" y="237604"/>
                  </a:lnTo>
                  <a:close/>
                </a:path>
              </a:pathLst>
            </a:custGeom>
            <a:ln w="12599">
              <a:solidFill>
                <a:srgbClr val="0790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50493" y="4130905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29296" y="3924619"/>
            <a:ext cx="54991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Logs</a:t>
            </a:r>
            <a:r>
              <a:rPr sz="1000" b="1" spc="-20" dirty="0">
                <a:solidFill>
                  <a:srgbClr val="FFFFFF"/>
                </a:solidFill>
                <a:latin typeface="Calibri"/>
                <a:cs typeface="Calibri"/>
              </a:rPr>
              <a:t> SIEM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29296" y="4361664"/>
            <a:ext cx="156845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tail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25" dirty="0">
                <a:solidFill>
                  <a:srgbClr val="8799A9"/>
                </a:solidFill>
                <a:latin typeface="Calibri"/>
                <a:cs typeface="Calibri"/>
              </a:rPr>
              <a:t>-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f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server-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182.log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en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tiempo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real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165119" y="3631312"/>
            <a:ext cx="2849245" cy="1358900"/>
            <a:chOff x="3165119" y="3631312"/>
            <a:chExt cx="2849245" cy="1358900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5119" y="3631312"/>
              <a:ext cx="2849041" cy="135829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246119" y="3712326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79" h="1143000">
                  <a:moveTo>
                    <a:pt x="2541955" y="0"/>
                  </a:moveTo>
                  <a:lnTo>
                    <a:pt x="91440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59"/>
                  </a:lnTo>
                  <a:lnTo>
                    <a:pt x="12242" y="1097279"/>
                  </a:lnTo>
                  <a:lnTo>
                    <a:pt x="45719" y="1130757"/>
                  </a:lnTo>
                  <a:lnTo>
                    <a:pt x="91440" y="1142999"/>
                  </a:lnTo>
                  <a:lnTo>
                    <a:pt x="2541955" y="1142999"/>
                  </a:lnTo>
                  <a:lnTo>
                    <a:pt x="2587675" y="1130757"/>
                  </a:lnTo>
                  <a:lnTo>
                    <a:pt x="2621165" y="1097279"/>
                  </a:lnTo>
                  <a:lnTo>
                    <a:pt x="2633395" y="1051559"/>
                  </a:lnTo>
                  <a:lnTo>
                    <a:pt x="2633395" y="91439"/>
                  </a:lnTo>
                  <a:lnTo>
                    <a:pt x="2621165" y="45719"/>
                  </a:lnTo>
                  <a:lnTo>
                    <a:pt x="2587675" y="12230"/>
                  </a:lnTo>
                  <a:lnTo>
                    <a:pt x="254195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46119" y="3712326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79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40" y="0"/>
                  </a:lnTo>
                  <a:lnTo>
                    <a:pt x="2541955" y="0"/>
                  </a:lnTo>
                  <a:lnTo>
                    <a:pt x="2587675" y="12230"/>
                  </a:lnTo>
                  <a:lnTo>
                    <a:pt x="2621165" y="45719"/>
                  </a:lnTo>
                  <a:lnTo>
                    <a:pt x="2633395" y="91439"/>
                  </a:lnTo>
                  <a:lnTo>
                    <a:pt x="2633395" y="1051559"/>
                  </a:lnTo>
                  <a:lnTo>
                    <a:pt x="2632597" y="1063559"/>
                  </a:lnTo>
                  <a:lnTo>
                    <a:pt x="2630247" y="1075224"/>
                  </a:lnTo>
                  <a:lnTo>
                    <a:pt x="2606716" y="1116309"/>
                  </a:lnTo>
                  <a:lnTo>
                    <a:pt x="2565630" y="1139850"/>
                  </a:lnTo>
                  <a:lnTo>
                    <a:pt x="2541955" y="1142999"/>
                  </a:lnTo>
                  <a:lnTo>
                    <a:pt x="91440" y="1142999"/>
                  </a:lnTo>
                  <a:lnTo>
                    <a:pt x="45719" y="1130757"/>
                  </a:lnTo>
                  <a:lnTo>
                    <a:pt x="12242" y="1097279"/>
                  </a:lnTo>
                  <a:lnTo>
                    <a:pt x="0" y="105155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55924" y="4004997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237959" y="0"/>
                  </a:moveTo>
                  <a:lnTo>
                    <a:pt x="176349" y="8013"/>
                  </a:lnTo>
                  <a:lnTo>
                    <a:pt x="118795" y="31686"/>
                  </a:lnTo>
                  <a:lnTo>
                    <a:pt x="69562" y="69442"/>
                  </a:lnTo>
                  <a:lnTo>
                    <a:pt x="31673" y="118808"/>
                  </a:lnTo>
                  <a:lnTo>
                    <a:pt x="8140" y="176044"/>
                  </a:lnTo>
                  <a:lnTo>
                    <a:pt x="0" y="237604"/>
                  </a:lnTo>
                  <a:lnTo>
                    <a:pt x="2062" y="268721"/>
                  </a:lnTo>
                  <a:lnTo>
                    <a:pt x="18066" y="328526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6"/>
                  </a:lnTo>
                  <a:lnTo>
                    <a:pt x="473488" y="268721"/>
                  </a:lnTo>
                  <a:lnTo>
                    <a:pt x="475551" y="237604"/>
                  </a:lnTo>
                  <a:lnTo>
                    <a:pt x="473488" y="206487"/>
                  </a:lnTo>
                  <a:lnTo>
                    <a:pt x="457484" y="146682"/>
                  </a:lnTo>
                  <a:lnTo>
                    <a:pt x="426519" y="92792"/>
                  </a:lnTo>
                  <a:lnTo>
                    <a:pt x="382621" y="48994"/>
                  </a:lnTo>
                  <a:lnTo>
                    <a:pt x="328676" y="17927"/>
                  </a:lnTo>
                  <a:lnTo>
                    <a:pt x="268875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D876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55924" y="4004997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4" h="475614">
                  <a:moveTo>
                    <a:pt x="0" y="237604"/>
                  </a:moveTo>
                  <a:lnTo>
                    <a:pt x="2062" y="206487"/>
                  </a:lnTo>
                  <a:lnTo>
                    <a:pt x="8140" y="176044"/>
                  </a:lnTo>
                  <a:lnTo>
                    <a:pt x="31673" y="118808"/>
                  </a:lnTo>
                  <a:lnTo>
                    <a:pt x="69562" y="69442"/>
                  </a:lnTo>
                  <a:lnTo>
                    <a:pt x="118795" y="31686"/>
                  </a:lnTo>
                  <a:lnTo>
                    <a:pt x="176349" y="8013"/>
                  </a:lnTo>
                  <a:lnTo>
                    <a:pt x="237959" y="0"/>
                  </a:lnTo>
                  <a:lnTo>
                    <a:pt x="299248" y="8013"/>
                  </a:lnTo>
                  <a:lnTo>
                    <a:pt x="356755" y="31686"/>
                  </a:lnTo>
                  <a:lnTo>
                    <a:pt x="405988" y="69442"/>
                  </a:lnTo>
                  <a:lnTo>
                    <a:pt x="443877" y="118808"/>
                  </a:lnTo>
                  <a:lnTo>
                    <a:pt x="467410" y="176044"/>
                  </a:lnTo>
                  <a:lnTo>
                    <a:pt x="475551" y="237604"/>
                  </a:lnTo>
                  <a:lnTo>
                    <a:pt x="473488" y="268721"/>
                  </a:lnTo>
                  <a:lnTo>
                    <a:pt x="467410" y="299164"/>
                  </a:lnTo>
                  <a:lnTo>
                    <a:pt x="443877" y="356400"/>
                  </a:lnTo>
                  <a:lnTo>
                    <a:pt x="405988" y="405766"/>
                  </a:lnTo>
                  <a:lnTo>
                    <a:pt x="356755" y="443522"/>
                  </a:lnTo>
                  <a:lnTo>
                    <a:pt x="299248" y="467372"/>
                  </a:lnTo>
                  <a:lnTo>
                    <a:pt x="237959" y="475564"/>
                  </a:lnTo>
                  <a:lnTo>
                    <a:pt x="176349" y="467372"/>
                  </a:lnTo>
                  <a:lnTo>
                    <a:pt x="118795" y="443522"/>
                  </a:lnTo>
                  <a:lnTo>
                    <a:pt x="69562" y="405766"/>
                  </a:lnTo>
                  <a:lnTo>
                    <a:pt x="31673" y="356400"/>
                  </a:lnTo>
                  <a:lnTo>
                    <a:pt x="8140" y="299164"/>
                  </a:lnTo>
                  <a:lnTo>
                    <a:pt x="2062" y="268721"/>
                  </a:lnTo>
                  <a:lnTo>
                    <a:pt x="0" y="237604"/>
                  </a:lnTo>
                  <a:close/>
                </a:path>
              </a:pathLst>
            </a:custGeom>
            <a:ln w="12599">
              <a:solidFill>
                <a:srgbClr val="D8760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539413" y="4130905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018216" y="3924619"/>
            <a:ext cx="518159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Auditoría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018216" y="4361664"/>
            <a:ext cx="156527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cat</a:t>
            </a:r>
            <a:r>
              <a:rPr sz="85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auditoria-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hoy.txt</a:t>
            </a:r>
            <a:r>
              <a:rPr sz="850" spc="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+</a:t>
            </a:r>
            <a:r>
              <a:rPr sz="850" spc="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incidente.txt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954039" y="3631312"/>
            <a:ext cx="2849245" cy="1358900"/>
            <a:chOff x="5954039" y="3631312"/>
            <a:chExt cx="2849245" cy="1358900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4039" y="3631312"/>
              <a:ext cx="2849041" cy="135829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035039" y="3712326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79" h="1143000">
                  <a:moveTo>
                    <a:pt x="2541955" y="0"/>
                  </a:moveTo>
                  <a:lnTo>
                    <a:pt x="91439" y="0"/>
                  </a:lnTo>
                  <a:lnTo>
                    <a:pt x="79434" y="798"/>
                  </a:lnTo>
                  <a:lnTo>
                    <a:pt x="35676" y="18830"/>
                  </a:lnTo>
                  <a:lnTo>
                    <a:pt x="6986" y="56505"/>
                  </a:lnTo>
                  <a:lnTo>
                    <a:pt x="0" y="91439"/>
                  </a:lnTo>
                  <a:lnTo>
                    <a:pt x="0" y="1051559"/>
                  </a:lnTo>
                  <a:lnTo>
                    <a:pt x="12242" y="1097279"/>
                  </a:lnTo>
                  <a:lnTo>
                    <a:pt x="45720" y="1130757"/>
                  </a:lnTo>
                  <a:lnTo>
                    <a:pt x="91439" y="1142999"/>
                  </a:lnTo>
                  <a:lnTo>
                    <a:pt x="2541955" y="1142999"/>
                  </a:lnTo>
                  <a:lnTo>
                    <a:pt x="2587675" y="1130757"/>
                  </a:lnTo>
                  <a:lnTo>
                    <a:pt x="2621165" y="1097279"/>
                  </a:lnTo>
                  <a:lnTo>
                    <a:pt x="2633395" y="1051559"/>
                  </a:lnTo>
                  <a:lnTo>
                    <a:pt x="2633395" y="91439"/>
                  </a:lnTo>
                  <a:lnTo>
                    <a:pt x="2621165" y="45719"/>
                  </a:lnTo>
                  <a:lnTo>
                    <a:pt x="2587675" y="12230"/>
                  </a:lnTo>
                  <a:lnTo>
                    <a:pt x="2541955" y="0"/>
                  </a:lnTo>
                  <a:close/>
                </a:path>
              </a:pathLst>
            </a:custGeom>
            <a:solidFill>
              <a:srgbClr val="121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035039" y="3712326"/>
              <a:ext cx="2633980" cy="1143000"/>
            </a:xfrm>
            <a:custGeom>
              <a:avLst/>
              <a:gdLst/>
              <a:ahLst/>
              <a:cxnLst/>
              <a:rect l="l" t="t" r="r" b="b"/>
              <a:pathLst>
                <a:path w="2633979" h="1143000">
                  <a:moveTo>
                    <a:pt x="0" y="91439"/>
                  </a:moveTo>
                  <a:lnTo>
                    <a:pt x="798" y="79433"/>
                  </a:lnTo>
                  <a:lnTo>
                    <a:pt x="3149" y="67765"/>
                  </a:lnTo>
                  <a:lnTo>
                    <a:pt x="26681" y="26679"/>
                  </a:lnTo>
                  <a:lnTo>
                    <a:pt x="67770" y="3148"/>
                  </a:lnTo>
                  <a:lnTo>
                    <a:pt x="91439" y="0"/>
                  </a:lnTo>
                  <a:lnTo>
                    <a:pt x="2541955" y="0"/>
                  </a:lnTo>
                  <a:lnTo>
                    <a:pt x="2587675" y="12230"/>
                  </a:lnTo>
                  <a:lnTo>
                    <a:pt x="2621165" y="45719"/>
                  </a:lnTo>
                  <a:lnTo>
                    <a:pt x="2633395" y="91439"/>
                  </a:lnTo>
                  <a:lnTo>
                    <a:pt x="2633395" y="1051559"/>
                  </a:lnTo>
                  <a:lnTo>
                    <a:pt x="2632597" y="1063559"/>
                  </a:lnTo>
                  <a:lnTo>
                    <a:pt x="2630247" y="1075224"/>
                  </a:lnTo>
                  <a:lnTo>
                    <a:pt x="2606716" y="1116309"/>
                  </a:lnTo>
                  <a:lnTo>
                    <a:pt x="2565630" y="1139850"/>
                  </a:lnTo>
                  <a:lnTo>
                    <a:pt x="2541955" y="1142999"/>
                  </a:lnTo>
                  <a:lnTo>
                    <a:pt x="91439" y="1142999"/>
                  </a:lnTo>
                  <a:lnTo>
                    <a:pt x="45720" y="1130757"/>
                  </a:lnTo>
                  <a:lnTo>
                    <a:pt x="12242" y="1097279"/>
                  </a:lnTo>
                  <a:lnTo>
                    <a:pt x="0" y="1051559"/>
                  </a:lnTo>
                  <a:lnTo>
                    <a:pt x="0" y="91439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144844" y="4004997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237959" y="0"/>
                  </a:moveTo>
                  <a:lnTo>
                    <a:pt x="176349" y="8013"/>
                  </a:lnTo>
                  <a:lnTo>
                    <a:pt x="118795" y="31686"/>
                  </a:lnTo>
                  <a:lnTo>
                    <a:pt x="69562" y="69442"/>
                  </a:lnTo>
                  <a:lnTo>
                    <a:pt x="31673" y="118808"/>
                  </a:lnTo>
                  <a:lnTo>
                    <a:pt x="8140" y="176044"/>
                  </a:lnTo>
                  <a:lnTo>
                    <a:pt x="0" y="237604"/>
                  </a:lnTo>
                  <a:lnTo>
                    <a:pt x="2062" y="268721"/>
                  </a:lnTo>
                  <a:lnTo>
                    <a:pt x="18066" y="328526"/>
                  </a:lnTo>
                  <a:lnTo>
                    <a:pt x="49031" y="382416"/>
                  </a:lnTo>
                  <a:lnTo>
                    <a:pt x="92929" y="426214"/>
                  </a:lnTo>
                  <a:lnTo>
                    <a:pt x="146880" y="457336"/>
                  </a:lnTo>
                  <a:lnTo>
                    <a:pt x="206831" y="473493"/>
                  </a:lnTo>
                  <a:lnTo>
                    <a:pt x="237959" y="475564"/>
                  </a:lnTo>
                  <a:lnTo>
                    <a:pt x="268875" y="473493"/>
                  </a:lnTo>
                  <a:lnTo>
                    <a:pt x="328676" y="457336"/>
                  </a:lnTo>
                  <a:lnTo>
                    <a:pt x="382621" y="426214"/>
                  </a:lnTo>
                  <a:lnTo>
                    <a:pt x="426519" y="382416"/>
                  </a:lnTo>
                  <a:lnTo>
                    <a:pt x="457484" y="328526"/>
                  </a:lnTo>
                  <a:lnTo>
                    <a:pt x="473488" y="268721"/>
                  </a:lnTo>
                  <a:lnTo>
                    <a:pt x="475551" y="237604"/>
                  </a:lnTo>
                  <a:lnTo>
                    <a:pt x="473488" y="206487"/>
                  </a:lnTo>
                  <a:lnTo>
                    <a:pt x="457484" y="146682"/>
                  </a:lnTo>
                  <a:lnTo>
                    <a:pt x="426519" y="92792"/>
                  </a:lnTo>
                  <a:lnTo>
                    <a:pt x="382621" y="48994"/>
                  </a:lnTo>
                  <a:lnTo>
                    <a:pt x="328676" y="17927"/>
                  </a:lnTo>
                  <a:lnTo>
                    <a:pt x="268875" y="2014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144844" y="4004997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237604"/>
                  </a:moveTo>
                  <a:lnTo>
                    <a:pt x="2062" y="206487"/>
                  </a:lnTo>
                  <a:lnTo>
                    <a:pt x="8140" y="176044"/>
                  </a:lnTo>
                  <a:lnTo>
                    <a:pt x="31673" y="118808"/>
                  </a:lnTo>
                  <a:lnTo>
                    <a:pt x="69562" y="69442"/>
                  </a:lnTo>
                  <a:lnTo>
                    <a:pt x="118795" y="31686"/>
                  </a:lnTo>
                  <a:lnTo>
                    <a:pt x="176349" y="8013"/>
                  </a:lnTo>
                  <a:lnTo>
                    <a:pt x="237959" y="0"/>
                  </a:lnTo>
                  <a:lnTo>
                    <a:pt x="299248" y="8013"/>
                  </a:lnTo>
                  <a:lnTo>
                    <a:pt x="356755" y="31686"/>
                  </a:lnTo>
                  <a:lnTo>
                    <a:pt x="405988" y="69442"/>
                  </a:lnTo>
                  <a:lnTo>
                    <a:pt x="443877" y="118808"/>
                  </a:lnTo>
                  <a:lnTo>
                    <a:pt x="467410" y="176044"/>
                  </a:lnTo>
                  <a:lnTo>
                    <a:pt x="475551" y="237604"/>
                  </a:lnTo>
                  <a:lnTo>
                    <a:pt x="473488" y="268721"/>
                  </a:lnTo>
                  <a:lnTo>
                    <a:pt x="467410" y="299164"/>
                  </a:lnTo>
                  <a:lnTo>
                    <a:pt x="443877" y="356400"/>
                  </a:lnTo>
                  <a:lnTo>
                    <a:pt x="405988" y="405766"/>
                  </a:lnTo>
                  <a:lnTo>
                    <a:pt x="356755" y="443522"/>
                  </a:lnTo>
                  <a:lnTo>
                    <a:pt x="299248" y="467372"/>
                  </a:lnTo>
                  <a:lnTo>
                    <a:pt x="237959" y="475564"/>
                  </a:lnTo>
                  <a:lnTo>
                    <a:pt x="176349" y="467372"/>
                  </a:lnTo>
                  <a:lnTo>
                    <a:pt x="118795" y="443522"/>
                  </a:lnTo>
                  <a:lnTo>
                    <a:pt x="69562" y="405766"/>
                  </a:lnTo>
                  <a:lnTo>
                    <a:pt x="31673" y="356400"/>
                  </a:lnTo>
                  <a:lnTo>
                    <a:pt x="8140" y="299164"/>
                  </a:lnTo>
                  <a:lnTo>
                    <a:pt x="2062" y="268721"/>
                  </a:lnTo>
                  <a:lnTo>
                    <a:pt x="0" y="237604"/>
                  </a:lnTo>
                  <a:close/>
                </a:path>
              </a:pathLst>
            </a:custGeom>
            <a:ln w="12599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6328333" y="4130905"/>
            <a:ext cx="109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07136" y="3924619"/>
            <a:ext cx="66294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Backup</a:t>
            </a:r>
            <a:r>
              <a:rPr sz="1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Calibri"/>
                <a:cs typeface="Calibri"/>
              </a:rPr>
              <a:t>GPG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807136" y="4361664"/>
            <a:ext cx="151320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cat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.gpg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(ilegible)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→</a:t>
            </a:r>
            <a:r>
              <a:rPr sz="850" spc="-15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8799A9"/>
                </a:solidFill>
                <a:latin typeface="Calibri"/>
                <a:cs typeface="Calibri"/>
              </a:rPr>
              <a:t>decrypt</a:t>
            </a:r>
            <a:r>
              <a:rPr sz="850" spc="-10" dirty="0">
                <a:solidFill>
                  <a:srgbClr val="8799A9"/>
                </a:solidFill>
                <a:latin typeface="Calibri"/>
                <a:cs typeface="Calibri"/>
              </a:rPr>
              <a:t> </a:t>
            </a:r>
            <a:r>
              <a:rPr sz="850" spc="-20" dirty="0">
                <a:solidFill>
                  <a:srgbClr val="8799A9"/>
                </a:solidFill>
                <a:latin typeface="Calibri"/>
                <a:cs typeface="Calibri"/>
              </a:rPr>
              <a:t>(SQL)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4585</Words>
  <Application>Microsoft Office PowerPoint</Application>
  <PresentationFormat>Personalizado</PresentationFormat>
  <Paragraphs>878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MingLiU_HKSCS-ExtB</vt:lpstr>
      <vt:lpstr>Arial MT</vt:lpstr>
      <vt:lpstr>Calibri</vt:lpstr>
      <vt:lpstr>Courier New</vt:lpstr>
      <vt:lpstr>Office Theme</vt:lpstr>
      <vt:lpstr>INFRAESTRUCTURA BANCARIA SIMULADA</vt:lpstr>
      <vt:lpstr>🎯 OBJETIVO Y PROBLEMA RESUELTO</vt:lpstr>
      <vt:lpstr>🛠️ TECNOLOGÍAS EMPLEADAS</vt:lpstr>
      <vt:lpstr>🧠 TEMAS DE LA ASIGNATURA PUESTOS EN PRÁCTICA</vt:lpstr>
      <vt:lpstr>🌐 DISEÑO DE LA INFRAESTRUCTURA</vt:lpstr>
      <vt:lpstr>🏰 SEGURIDAD EN CAPAS — DEFENSE IN DEPTH</vt:lpstr>
      <vt:lpstr>⚙️ ESTRATEGIA DE IMPLEMENTACIÓN</vt:lpstr>
      <vt:lpstr>✔️ VALIDACIÓN Y CONCLUSIONES</vt:lpstr>
      <vt:lpstr>🔍 COMANDOS DE VERIFICACIÓN FINAL — PARTE 1</vt:lpstr>
      <vt:lpstr>🔍 COMANDOS DE VERIFICACIÓN FINAL — PARTE 2</vt:lpstr>
      <vt:lpstr>⚔️ SECUENCIA DEL ATAQUE SIMULADO</vt:lpstr>
      <vt:lpstr>📋 DOCUMENTO DE INCIDENTE</vt:lpstr>
      <vt:lpstr>🏆 RESULTADO FINAL</vt:lpstr>
      <vt:lpstr>CONFIGURACIÓN POR VM</vt:lpstr>
      <vt:lpstr>🔥 VM-1 — router-fw · 192.168.100.182</vt:lpstr>
      <vt:lpstr>🔍 VM-2 — dns-server · 192.168.100.183</vt:lpstr>
      <vt:lpstr>🌐 VM-3 — web-dmz · 192.168.100.184</vt:lpstr>
      <vt:lpstr>⚡ VM-4 — app-server · 192.168.100.185</vt:lpstr>
      <vt:lpstr>🗄️ VM-5 — db-core · 192.168.100.186</vt:lpstr>
      <vt:lpstr>🏧 VM-6 — cajero-terminal · 192.168.100.187</vt:lpstr>
      <vt:lpstr>📊 VM-7 — siem-audit · 192.168.100.188</vt:lpstr>
      <vt:lpstr>⚔️ VM-8 — attacker · 192.168.100.189</vt:lpstr>
      <vt:lpstr>DEMOSTRACIÓN EN VIVO https://bancoseguro.rootcode.com.bo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Infraestructura Bancaria Simulada - SIS313</dc:title>
  <dc:subject>PptxGenJS Presentation</dc:subject>
  <dc:creator>PptxGenJS</dc:creator>
  <cp:lastModifiedBy>Luz Marina Echalar</cp:lastModifiedBy>
  <cp:revision>1</cp:revision>
  <dcterms:created xsi:type="dcterms:W3CDTF">2026-06-17T23:32:20Z</dcterms:created>
  <dcterms:modified xsi:type="dcterms:W3CDTF">2026-06-17T23:34:43Z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2026-06-17T00:00:00Z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24.2</vt:lpwstr>
  </property>
  <property fmtid="{D5CDD505-2E9C-101B-9397-08002B2CF9AE}" pid="6" name="LastSaved">
    <vt:filetime>2026-06-17T00:00:00Z</vt:filetime>
  </property>
</Properties>
</file>